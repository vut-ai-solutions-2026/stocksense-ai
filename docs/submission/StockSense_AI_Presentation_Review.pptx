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b1db69a4c5e4281" /><Relationship Type="http://schemas.openxmlformats.org/officeDocument/2006/relationships/extended-properties" Target="/docProps/app.xml" Id="R7969065e148a49ca" /><Relationship Type="http://schemas.openxmlformats.org/officeDocument/2006/relationships/officeDocument" Target="/ppt/presentation.xml" Id="Rf40d540186aa4215" /></Relationships>
</file>

<file path=ppt/presentation.xml><?xml version="1.0" encoding="utf-8"?>
<p:presentation xmlns:p="http://schemas.openxmlformats.org/presentationml/2006/main">
  <p:sldMasterIdLst>
    <p:sldMasterId xmlns:r="http://schemas.openxmlformats.org/officeDocument/2006/relationships" id="2147483648" r:id="Rf2b29938973049cc"/>
  </p:sldMasterIdLst>
  <p:notesMasterIdLst>
    <p:notesMasterId xmlns:r="http://schemas.openxmlformats.org/officeDocument/2006/relationships" r:id="R78f3b9f3e8d3464d"/>
  </p:notesMasterIdLst>
  <p:sldIdLst>
    <p:sldId xmlns:r="http://schemas.openxmlformats.org/officeDocument/2006/relationships" id="256" r:id="Rc678fc32f47448cf"/>
    <p:sldId xmlns:r="http://schemas.openxmlformats.org/officeDocument/2006/relationships" id="257" r:id="R0f5ff6c418d649e8"/>
    <p:sldId xmlns:r="http://schemas.openxmlformats.org/officeDocument/2006/relationships" id="258" r:id="R32c026c28d5b43ec"/>
    <p:sldId xmlns:r="http://schemas.openxmlformats.org/officeDocument/2006/relationships" id="259" r:id="Rd1754d7e1a9242a1"/>
    <p:sldId xmlns:r="http://schemas.openxmlformats.org/officeDocument/2006/relationships" id="260" r:id="R5c0cc9f40c5a4fa4"/>
    <p:sldId xmlns:r="http://schemas.openxmlformats.org/officeDocument/2006/relationships" id="261" r:id="R0b2a7619deb9433d"/>
    <p:sldId xmlns:r="http://schemas.openxmlformats.org/officeDocument/2006/relationships" id="262" r:id="Rac390448217b42e4"/>
    <p:sldId xmlns:r="http://schemas.openxmlformats.org/officeDocument/2006/relationships" id="263" r:id="Ra38c312f0b98412a"/>
    <p:sldId xmlns:r="http://schemas.openxmlformats.org/officeDocument/2006/relationships" id="264" r:id="R95b0bc7f12ec4082"/>
    <p:sldId xmlns:r="http://schemas.openxmlformats.org/officeDocument/2006/relationships" id="265" r:id="Rf1d92d7e8ce3410d"/>
    <p:sldId xmlns:r="http://schemas.openxmlformats.org/officeDocument/2006/relationships" id="266" r:id="Rddbc03b312bc4aa2"/>
    <p:sldId xmlns:r="http://schemas.openxmlformats.org/officeDocument/2006/relationships" id="267" r:id="R34431d6338074efd"/>
    <p:sldId xmlns:r="http://schemas.openxmlformats.org/officeDocument/2006/relationships" id="268" r:id="R67d8129ae3de4b67"/>
    <p:sldId xmlns:r="http://schemas.openxmlformats.org/officeDocument/2006/relationships" id="269" r:id="R80683445138a4ec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360917fdcc34902" /><Relationship Type="http://schemas.openxmlformats.org/officeDocument/2006/relationships/slideMaster" Target="/ppt/slideMasters/slideMaster1.xml" Id="Rf2b29938973049cc" /><Relationship Type="http://schemas.openxmlformats.org/officeDocument/2006/relationships/notesMaster" Target="/ppt/notesMasters/notesMaster1.xml" Id="R78f3b9f3e8d3464d" /><Relationship Type="http://schemas.openxmlformats.org/officeDocument/2006/relationships/presProps" Target="/ppt/presProps.xml" Id="R7eb375f8680c42bd" /><Relationship Type="http://schemas.openxmlformats.org/officeDocument/2006/relationships/tableStyles" Target="/ppt/tableStyles.xml" Id="R41abc0c255e0487e" /><Relationship Type="http://schemas.openxmlformats.org/officeDocument/2006/relationships/slide" Target="/ppt/slides/slide1.xml" Id="Rc678fc32f47448cf" /><Relationship Type="http://schemas.openxmlformats.org/officeDocument/2006/relationships/slide" Target="/ppt/slides/slide2.xml" Id="R0f5ff6c418d649e8" /><Relationship Type="http://schemas.openxmlformats.org/officeDocument/2006/relationships/slide" Target="/ppt/slides/slide3.xml" Id="R32c026c28d5b43ec" /><Relationship Type="http://schemas.openxmlformats.org/officeDocument/2006/relationships/slide" Target="/ppt/slides/slide4.xml" Id="Rd1754d7e1a9242a1" /><Relationship Type="http://schemas.openxmlformats.org/officeDocument/2006/relationships/slide" Target="/ppt/slides/slide5.xml" Id="R5c0cc9f40c5a4fa4" /><Relationship Type="http://schemas.openxmlformats.org/officeDocument/2006/relationships/slide" Target="/ppt/slides/slide6.xml" Id="R0b2a7619deb9433d" /><Relationship Type="http://schemas.openxmlformats.org/officeDocument/2006/relationships/slide" Target="/ppt/slides/slide7.xml" Id="Rac390448217b42e4" /><Relationship Type="http://schemas.openxmlformats.org/officeDocument/2006/relationships/slide" Target="/ppt/slides/slide8.xml" Id="Ra38c312f0b98412a" /><Relationship Type="http://schemas.openxmlformats.org/officeDocument/2006/relationships/slide" Target="/ppt/slides/slide9.xml" Id="R95b0bc7f12ec4082" /><Relationship Type="http://schemas.openxmlformats.org/officeDocument/2006/relationships/slide" Target="/ppt/slides/slide10.xml" Id="Rf1d92d7e8ce3410d" /><Relationship Type="http://schemas.openxmlformats.org/officeDocument/2006/relationships/slide" Target="/ppt/slides/slide11.xml" Id="Rddbc03b312bc4aa2" /><Relationship Type="http://schemas.openxmlformats.org/officeDocument/2006/relationships/slide" Target="/ppt/slides/slide12.xml" Id="R34431d6338074efd" /><Relationship Type="http://schemas.openxmlformats.org/officeDocument/2006/relationships/slide" Target="/ppt/slides/slide13.xml" Id="R67d8129ae3de4b67" /><Relationship Type="http://schemas.openxmlformats.org/officeDocument/2006/relationships/slide" Target="/ppt/slides/slide14.xml" Id="R80683445138a4ec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6a0ec8e6f23447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c0841dcfbdd4ffa" /><Relationship Type="http://schemas.openxmlformats.org/officeDocument/2006/relationships/notesMaster" Target="/ppt/notesMasters/notesMaster1.xml" Id="Rfffc95541bcb4206" /></Relationships>
</file>

<file path=ppt/notesSlides/_rels/notesSlide2.xml.rels>&#65279;<?xml version="1.0" encoding="utf-8"?><Relationships xmlns="http://schemas.openxmlformats.org/package/2006/relationships"><Relationship Type="http://schemas.openxmlformats.org/officeDocument/2006/relationships/slide" Target="/ppt/slides/slide2.xml" Id="Rbfd0b282e1514a27" /><Relationship Type="http://schemas.openxmlformats.org/officeDocument/2006/relationships/notesMaster" Target="/ppt/notesMasters/notesMaster1.xml" Id="Rb1afad1cec5a4a93" /></Relationships>
</file>

<file path=ppt/notesSlides/_rels/notesSlide3.xml.rels>&#65279;<?xml version="1.0" encoding="utf-8"?><Relationships xmlns="http://schemas.openxmlformats.org/package/2006/relationships"><Relationship Type="http://schemas.openxmlformats.org/officeDocument/2006/relationships/slide" Target="/ppt/slides/slide3.xml" Id="R2f07abb785284e55" /><Relationship Type="http://schemas.openxmlformats.org/officeDocument/2006/relationships/notesMaster" Target="/ppt/notesMasters/notesMaster1.xml" Id="Rb37e6ce7bfec416b" /></Relationships>
</file>

<file path=ppt/notesSlides/_rels/notesSlide4.xml.rels>&#65279;<?xml version="1.0" encoding="utf-8"?><Relationships xmlns="http://schemas.openxmlformats.org/package/2006/relationships"><Relationship Type="http://schemas.openxmlformats.org/officeDocument/2006/relationships/slide" Target="/ppt/slides/slide4.xml" Id="R3a921368e26c4da7" /><Relationship Type="http://schemas.openxmlformats.org/officeDocument/2006/relationships/notesMaster" Target="/ppt/notesMasters/notesMaster1.xml" Id="Rdc6c2f684c5449d3" /></Relationships>
</file>

<file path=ppt/notesSlides/_rels/notesSlide5.xml.rels>&#65279;<?xml version="1.0" encoding="utf-8"?><Relationships xmlns="http://schemas.openxmlformats.org/package/2006/relationships"><Relationship Type="http://schemas.openxmlformats.org/officeDocument/2006/relationships/slide" Target="/ppt/slides/slide5.xml" Id="Rd631c6c4a2bb457c" /><Relationship Type="http://schemas.openxmlformats.org/officeDocument/2006/relationships/notesMaster" Target="/ppt/notesMasters/notesMaster1.xml" Id="Rbdec5080d7434a89" /></Relationships>
</file>

<file path=ppt/notesSlides/_rels/notesSlide6.xml.rels>&#65279;<?xml version="1.0" encoding="utf-8"?><Relationships xmlns="http://schemas.openxmlformats.org/package/2006/relationships"><Relationship Type="http://schemas.openxmlformats.org/officeDocument/2006/relationships/slide" Target="/ppt/slides/slide6.xml" Id="R37e3814322794bc2" /><Relationship Type="http://schemas.openxmlformats.org/officeDocument/2006/relationships/notesMaster" Target="/ppt/notesMasters/notesMaster1.xml" Id="Rafc056766fb44e0a" /></Relationships>
</file>

<file path=ppt/notesSlides/_rels/notesSlide7.xml.rels>&#65279;<?xml version="1.0" encoding="utf-8"?><Relationships xmlns="http://schemas.openxmlformats.org/package/2006/relationships"><Relationship Type="http://schemas.openxmlformats.org/officeDocument/2006/relationships/slide" Target="/ppt/slides/slide7.xml" Id="R49523727d59a4925" /><Relationship Type="http://schemas.openxmlformats.org/officeDocument/2006/relationships/notesMaster" Target="/ppt/notesMasters/notesMaster1.xml" Id="Racb3a2ceb2b045c6" /></Relationships>
</file>

<file path=ppt/notesSlides/_rels/notesSlide8.xml.rels>&#65279;<?xml version="1.0" encoding="utf-8"?><Relationships xmlns="http://schemas.openxmlformats.org/package/2006/relationships"><Relationship Type="http://schemas.openxmlformats.org/officeDocument/2006/relationships/slide" Target="/ppt/slides/slide8.xml" Id="R4458ecb44a5d47da" /><Relationship Type="http://schemas.openxmlformats.org/officeDocument/2006/relationships/notesMaster" Target="/ppt/notesMasters/notesMaster1.xml" Id="Ra26dd690d3764ed6" /></Relationships>
</file>

<file path=ppt/notesSlides/_rels/notesSlide9.xml.rels>&#65279;<?xml version="1.0" encoding="utf-8"?><Relationships xmlns="http://schemas.openxmlformats.org/package/2006/relationships"><Relationship Type="http://schemas.openxmlformats.org/officeDocument/2006/relationships/slide" Target="/ppt/slides/slide9.xml" Id="Rba6741c8e1174792" /><Relationship Type="http://schemas.openxmlformats.org/officeDocument/2006/relationships/notesMaster" Target="/ppt/notesMasters/notesMaster1.xml" Id="R4134d156808a429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69723ea4ebc495e" /><Relationship Type="http://schemas.openxmlformats.org/officeDocument/2006/relationships/notesMaster" Target="/ppt/notesMasters/notesMaster1.xml" Id="R0ca3f9f46c154cf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2e9024c2f2a4449" /><Relationship Type="http://schemas.openxmlformats.org/officeDocument/2006/relationships/notesMaster" Target="/ppt/notesMasters/notesMaster1.xml" Id="R71b31cb9fcc043a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161a2c4a0c14c65" /><Relationship Type="http://schemas.openxmlformats.org/officeDocument/2006/relationships/notesMaster" Target="/ppt/notesMasters/notesMaster1.xml" Id="Rf8f8e4c503e8412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0c34def50ab40b2" /><Relationship Type="http://schemas.openxmlformats.org/officeDocument/2006/relationships/notesMaster" Target="/ppt/notesMasters/notesMaster1.xml" Id="R4a4d6d524cb545b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732ab58d1024625" /><Relationship Type="http://schemas.openxmlformats.org/officeDocument/2006/relationships/notesMaster" Target="/ppt/notesMasters/notesMaster1.xml" Id="Ra1de93c7e387455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0:00-0:30. Proposed speaker Morris. Introduce the fictional retailer and the local demonstration. All speaking assignments require member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0:30-2:00. Proposed speaker Zama. Explain the fictional business assumption. No verified local retailer or savings claim. Report sections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2:00-3:30. Proposed speaker Senamile. Explain success criteria and the limited scope. Mention no supplier orders, live inventory or paid language model. Human usability target remains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3:30-5:00. Proposed speaker Mick. Source https://www.kaggle.com/competitions/demand-forecasting-kernels-only/data . Explain validation, missing-day rejection, hashes and sales versus unconstrained demand. Source audit reproduced on personal PC.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5:00-6:00. Proposed speaker Percy. Chart uses store 1 items 1-5, 2013-2016. Source docs/drafts/assets/monthly_sales.png, independently recalculated annual totals 43,208 to 56,943. Describe repeated pattern without inventing a cause.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6:00-7:30. Proposed speaker Neo. Sources https://otexts.com/fpp3/simple-methods.html and https://scikit-learn.org/stable/modules/generated/sklearn.ensemble.RandomForestRegressor.html . Explain one model per item, seven outputs and different model inputs. Selection lock protects frozen choice.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7:30-8:30. Proposed speaker Ungakimi. Source local artifacts/forecasters/comparison.json, reproduced values match office summary to 3 decimals. All methods score 52 complete weeks per item, 1,820 daily predictions. Exclude Dec 30-31. Daily MAE determines selection. Weekly result favours LSTM.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8:30-10:00. Proposed speaker Ungakimi. Source local final-test.json and docs/final-model-results.md. Score Jan 1-Dec 30, exclude Dec 31. Random forest daily MAE reduction is about 23.3%, not accuracy. Forest weekly error worse than benchmark on items 3 and 4. No tuning on final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10:00-11:30. Proposed speaker Neo. Sources https://keras.io/api/layers/recurrent_layers/lstm/ and https://keras.io/api/callbacks/early_stopping/ . Adam 0.001, MSE, batch32, no shuffle, cap50. No calendar features. Final refit excludes 2017 from scaling and callbacks. Explain weaker daily result honestly.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11:30-13:00. Proposed speaker Morris. Source stocksense/inventory.py. Lead2 arrives before day3, lead0 before day1. Example item1 default first5 demand77.52 plus10 buffer minus50 stock yields38 units. Outstanding units arrive after lead time and cannot cover earlier shortages.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13:00-14:30. Proposed speaker Sibongiseni. Source docs/assistant-results.md, resources/assistant_questions.json and local evaluation.json. TF-IDF https://scikit-learn.org/stable/modules/generated/sklearn.feature_extraction.text.TfidfVectorizer.html . Five intents forecast,reorder,history,performance,help. Threshold0.35 chosen on validation. Small curated check, one historical-demand miss, no retuning.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14:30-16:00. Proposed speaker Buhle and Wandile. Source docs/personal-pc-rehearsal.md. Personal Python3.14.6 versus office3.12.14, same pinned package versions. Timings from one AppTest run, not browser latency. Frozen data/evaluation hashes unchanged. Human review remains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16:00-19:00. Proposed speaker Sibongiseni with Morris. Live app http://localhost:8501 . Use item1 defaults, order38, then lead6 review3 invalid, stock0 lead2 shortage. Ask Show the sales forecast. Use backup visuals if server fails. January2018 has no outcomes. Do not retrain during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19:00-20:00. Proposed speaker Senamile. Then five minutes questions. No guaranteed savings, stockout reduction, general chatbot accuracy or measured2018 accuracy. Confirm campus slot and arrive30min early. Brief source BA3.2Project_2026.pdf pages2-3,6-7.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47688b30f0d452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4ad0bcb387b4dd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38fa495cb704cc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c85ac1e889949c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893eb3ec3c541f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49bc0120bda4ac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228D895-8D70-4581-AAA6-A0E6CBFA551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E8B705D-D5E3-4EF1-A1F7-C7BD2A4C186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EE6F692-F22A-443C-92CB-FC9D33E8B23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78AD6FE-746C-4A72-B02F-C247B250C36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2583C72-CAA1-4ABE-9109-61497E0F452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0EC0D46-9911-4BA8-ABC3-031B4A4319D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52E20C2-FECA-45D9-8470-1F4F2681BD6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866131E-1549-40ED-80ED-3E107C5B2D3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A3ED0B3-07FB-4D72-B384-B71A4325356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3D56722-67F9-4E3A-9903-FF847FEC54A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beb2cf7d57e4924" /><Relationship Type="http://schemas.openxmlformats.org/officeDocument/2006/relationships/slideLayout" Target="/ppt/slideLayouts/slideLayout1.xml" Id="R6d85c75c40544847" /><Relationship Type="http://schemas.openxmlformats.org/officeDocument/2006/relationships/slideLayout" Target="/ppt/slideLayouts/slideLayout2.xml" Id="Rb8b29fcb3f6c4dea" /><Relationship Type="http://schemas.openxmlformats.org/officeDocument/2006/relationships/slideLayout" Target="/ppt/slideLayouts/slideLayout3.xml" Id="R17ff2854e4fc4875" /><Relationship Type="http://schemas.openxmlformats.org/officeDocument/2006/relationships/slideLayout" Target="/ppt/slideLayouts/slideLayout4.xml" Id="R0b21c6cd54c6476c" /><Relationship Type="http://schemas.openxmlformats.org/officeDocument/2006/relationships/slideLayout" Target="/ppt/slideLayouts/slideLayout5.xml" Id="R0083032f80ac4365" /><Relationship Type="http://schemas.openxmlformats.org/officeDocument/2006/relationships/slideLayout" Target="/ppt/slideLayouts/slideLayout6.xml" Id="R75a4112f26a44a8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d85c75c40544847"/>
    <p:sldLayoutId xmlns:r="http://schemas.openxmlformats.org/officeDocument/2006/relationships" id="2147483650" r:id="Rb8b29fcb3f6c4dea"/>
    <p:sldLayoutId xmlns:r="http://schemas.openxmlformats.org/officeDocument/2006/relationships" id="2147483651" r:id="R17ff2854e4fc4875"/>
    <p:sldLayoutId xmlns:r="http://schemas.openxmlformats.org/officeDocument/2006/relationships" id="2147483652" r:id="R0b21c6cd54c6476c"/>
    <p:sldLayoutId xmlns:r="http://schemas.openxmlformats.org/officeDocument/2006/relationships" id="2147483653" r:id="R0083032f80ac4365"/>
    <p:sldLayoutId xmlns:r="http://schemas.openxmlformats.org/officeDocument/2006/relationships" id="2147483654" r:id="R75a4112f26a44a8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8bd5599ca8d42e0" /><Relationship Type="http://schemas.openxmlformats.org/officeDocument/2006/relationships/notesSlide" Target="/ppt/notesSlides/notesSlide1.xml" Id="R41bfb4f75d3b430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c84b0a2c7b14906" /><Relationship Type="http://schemas.openxmlformats.org/officeDocument/2006/relationships/notesSlide" Target="/ppt/notesSlides/notesSlide2.xml" Id="R8cc4115e9c0948c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95b82e534de4b9f" /><Relationship Type="http://schemas.openxmlformats.org/officeDocument/2006/relationships/notesSlide" Target="/ppt/notesSlides/notesSlide3.xml" Id="R37efca6d498c474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465a2425ed743d7" /><Relationship Type="http://schemas.openxmlformats.org/officeDocument/2006/relationships/notesSlide" Target="/ppt/notesSlides/notesSlide4.xml" Id="R57f40ba62121408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5b28060dda3468e" /><Relationship Type="http://schemas.openxmlformats.org/officeDocument/2006/relationships/image" Target="/ppt/media/image.png" Id="Rc3a7ce53b13d48b9" /><Relationship Type="http://schemas.openxmlformats.org/officeDocument/2006/relationships/notesSlide" Target="/ppt/notesSlides/notesSlide5.xml" Id="Re1d77f22183149e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aa91389b51149f1" /><Relationship Type="http://schemas.openxmlformats.org/officeDocument/2006/relationships/notesSlide" Target="/ppt/notesSlides/notesSlide6.xml" Id="R3a3e79c79fcc494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ca7a5e75b9047f3" /><Relationship Type="http://schemas.openxmlformats.org/officeDocument/2006/relationships/notesSlide" Target="/ppt/notesSlides/notesSlide7.xml" Id="Ra641911433e442e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36f74a23fab4148" /><Relationship Type="http://schemas.openxmlformats.org/officeDocument/2006/relationships/notesSlide" Target="/ppt/notesSlides/notesSlide8.xml" Id="R80235a86634243d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ba28bb721294351" /><Relationship Type="http://schemas.openxmlformats.org/officeDocument/2006/relationships/notesSlide" Target="/ppt/notesSlides/notesSlide9.xml" Id="R5ea1434a959e408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ef4d3105dcb4462" /><Relationship Type="http://schemas.openxmlformats.org/officeDocument/2006/relationships/notesSlide" Target="/ppt/notesSlides/notesSlide10.xml" Id="Rc739d7b32bbf44d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be6bda0214e413b" /><Relationship Type="http://schemas.openxmlformats.org/officeDocument/2006/relationships/notesSlide" Target="/ppt/notesSlides/notesSlide11.xml" Id="R37a54d27fa0f49d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f718f614f814951" /><Relationship Type="http://schemas.openxmlformats.org/officeDocument/2006/relationships/notesSlide" Target="/ppt/notesSlides/notesSlide12.xml" Id="Re911029f65424fd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a602674fb8343d2" /><Relationship Type="http://schemas.openxmlformats.org/officeDocument/2006/relationships/notesSlide" Target="/ppt/notesSlides/notesSlide13.xml" Id="R3d999d7f344440e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32e5078a7f44745" /><Relationship Type="http://schemas.openxmlformats.org/officeDocument/2006/relationships/notesSlide" Target="/ppt/notesSlides/notesSlide14.xml" Id="R75e2a335bca84a66" /></Relationships>
</file>

<file path=ppt/slides/slide1.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A8653F2-7BC4-4DB8-9A1F-12799C9E8F3F}"/>
              </a:ext>
            </a:extLst>
          </p:cNvPr>
          <p:cNvSpPr>
            <a:spLocks xmlns:a="http://schemas.openxmlformats.org/drawingml/2006/main" noGrp="1"/>
          </p:cNvSpPr>
          <p:nvPr/>
        </p:nvSpPr>
        <p:spPr>
          <a:xfrm xmlns:a="http://schemas.openxmlformats.org/drawingml/2006/main">
            <a:off x="647700" y="476250"/>
            <a:ext cx="10896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B40"/>
                </a:solidFill>
                <a:latin typeface="Arial"/>
                <a:ea typeface="Arial"/>
                <a:cs typeface="Arial"/>
              </a:defRPr>
            </a:defPPr>
          </a:lstStyle>
          <a:p xmlns:a="http://schemas.openxmlformats.org/drawingml/2006/main">
            <a:pPr>
              <a:defRPr sz="3300" b="1">
                <a:solidFill>
                  <a:srgbClr val="173B40"/>
                </a:solidFill>
                <a:latin typeface="Arial"/>
                <a:ea typeface="Arial"/>
                <a:cs typeface="Arial"/>
              </a:defRPr>
            </a:pPr>
            <a:r>
              <a:rPr sz="3300" b="1">
                <a:solidFill>
                  <a:srgbClr val="173B40"/>
                </a:solidFill>
                <a:latin typeface="Arial"/>
                <a:ea typeface="Arial"/>
                <a:cs typeface="Arial"/>
              </a:rPr>
              <a:t>StockSense AI</a:t>
            </a:r>
          </a:p>
        </p:txBody>
      </p:sp>
      <p:sp>
        <p:nvSpPr>
          <p:cNvPr id="2" name="">
            <a:extLst xmlns:a="http://schemas.openxmlformats.org/drawingml/2006/main">
              <a:ext uri="{FF2B5EF4-FFF2-40B4-BE49-F238E27FC236}">
                <a16:creationId xmlns:a16="http://schemas.microsoft.com/office/drawing/2014/main" id="{7A820E66-A3CF-493E-B9EE-0D3FBA1EBAA8}"/>
              </a:ext>
            </a:extLst>
          </p:cNvPr>
          <p:cNvSpPr>
            <a:spLocks xmlns:a="http://schemas.openxmlformats.org/drawingml/2006/main" noGrp="1"/>
          </p:cNvSpPr>
          <p:nvPr/>
        </p:nvSpPr>
        <p:spPr>
          <a:xfrm xmlns:a="http://schemas.openxmlformats.org/drawingml/2006/main">
            <a:off x="647700" y="1905000"/>
            <a:ext cx="108966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3B40"/>
                </a:solidFill>
                <a:latin typeface="Arial"/>
                <a:ea typeface="Arial"/>
                <a:cs typeface="Arial"/>
              </a:defRPr>
            </a:defPPr>
          </a:lstStyle>
          <a:p xmlns:a="http://schemas.openxmlformats.org/drawingml/2006/main">
            <a:pPr>
              <a:defRPr sz="2250" b="0">
                <a:solidFill>
                  <a:srgbClr val="173B40"/>
                </a:solidFill>
                <a:latin typeface="Arial"/>
                <a:ea typeface="Arial"/>
                <a:cs typeface="Arial"/>
              </a:defRPr>
            </a:pPr>
            <a:r>
              <a:rPr sz="2250" b="0">
                <a:solidFill>
                  <a:srgbClr val="173B40"/>
                </a:solidFill>
                <a:latin typeface="Arial"/>
                <a:ea typeface="Arial"/>
                <a:cs typeface="Arial"/>
              </a:rPr>
              <a:t>Retail sales forecasting and stock planning</a:t>
            </a:r>
          </a:p>
          <a:p xmlns:a="http://schemas.openxmlformats.org/drawingml/2006/main">
            <a:r>
              <a:t/>
            </a:r>
          </a:p>
          <a:p xmlns:a="http://schemas.openxmlformats.org/drawingml/2006/main">
            <a:pPr>
              <a:defRPr sz="2250" b="0">
                <a:solidFill>
                  <a:srgbClr val="173B40"/>
                </a:solidFill>
                <a:latin typeface="Arial"/>
                <a:ea typeface="Arial"/>
                <a:cs typeface="Arial"/>
              </a:defRPr>
            </a:pPr>
            <a:r>
              <a:rPr sz="2250" b="0">
                <a:solidFill>
                  <a:srgbClr val="173B40"/>
                </a:solidFill>
                <a:latin typeface="Arial"/>
                <a:ea typeface="Arial"/>
                <a:cs typeface="Arial"/>
              </a:rPr>
              <a:t>VUT AI Solutions</a:t>
            </a:r>
          </a:p>
          <a:p xmlns:a="http://schemas.openxmlformats.org/drawingml/2006/main">
            <a:pPr>
              <a:defRPr sz="2250" b="0">
                <a:solidFill>
                  <a:srgbClr val="173B40"/>
                </a:solidFill>
                <a:latin typeface="Arial"/>
                <a:ea typeface="Arial"/>
                <a:cs typeface="Arial"/>
              </a:defRPr>
            </a:pPr>
            <a:r>
              <a:rPr sz="2250" b="0">
                <a:solidFill>
                  <a:srgbClr val="173B40"/>
                </a:solidFill>
                <a:latin typeface="Arial"/>
                <a:ea typeface="Arial"/>
                <a:cs typeface="Arial"/>
              </a:rPr>
              <a:t>Business Analysis 3.2   AIBUY3A</a:t>
            </a:r>
          </a:p>
        </p:txBody>
      </p:sp>
      <p:sp>
        <p:nvSpPr>
          <p:cNvPr id="3" name="">
            <a:extLst xmlns:a="http://schemas.openxmlformats.org/drawingml/2006/main">
              <a:ext uri="{FF2B5EF4-FFF2-40B4-BE49-F238E27FC236}">
                <a16:creationId xmlns:a16="http://schemas.microsoft.com/office/drawing/2014/main" id="{92FDFEBC-7EC7-4FF9-B494-AE31FF64B708}"/>
              </a:ext>
            </a:extLst>
          </p:cNvPr>
          <p:cNvSpPr>
            <a:spLocks xmlns:a="http://schemas.openxmlformats.org/drawingml/2006/main" noGrp="1"/>
          </p:cNvSpPr>
          <p:nvPr/>
        </p:nvSpPr>
        <p:spPr>
          <a:xfrm xmlns:a="http://schemas.openxmlformats.org/drawingml/2006/main">
            <a:off x="1104900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173B40"/>
                </a:solidFill>
                <a:latin typeface="Arial"/>
                <a:ea typeface="Arial"/>
                <a:cs typeface="Arial"/>
              </a:defRPr>
            </a:defPPr>
          </a:lstStyle>
          <a:p xmlns:a="http://schemas.openxmlformats.org/drawingml/2006/main">
            <a:pPr>
              <a:defRPr sz="1275" b="0">
                <a:solidFill>
                  <a:srgbClr val="173B40"/>
                </a:solidFill>
                <a:latin typeface="Arial"/>
                <a:ea typeface="Arial"/>
                <a:cs typeface="Arial"/>
              </a:defRPr>
            </a:pPr>
            <a:r>
              <a:rPr sz="1275" b="0">
                <a:solidFill>
                  <a:srgbClr val="173B40"/>
                </a:solidFill>
                <a:latin typeface="Arial"/>
                <a:ea typeface="Arial"/>
                <a:cs typeface="Arial"/>
              </a:rPr>
              <a:t>1</a:t>
            </a:r>
          </a:p>
        </p:txBody>
      </p:sp>
    </p:spTree>
    <p:extLst>
      <p:ext uri="{BB962C8B-B14F-4D97-AF65-F5344CB8AC3E}">
        <p14:creationId xmlns:p14="http://schemas.microsoft.com/office/powerpoint/2010/main" val="1424888603"/>
      </p:ext>
    </p:extLst>
  </p:cSld>
</p:sld>
</file>

<file path=ppt/slides/slide2.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CCB46EC-A95E-4254-8603-8E59335C97A7}"/>
              </a:ext>
            </a:extLst>
          </p:cNvPr>
          <p:cNvSpPr>
            <a:spLocks xmlns:a="http://schemas.openxmlformats.org/drawingml/2006/main" noGrp="1"/>
          </p:cNvSpPr>
          <p:nvPr/>
        </p:nvSpPr>
        <p:spPr>
          <a:xfrm xmlns:a="http://schemas.openxmlformats.org/drawingml/2006/main">
            <a:off x="647700" y="476250"/>
            <a:ext cx="10896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B40"/>
                </a:solidFill>
                <a:latin typeface="Arial"/>
                <a:ea typeface="Arial"/>
                <a:cs typeface="Arial"/>
              </a:defRPr>
            </a:defPPr>
          </a:lstStyle>
          <a:p xmlns:a="http://schemas.openxmlformats.org/drawingml/2006/main">
            <a:pPr>
              <a:defRPr sz="3300" b="1">
                <a:solidFill>
                  <a:srgbClr val="173B40"/>
                </a:solidFill>
                <a:latin typeface="Arial"/>
                <a:ea typeface="Arial"/>
                <a:cs typeface="Arial"/>
              </a:defRPr>
            </a:pPr>
            <a:r>
              <a:rPr sz="3300" b="1">
                <a:solidFill>
                  <a:srgbClr val="173B40"/>
                </a:solidFill>
                <a:latin typeface="Arial"/>
                <a:ea typeface="Arial"/>
                <a:cs typeface="Arial"/>
              </a:rPr>
              <a:t>The retail ordering problem</a:t>
            </a:r>
          </a:p>
        </p:txBody>
      </p:sp>
      <p:sp>
        <p:nvSpPr>
          <p:cNvPr id="2" name="">
            <a:extLst xmlns:a="http://schemas.openxmlformats.org/drawingml/2006/main">
              <a:ext uri="{FF2B5EF4-FFF2-40B4-BE49-F238E27FC236}">
                <a16:creationId xmlns:a16="http://schemas.microsoft.com/office/drawing/2014/main" id="{C321E72F-A03B-40FF-9F61-8FB4CD484CE1}"/>
              </a:ext>
            </a:extLst>
          </p:cNvPr>
          <p:cNvSpPr>
            <a:spLocks xmlns:a="http://schemas.openxmlformats.org/drawingml/2006/main" noGrp="1"/>
          </p:cNvSpPr>
          <p:nvPr/>
        </p:nvSpPr>
        <p:spPr>
          <a:xfrm xmlns:a="http://schemas.openxmlformats.org/drawingml/2006/main">
            <a:off x="647700" y="1905000"/>
            <a:ext cx="108966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3B40"/>
                </a:solidFill>
                <a:latin typeface="Arial"/>
                <a:ea typeface="Arial"/>
                <a:cs typeface="Arial"/>
              </a:defRPr>
            </a:defPPr>
          </a:lstStyle>
          <a:p xmlns:a="http://schemas.openxmlformats.org/drawingml/2006/main">
            <a:pPr>
              <a:defRPr sz="2250" b="0">
                <a:solidFill>
                  <a:srgbClr val="173B40"/>
                </a:solidFill>
                <a:latin typeface="Arial"/>
                <a:ea typeface="Arial"/>
                <a:cs typeface="Arial"/>
              </a:defRPr>
            </a:pPr>
            <a:r>
              <a:rPr sz="2250" b="0">
                <a:solidFill>
                  <a:srgbClr val="173B40"/>
                </a:solidFill>
                <a:latin typeface="Arial"/>
                <a:ea typeface="Arial"/>
                <a:cs typeface="Arial"/>
              </a:rPr>
              <a:t>Manual ordering lacks a consistent estimate for the period ahead.</a:t>
            </a:r>
          </a:p>
          <a:p xmlns:a="http://schemas.openxmlformats.org/drawingml/2006/main">
            <a:r>
              <a:t/>
            </a:r>
          </a:p>
          <a:p xmlns:a="http://schemas.openxmlformats.org/drawingml/2006/main">
            <a:pPr>
              <a:defRPr sz="2250" b="0">
                <a:solidFill>
                  <a:srgbClr val="173B40"/>
                </a:solidFill>
                <a:latin typeface="Arial"/>
                <a:ea typeface="Arial"/>
                <a:cs typeface="Arial"/>
              </a:defRPr>
            </a:pPr>
            <a:r>
              <a:rPr sz="2250" b="0">
                <a:solidFill>
                  <a:srgbClr val="173B40"/>
                </a:solidFill>
                <a:latin typeface="Arial"/>
                <a:ea typeface="Arial"/>
                <a:cs typeface="Arial"/>
              </a:rPr>
              <a:t>Too little stock can create shortages. Too much can tie up money.</a:t>
            </a:r>
          </a:p>
          <a:p xmlns:a="http://schemas.openxmlformats.org/drawingml/2006/main">
            <a:r>
              <a:t/>
            </a:r>
          </a:p>
          <a:p xmlns:a="http://schemas.openxmlformats.org/drawingml/2006/main">
            <a:pPr>
              <a:defRPr sz="2250" b="0">
                <a:solidFill>
                  <a:srgbClr val="173B40"/>
                </a:solidFill>
                <a:latin typeface="Arial"/>
                <a:ea typeface="Arial"/>
                <a:cs typeface="Arial"/>
              </a:defRPr>
            </a:pPr>
            <a:r>
              <a:rPr sz="2250" b="0">
                <a:solidFill>
                  <a:srgbClr val="173B40"/>
                </a:solidFill>
                <a:latin typeface="Arial"/>
                <a:ea typeface="Arial"/>
                <a:cs typeface="Arial"/>
              </a:rPr>
              <a:t>The manager keeps control of the ordering decision.</a:t>
            </a:r>
          </a:p>
        </p:txBody>
      </p:sp>
      <p:sp>
        <p:nvSpPr>
          <p:cNvPr id="3" name="">
            <a:extLst xmlns:a="http://schemas.openxmlformats.org/drawingml/2006/main">
              <a:ext uri="{FF2B5EF4-FFF2-40B4-BE49-F238E27FC236}">
                <a16:creationId xmlns:a16="http://schemas.microsoft.com/office/drawing/2014/main" id="{4B5FB546-1609-4819-BF3B-B40F65E3ECC3}"/>
              </a:ext>
            </a:extLst>
          </p:cNvPr>
          <p:cNvSpPr>
            <a:spLocks xmlns:a="http://schemas.openxmlformats.org/drawingml/2006/main" noGrp="1"/>
          </p:cNvSpPr>
          <p:nvPr/>
        </p:nvSpPr>
        <p:spPr>
          <a:xfrm xmlns:a="http://schemas.openxmlformats.org/drawingml/2006/main">
            <a:off x="1104900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173B40"/>
                </a:solidFill>
                <a:latin typeface="Arial"/>
                <a:ea typeface="Arial"/>
                <a:cs typeface="Arial"/>
              </a:defRPr>
            </a:defPPr>
          </a:lstStyle>
          <a:p xmlns:a="http://schemas.openxmlformats.org/drawingml/2006/main">
            <a:pPr>
              <a:defRPr sz="1275" b="0">
                <a:solidFill>
                  <a:srgbClr val="173B40"/>
                </a:solidFill>
                <a:latin typeface="Arial"/>
                <a:ea typeface="Arial"/>
                <a:cs typeface="Arial"/>
              </a:defRPr>
            </a:pPr>
            <a:r>
              <a:rPr sz="1275" b="0">
                <a:solidFill>
                  <a:srgbClr val="173B40"/>
                </a:solidFill>
                <a:latin typeface="Arial"/>
                <a:ea typeface="Arial"/>
                <a:cs typeface="Arial"/>
              </a:rPr>
              <a:t>2</a:t>
            </a:r>
          </a:p>
        </p:txBody>
      </p:sp>
    </p:spTree>
    <p:extLst>
      <p:ext uri="{BB962C8B-B14F-4D97-AF65-F5344CB8AC3E}">
        <p14:creationId xmlns:p14="http://schemas.microsoft.com/office/powerpoint/2010/main" val="767850243"/>
      </p:ext>
    </p:extLst>
  </p:cSld>
</p:sld>
</file>

<file path=ppt/slides/slide3.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EA822EB-8B0F-4940-A534-C9ABBC4ED166}"/>
              </a:ext>
            </a:extLst>
          </p:cNvPr>
          <p:cNvSpPr>
            <a:spLocks xmlns:a="http://schemas.openxmlformats.org/drawingml/2006/main" noGrp="1"/>
          </p:cNvSpPr>
          <p:nvPr/>
        </p:nvSpPr>
        <p:spPr>
          <a:xfrm xmlns:a="http://schemas.openxmlformats.org/drawingml/2006/main">
            <a:off x="647700" y="476250"/>
            <a:ext cx="10896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B40"/>
                </a:solidFill>
                <a:latin typeface="Arial"/>
                <a:ea typeface="Arial"/>
                <a:cs typeface="Arial"/>
              </a:defRPr>
            </a:defPPr>
          </a:lstStyle>
          <a:p xmlns:a="http://schemas.openxmlformats.org/drawingml/2006/main">
            <a:pPr>
              <a:defRPr sz="3300" b="1">
                <a:solidFill>
                  <a:srgbClr val="173B40"/>
                </a:solidFill>
                <a:latin typeface="Arial"/>
                <a:ea typeface="Arial"/>
                <a:cs typeface="Arial"/>
              </a:defRPr>
            </a:pPr>
            <a:r>
              <a:rPr sz="3300" b="1">
                <a:solidFill>
                  <a:srgbClr val="173B40"/>
                </a:solidFill>
                <a:latin typeface="Arial"/>
                <a:ea typeface="Arial"/>
                <a:cs typeface="Arial"/>
              </a:rPr>
              <a:t>Business objectives and scope</a:t>
            </a:r>
          </a:p>
        </p:txBody>
      </p:sp>
      <p:sp>
        <p:nvSpPr>
          <p:cNvPr id="2" name="">
            <a:extLst xmlns:a="http://schemas.openxmlformats.org/drawingml/2006/main">
              <a:ext uri="{FF2B5EF4-FFF2-40B4-BE49-F238E27FC236}">
                <a16:creationId xmlns:a16="http://schemas.microsoft.com/office/drawing/2014/main" id="{DD193FBF-7493-4584-AD76-FC0BC1EAE6F8}"/>
              </a:ext>
            </a:extLst>
          </p:cNvPr>
          <p:cNvSpPr>
            <a:spLocks xmlns:a="http://schemas.openxmlformats.org/drawingml/2006/main" noGrp="1"/>
          </p:cNvSpPr>
          <p:nvPr/>
        </p:nvSpPr>
        <p:spPr>
          <a:xfrm xmlns:a="http://schemas.openxmlformats.org/drawingml/2006/main">
            <a:off x="647700" y="1905000"/>
            <a:ext cx="108966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3B40"/>
                </a:solidFill>
                <a:latin typeface="Arial"/>
                <a:ea typeface="Arial"/>
                <a:cs typeface="Arial"/>
              </a:defRPr>
            </a:defPPr>
          </a:lstStyle>
          <a:p xmlns:a="http://schemas.openxmlformats.org/drawingml/2006/main">
            <a:pPr>
              <a:defRPr sz="2250" b="0">
                <a:solidFill>
                  <a:srgbClr val="173B40"/>
                </a:solidFill>
                <a:latin typeface="Arial"/>
                <a:ea typeface="Arial"/>
                <a:cs typeface="Arial"/>
              </a:defRPr>
            </a:pPr>
            <a:r>
              <a:rPr sz="2250" b="0">
                <a:solidFill>
                  <a:srgbClr val="173B40"/>
                </a:solidFill>
                <a:latin typeface="Arial"/>
                <a:ea typeface="Arial"/>
                <a:cs typeface="Arial"/>
              </a:rPr>
              <a:t>Seven daily forecasts for store 1, items 1-5</a:t>
            </a:r>
          </a:p>
          <a:p xmlns:a="http://schemas.openxmlformats.org/drawingml/2006/main">
            <a:r>
              <a:t/>
            </a:r>
          </a:p>
          <a:p xmlns:a="http://schemas.openxmlformats.org/drawingml/2006/main">
            <a:pPr>
              <a:defRPr sz="2250" b="0">
                <a:solidFill>
                  <a:srgbClr val="173B40"/>
                </a:solidFill>
                <a:latin typeface="Arial"/>
                <a:ea typeface="Arial"/>
                <a:cs typeface="Arial"/>
              </a:defRPr>
            </a:pPr>
            <a:r>
              <a:rPr sz="2250" b="0">
                <a:solidFill>
                  <a:srgbClr val="173B40"/>
                </a:solidFill>
                <a:latin typeface="Arial"/>
                <a:ea typeface="Arial"/>
                <a:cs typeface="Arial"/>
              </a:rPr>
              <a:t>A stock suggestion with visible assumptions</a:t>
            </a:r>
          </a:p>
          <a:p xmlns:a="http://schemas.openxmlformats.org/drawingml/2006/main">
            <a:r>
              <a:t/>
            </a:r>
          </a:p>
          <a:p xmlns:a="http://schemas.openxmlformats.org/drawingml/2006/main">
            <a:pPr>
              <a:defRPr sz="2250" b="0">
                <a:solidFill>
                  <a:srgbClr val="173B40"/>
                </a:solidFill>
                <a:latin typeface="Arial"/>
                <a:ea typeface="Arial"/>
                <a:cs typeface="Arial"/>
              </a:defRPr>
            </a:pPr>
            <a:r>
              <a:rPr sz="2250" b="0">
                <a:solidFill>
                  <a:srgbClr val="173B40"/>
                </a:solidFill>
                <a:latin typeface="Arial"/>
                <a:ea typeface="Arial"/>
                <a:cs typeface="Arial"/>
              </a:rPr>
              <a:t>One local page with a short text assistant</a:t>
            </a:r>
          </a:p>
          <a:p xmlns:a="http://schemas.openxmlformats.org/drawingml/2006/main">
            <a:r>
              <a:t/>
            </a:r>
          </a:p>
          <a:p xmlns:a="http://schemas.openxmlformats.org/drawingml/2006/main">
            <a:pPr>
              <a:defRPr sz="2250" b="0">
                <a:solidFill>
                  <a:srgbClr val="173B40"/>
                </a:solidFill>
                <a:latin typeface="Arial"/>
                <a:ea typeface="Arial"/>
                <a:cs typeface="Arial"/>
              </a:defRPr>
            </a:pPr>
            <a:r>
              <a:rPr sz="2250" b="0">
                <a:solidFill>
                  <a:srgbClr val="173B40"/>
                </a:solidFill>
                <a:latin typeface="Arial"/>
                <a:ea typeface="Arial"/>
                <a:cs typeface="Arial"/>
              </a:rPr>
              <a:t>Real inventory benefits need a business trial.</a:t>
            </a:r>
          </a:p>
        </p:txBody>
      </p:sp>
      <p:sp>
        <p:nvSpPr>
          <p:cNvPr id="3" name="">
            <a:extLst xmlns:a="http://schemas.openxmlformats.org/drawingml/2006/main">
              <a:ext uri="{FF2B5EF4-FFF2-40B4-BE49-F238E27FC236}">
                <a16:creationId xmlns:a16="http://schemas.microsoft.com/office/drawing/2014/main" id="{DD632891-DB42-45F1-AD1D-28ACF8E44630}"/>
              </a:ext>
            </a:extLst>
          </p:cNvPr>
          <p:cNvSpPr>
            <a:spLocks xmlns:a="http://schemas.openxmlformats.org/drawingml/2006/main" noGrp="1"/>
          </p:cNvSpPr>
          <p:nvPr/>
        </p:nvSpPr>
        <p:spPr>
          <a:xfrm xmlns:a="http://schemas.openxmlformats.org/drawingml/2006/main">
            <a:off x="1104900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173B40"/>
                </a:solidFill>
                <a:latin typeface="Arial"/>
                <a:ea typeface="Arial"/>
                <a:cs typeface="Arial"/>
              </a:defRPr>
            </a:defPPr>
          </a:lstStyle>
          <a:p xmlns:a="http://schemas.openxmlformats.org/drawingml/2006/main">
            <a:pPr>
              <a:defRPr sz="1275" b="0">
                <a:solidFill>
                  <a:srgbClr val="173B40"/>
                </a:solidFill>
                <a:latin typeface="Arial"/>
                <a:ea typeface="Arial"/>
                <a:cs typeface="Arial"/>
              </a:defRPr>
            </a:pPr>
            <a:r>
              <a:rPr sz="1275" b="0">
                <a:solidFill>
                  <a:srgbClr val="173B40"/>
                </a:solidFill>
                <a:latin typeface="Arial"/>
                <a:ea typeface="Arial"/>
                <a:cs typeface="Arial"/>
              </a:rPr>
              <a:t>3</a:t>
            </a:r>
          </a:p>
        </p:txBody>
      </p:sp>
    </p:spTree>
    <p:extLst>
      <p:ext uri="{BB962C8B-B14F-4D97-AF65-F5344CB8AC3E}">
        <p14:creationId xmlns:p14="http://schemas.microsoft.com/office/powerpoint/2010/main" val="741229225"/>
      </p:ext>
    </p:extLst>
  </p:cSld>
</p:sld>
</file>

<file path=ppt/slides/slide4.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33CEC11-3E05-44E8-AFD6-DC9FA4FA12F4}"/>
              </a:ext>
            </a:extLst>
          </p:cNvPr>
          <p:cNvSpPr>
            <a:spLocks xmlns:a="http://schemas.openxmlformats.org/drawingml/2006/main" noGrp="1"/>
          </p:cNvSpPr>
          <p:nvPr/>
        </p:nvSpPr>
        <p:spPr>
          <a:xfrm xmlns:a="http://schemas.openxmlformats.org/drawingml/2006/main">
            <a:off x="647700" y="476250"/>
            <a:ext cx="10896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B40"/>
                </a:solidFill>
                <a:latin typeface="Arial"/>
                <a:ea typeface="Arial"/>
                <a:cs typeface="Arial"/>
              </a:defRPr>
            </a:defPPr>
          </a:lstStyle>
          <a:p xmlns:a="http://schemas.openxmlformats.org/drawingml/2006/main">
            <a:pPr>
              <a:defRPr sz="3300" b="1">
                <a:solidFill>
                  <a:srgbClr val="173B40"/>
                </a:solidFill>
                <a:latin typeface="Arial"/>
                <a:ea typeface="Arial"/>
                <a:cs typeface="Arial"/>
              </a:defRPr>
            </a:pPr>
            <a:r>
              <a:rPr sz="3300" b="1">
                <a:solidFill>
                  <a:srgbClr val="173B40"/>
                </a:solidFill>
                <a:latin typeface="Arial"/>
                <a:ea typeface="Arial"/>
                <a:cs typeface="Arial"/>
              </a:rPr>
              <a:t>The sales dataset</a:t>
            </a:r>
          </a:p>
        </p:txBody>
      </p:sp>
      <p:sp>
        <p:nvSpPr>
          <p:cNvPr id="2" name="">
            <a:extLst xmlns:a="http://schemas.openxmlformats.org/drawingml/2006/main">
              <a:ext uri="{FF2B5EF4-FFF2-40B4-BE49-F238E27FC236}">
                <a16:creationId xmlns:a16="http://schemas.microsoft.com/office/drawing/2014/main" id="{5F2DCEEE-A696-4037-830E-F2EDE9CBDA95}"/>
              </a:ext>
            </a:extLst>
          </p:cNvPr>
          <p:cNvSpPr>
            <a:spLocks xmlns:a="http://schemas.openxmlformats.org/drawingml/2006/main" noGrp="1"/>
          </p:cNvSpPr>
          <p:nvPr/>
        </p:nvSpPr>
        <p:spPr>
          <a:xfrm xmlns:a="http://schemas.openxmlformats.org/drawingml/2006/main">
            <a:off x="647700" y="1905000"/>
            <a:ext cx="108966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3B40"/>
                </a:solidFill>
                <a:latin typeface="Arial"/>
                <a:ea typeface="Arial"/>
                <a:cs typeface="Arial"/>
              </a:defRPr>
            </a:defPPr>
          </a:lstStyle>
          <a:p xmlns:a="http://schemas.openxmlformats.org/drawingml/2006/main">
            <a:pPr>
              <a:defRPr sz="2250" b="0">
                <a:solidFill>
                  <a:srgbClr val="173B40"/>
                </a:solidFill>
                <a:latin typeface="Arial"/>
                <a:ea typeface="Arial"/>
                <a:cs typeface="Arial"/>
              </a:defRPr>
            </a:pPr>
            <a:r>
              <a:rPr sz="2250" b="0">
                <a:solidFill>
                  <a:srgbClr val="173B40"/>
                </a:solidFill>
                <a:latin typeface="Arial"/>
                <a:ea typeface="Arial"/>
                <a:cs typeface="Arial"/>
              </a:rPr>
              <a:t>913,000 source rows from 2013-2017</a:t>
            </a:r>
          </a:p>
          <a:p xmlns:a="http://schemas.openxmlformats.org/drawingml/2006/main">
            <a:r>
              <a:t/>
            </a:r>
          </a:p>
          <a:p xmlns:a="http://schemas.openxmlformats.org/drawingml/2006/main">
            <a:pPr>
              <a:defRPr sz="2250" b="0">
                <a:solidFill>
                  <a:srgbClr val="173B40"/>
                </a:solidFill>
                <a:latin typeface="Arial"/>
                <a:ea typeface="Arial"/>
                <a:cs typeface="Arial"/>
              </a:defRPr>
            </a:pPr>
            <a:r>
              <a:rPr sz="2250" b="0">
                <a:solidFill>
                  <a:srgbClr val="173B40"/>
                </a:solidFill>
                <a:latin typeface="Arial"/>
                <a:ea typeface="Arial"/>
                <a:cs typeface="Arial"/>
              </a:rPr>
              <a:t>9,130 selected rows with complete daily histories</a:t>
            </a:r>
          </a:p>
          <a:p xmlns:a="http://schemas.openxmlformats.org/drawingml/2006/main">
            <a:r>
              <a:t/>
            </a:r>
          </a:p>
          <a:p xmlns:a="http://schemas.openxmlformats.org/drawingml/2006/main">
            <a:pPr>
              <a:defRPr sz="2250" b="0">
                <a:solidFill>
                  <a:srgbClr val="173B40"/>
                </a:solidFill>
                <a:latin typeface="Arial"/>
                <a:ea typeface="Arial"/>
                <a:cs typeface="Arial"/>
              </a:defRPr>
            </a:pPr>
            <a:r>
              <a:rPr sz="2250" b="0">
                <a:solidFill>
                  <a:srgbClr val="173B40"/>
                </a:solidFill>
                <a:latin typeface="Arial"/>
                <a:ea typeface="Arial"/>
                <a:cs typeface="Arial"/>
              </a:rPr>
              <a:t>Fields: date, store, item and sales</a:t>
            </a:r>
          </a:p>
          <a:p xmlns:a="http://schemas.openxmlformats.org/drawingml/2006/main">
            <a:r>
              <a:t/>
            </a:r>
          </a:p>
          <a:p xmlns:a="http://schemas.openxmlformats.org/drawingml/2006/main">
            <a:pPr>
              <a:defRPr sz="2250" b="0">
                <a:solidFill>
                  <a:srgbClr val="173B40"/>
                </a:solidFill>
                <a:latin typeface="Arial"/>
                <a:ea typeface="Arial"/>
                <a:cs typeface="Arial"/>
              </a:defRPr>
            </a:pPr>
            <a:r>
              <a:rPr sz="2250" b="0">
                <a:solidFill>
                  <a:srgbClr val="173B40"/>
                </a:solidFill>
                <a:latin typeface="Arial"/>
                <a:ea typeface="Arial"/>
                <a:cs typeface="Arial"/>
              </a:rPr>
              <a:t>Anonymous item IDs and manually entered stock inputs</a:t>
            </a:r>
          </a:p>
        </p:txBody>
      </p:sp>
      <p:sp>
        <p:nvSpPr>
          <p:cNvPr id="3" name="">
            <a:extLst xmlns:a="http://schemas.openxmlformats.org/drawingml/2006/main">
              <a:ext uri="{FF2B5EF4-FFF2-40B4-BE49-F238E27FC236}">
                <a16:creationId xmlns:a16="http://schemas.microsoft.com/office/drawing/2014/main" id="{75EA5834-6AAE-4338-BFD9-37B6D913B8C6}"/>
              </a:ext>
            </a:extLst>
          </p:cNvPr>
          <p:cNvSpPr>
            <a:spLocks xmlns:a="http://schemas.openxmlformats.org/drawingml/2006/main" noGrp="1"/>
          </p:cNvSpPr>
          <p:nvPr/>
        </p:nvSpPr>
        <p:spPr>
          <a:xfrm xmlns:a="http://schemas.openxmlformats.org/drawingml/2006/main">
            <a:off x="1104900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173B40"/>
                </a:solidFill>
                <a:latin typeface="Arial"/>
                <a:ea typeface="Arial"/>
                <a:cs typeface="Arial"/>
              </a:defRPr>
            </a:defPPr>
          </a:lstStyle>
          <a:p xmlns:a="http://schemas.openxmlformats.org/drawingml/2006/main">
            <a:pPr>
              <a:defRPr sz="1275" b="0">
                <a:solidFill>
                  <a:srgbClr val="173B40"/>
                </a:solidFill>
                <a:latin typeface="Arial"/>
                <a:ea typeface="Arial"/>
                <a:cs typeface="Arial"/>
              </a:defRPr>
            </a:pPr>
            <a:r>
              <a:rPr sz="1275" b="0">
                <a:solidFill>
                  <a:srgbClr val="173B40"/>
                </a:solidFill>
                <a:latin typeface="Arial"/>
                <a:ea typeface="Arial"/>
                <a:cs typeface="Arial"/>
              </a:rPr>
              <a:t>4</a:t>
            </a:r>
          </a:p>
        </p:txBody>
      </p:sp>
    </p:spTree>
    <p:extLst>
      <p:ext uri="{BB962C8B-B14F-4D97-AF65-F5344CB8AC3E}">
        <p14:creationId xmlns:p14="http://schemas.microsoft.com/office/powerpoint/2010/main" val="1556683193"/>
      </p:ext>
    </p:extLst>
  </p:cSld>
</p:sld>
</file>

<file path=ppt/slides/slide5.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31370FF-96EA-430C-B3DE-ABC6C336D00B}"/>
              </a:ext>
            </a:extLst>
          </p:cNvPr>
          <p:cNvSpPr>
            <a:spLocks xmlns:a="http://schemas.openxmlformats.org/drawingml/2006/main" noGrp="1"/>
          </p:cNvSpPr>
          <p:nvPr/>
        </p:nvSpPr>
        <p:spPr>
          <a:xfrm xmlns:a="http://schemas.openxmlformats.org/drawingml/2006/main">
            <a:off x="647700" y="476250"/>
            <a:ext cx="10896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B40"/>
                </a:solidFill>
                <a:latin typeface="Arial"/>
                <a:ea typeface="Arial"/>
                <a:cs typeface="Arial"/>
              </a:defRPr>
            </a:defPPr>
          </a:lstStyle>
          <a:p xmlns:a="http://schemas.openxmlformats.org/drawingml/2006/main">
            <a:pPr>
              <a:defRPr sz="3300" b="1">
                <a:solidFill>
                  <a:srgbClr val="173B40"/>
                </a:solidFill>
                <a:latin typeface="Arial"/>
                <a:ea typeface="Arial"/>
                <a:cs typeface="Arial"/>
              </a:defRPr>
            </a:pPr>
            <a:r>
              <a:rPr sz="3300" b="1">
                <a:solidFill>
                  <a:srgbClr val="173B40"/>
                </a:solidFill>
                <a:latin typeface="Arial"/>
                <a:ea typeface="Arial"/>
                <a:cs typeface="Arial"/>
              </a:rPr>
              <a:t>Sales patterns in development data</a:t>
            </a:r>
          </a:p>
        </p:txBody>
      </p:sp>
      <p:sp>
        <p:nvSpPr>
          <p:cNvPr id="2" name="">
            <a:extLst xmlns:a="http://schemas.openxmlformats.org/drawingml/2006/main">
              <a:ext uri="{FF2B5EF4-FFF2-40B4-BE49-F238E27FC236}">
                <a16:creationId xmlns:a16="http://schemas.microsoft.com/office/drawing/2014/main" id="{222A48DE-D095-4D26-8C5E-ECFAF483EE24}"/>
              </a:ext>
            </a:extLst>
          </p:cNvPr>
          <p:cNvSpPr>
            <a:spLocks xmlns:a="http://schemas.openxmlformats.org/drawingml/2006/main" noGrp="1"/>
          </p:cNvSpPr>
          <p:nvPr/>
        </p:nvSpPr>
        <p:spPr>
          <a:xfrm xmlns:a="http://schemas.openxmlformats.org/drawingml/2006/main">
            <a:off x="1104900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173B40"/>
                </a:solidFill>
                <a:latin typeface="Arial"/>
                <a:ea typeface="Arial"/>
                <a:cs typeface="Arial"/>
              </a:defRPr>
            </a:defPPr>
          </a:lstStyle>
          <a:p xmlns:a="http://schemas.openxmlformats.org/drawingml/2006/main">
            <a:pPr>
              <a:defRPr sz="1275" b="0">
                <a:solidFill>
                  <a:srgbClr val="173B40"/>
                </a:solidFill>
                <a:latin typeface="Arial"/>
                <a:ea typeface="Arial"/>
                <a:cs typeface="Arial"/>
              </a:defRPr>
            </a:pPr>
            <a:r>
              <a:rPr sz="1275" b="0">
                <a:solidFill>
                  <a:srgbClr val="173B40"/>
                </a:solidFill>
                <a:latin typeface="Arial"/>
                <a:ea typeface="Arial"/>
                <a:cs typeface="Arial"/>
              </a:rPr>
              <a:t>5</a:t>
            </a:r>
          </a:p>
        </p:txBody>
      </p:sp>
      <p:pic>
        <p:nvPicPr>
          <p:cNvPr id="3" name="">
            <a:extLst xmlns:a="http://schemas.openxmlformats.org/drawingml/2006/main">
              <a:ext uri="{FF2B5EF4-FFF2-40B4-BE49-F238E27FC236}">
                <a16:creationId xmlns:a16="http://schemas.microsoft.com/office/drawing/2014/main" id="{BEA37EC1-23EC-4160-8F15-6490F38EA97F}"/>
              </a:ext>
            </a:extLst>
          </p:cNvPr>
          <p:cNvPicPr>
            <a:picLocks xmlns:a="http://schemas.openxmlformats.org/drawingml/2006/main" noChangeAspect="1"/>
          </p:cNvPicPr>
          <p:nvPr/>
        </p:nvPicPr>
        <p:blipFill>
          <a:blip xmlns:r="http://schemas.openxmlformats.org/officeDocument/2006/relationships" xmlns:a="http://schemas.openxmlformats.org/drawingml/2006/main" r:embed="Rc3a7ce53b13d48b9"/>
          <a:stretch xmlns:a="http://schemas.openxmlformats.org/drawingml/2006/main"/>
        </p:blipFill>
        <p:spPr>
          <a:xfrm xmlns:a="http://schemas.openxmlformats.org/drawingml/2006/main">
            <a:off x="647700" y="1836539"/>
            <a:ext cx="7429500" cy="3946922"/>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B6DA504-BDDD-469C-B108-2D3AAC049AB0}"/>
              </a:ext>
            </a:extLst>
          </p:cNvPr>
          <p:cNvSpPr>
            <a:spLocks xmlns:a="http://schemas.openxmlformats.org/drawingml/2006/main" noGrp="1"/>
          </p:cNvSpPr>
          <p:nvPr/>
        </p:nvSpPr>
        <p:spPr>
          <a:xfrm xmlns:a="http://schemas.openxmlformats.org/drawingml/2006/main">
            <a:off x="8477250" y="2428875"/>
            <a:ext cx="29527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3B40"/>
                </a:solidFill>
                <a:latin typeface="Arial"/>
                <a:ea typeface="Arial"/>
                <a:cs typeface="Arial"/>
              </a:defRPr>
            </a:defPPr>
          </a:lstStyle>
          <a:p xmlns:a="http://schemas.openxmlformats.org/drawingml/2006/main">
            <a:pPr>
              <a:defRPr sz="2250" b="0">
                <a:solidFill>
                  <a:srgbClr val="173B40"/>
                </a:solidFill>
                <a:latin typeface="Arial"/>
                <a:ea typeface="Arial"/>
                <a:cs typeface="Arial"/>
              </a:defRPr>
            </a:pPr>
            <a:r>
              <a:rPr sz="2250" b="0">
                <a:solidFill>
                  <a:srgbClr val="173B40"/>
                </a:solidFill>
                <a:latin typeface="Arial"/>
                <a:ea typeface="Arial"/>
                <a:cs typeface="Arial"/>
              </a:rPr>
              <a:t>Annual total</a:t>
            </a:r>
          </a:p>
          <a:p xmlns:a="http://schemas.openxmlformats.org/drawingml/2006/main">
            <a:pPr>
              <a:defRPr sz="2250" b="0">
                <a:solidFill>
                  <a:srgbClr val="173B40"/>
                </a:solidFill>
                <a:latin typeface="Arial"/>
                <a:ea typeface="Arial"/>
                <a:cs typeface="Arial"/>
              </a:defRPr>
            </a:pPr>
            <a:r>
              <a:rPr sz="2250" b="0">
                <a:solidFill>
                  <a:srgbClr val="173B40"/>
                </a:solidFill>
                <a:latin typeface="Arial"/>
                <a:ea typeface="Arial"/>
                <a:cs typeface="Arial"/>
              </a:rPr>
              <a:t>43,208 in 2013</a:t>
            </a:r>
          </a:p>
          <a:p xmlns:a="http://schemas.openxmlformats.org/drawingml/2006/main">
            <a:pPr>
              <a:defRPr sz="2250" b="0">
                <a:solidFill>
                  <a:srgbClr val="173B40"/>
                </a:solidFill>
                <a:latin typeface="Arial"/>
                <a:ea typeface="Arial"/>
                <a:cs typeface="Arial"/>
              </a:defRPr>
            </a:pPr>
            <a:r>
              <a:rPr sz="2250" b="0">
                <a:solidFill>
                  <a:srgbClr val="173B40"/>
                </a:solidFill>
                <a:latin typeface="Arial"/>
                <a:ea typeface="Arial"/>
                <a:cs typeface="Arial"/>
              </a:rPr>
              <a:t>56,943 in 2016</a:t>
            </a:r>
          </a:p>
        </p:txBody>
      </p:sp>
    </p:spTree>
    <p:extLst>
      <p:ext uri="{BB962C8B-B14F-4D97-AF65-F5344CB8AC3E}">
        <p14:creationId xmlns:p14="http://schemas.microsoft.com/office/powerpoint/2010/main" val="732703670"/>
      </p:ext>
    </p:extLst>
  </p:cSld>
</p:sld>
</file>

<file path=ppt/slides/slide6.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7889C76-2294-4C7D-92F9-E5D1E59FFDE4}"/>
              </a:ext>
            </a:extLst>
          </p:cNvPr>
          <p:cNvSpPr>
            <a:spLocks xmlns:a="http://schemas.openxmlformats.org/drawingml/2006/main" noGrp="1"/>
          </p:cNvSpPr>
          <p:nvPr/>
        </p:nvSpPr>
        <p:spPr>
          <a:xfrm xmlns:a="http://schemas.openxmlformats.org/drawingml/2006/main">
            <a:off x="647700" y="476250"/>
            <a:ext cx="10896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B40"/>
                </a:solidFill>
                <a:latin typeface="Arial"/>
                <a:ea typeface="Arial"/>
                <a:cs typeface="Arial"/>
              </a:defRPr>
            </a:defPPr>
          </a:lstStyle>
          <a:p xmlns:a="http://schemas.openxmlformats.org/drawingml/2006/main">
            <a:pPr>
              <a:defRPr sz="3300" b="1">
                <a:solidFill>
                  <a:srgbClr val="173B40"/>
                </a:solidFill>
                <a:latin typeface="Arial"/>
                <a:ea typeface="Arial"/>
                <a:cs typeface="Arial"/>
              </a:defRPr>
            </a:pPr>
            <a:r>
              <a:rPr sz="3300" b="1">
                <a:solidFill>
                  <a:srgbClr val="173B40"/>
                </a:solidFill>
                <a:latin typeface="Arial"/>
                <a:ea typeface="Arial"/>
                <a:cs typeface="Arial"/>
              </a:rPr>
              <a:t>Forecasting methods and fair evaluation</a:t>
            </a:r>
          </a:p>
        </p:txBody>
      </p:sp>
      <p:sp>
        <p:nvSpPr>
          <p:cNvPr id="2" name="">
            <a:extLst xmlns:a="http://schemas.openxmlformats.org/drawingml/2006/main">
              <a:ext uri="{FF2B5EF4-FFF2-40B4-BE49-F238E27FC236}">
                <a16:creationId xmlns:a16="http://schemas.microsoft.com/office/drawing/2014/main" id="{EDA9E14D-20B2-40E7-A981-81C610774CC5}"/>
              </a:ext>
            </a:extLst>
          </p:cNvPr>
          <p:cNvSpPr>
            <a:spLocks xmlns:a="http://schemas.openxmlformats.org/drawingml/2006/main" noGrp="1"/>
          </p:cNvSpPr>
          <p:nvPr/>
        </p:nvSpPr>
        <p:spPr>
          <a:xfrm xmlns:a="http://schemas.openxmlformats.org/drawingml/2006/main">
            <a:off x="647700" y="1905000"/>
            <a:ext cx="108966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3B40"/>
                </a:solidFill>
                <a:latin typeface="Arial"/>
                <a:ea typeface="Arial"/>
                <a:cs typeface="Arial"/>
              </a:defRPr>
            </a:defPPr>
          </a:lstStyle>
          <a:p xmlns:a="http://schemas.openxmlformats.org/drawingml/2006/main">
            <a:pPr>
              <a:defRPr sz="2250" b="0">
                <a:solidFill>
                  <a:srgbClr val="173B40"/>
                </a:solidFill>
                <a:latin typeface="Arial"/>
                <a:ea typeface="Arial"/>
                <a:cs typeface="Arial"/>
              </a:defRPr>
            </a:pPr>
            <a:r>
              <a:rPr sz="2250" b="0">
                <a:solidFill>
                  <a:srgbClr val="173B40"/>
                </a:solidFill>
                <a:latin typeface="Arial"/>
                <a:ea typeface="Arial"/>
                <a:cs typeface="Arial"/>
              </a:rPr>
              <a:t>Weekly benchmark repeats matching weekdays.</a:t>
            </a:r>
          </a:p>
          <a:p xmlns:a="http://schemas.openxmlformats.org/drawingml/2006/main">
            <a:r>
              <a:t/>
            </a:r>
          </a:p>
          <a:p xmlns:a="http://schemas.openxmlformats.org/drawingml/2006/main">
            <a:pPr>
              <a:defRPr sz="2250" b="0">
                <a:solidFill>
                  <a:srgbClr val="173B40"/>
                </a:solidFill>
                <a:latin typeface="Arial"/>
                <a:ea typeface="Arial"/>
                <a:cs typeface="Arial"/>
              </a:defRPr>
            </a:pPr>
            <a:r>
              <a:rPr sz="2250" b="0">
                <a:solidFill>
                  <a:srgbClr val="173B40"/>
                </a:solidFill>
                <a:latin typeface="Arial"/>
                <a:ea typeface="Arial"/>
                <a:cs typeface="Arial"/>
              </a:rPr>
              <a:t>Random forest uses sales lags, recent means and calendar inputs.</a:t>
            </a:r>
          </a:p>
          <a:p xmlns:a="http://schemas.openxmlformats.org/drawingml/2006/main">
            <a:r>
              <a:t/>
            </a:r>
          </a:p>
          <a:p xmlns:a="http://schemas.openxmlformats.org/drawingml/2006/main">
            <a:pPr>
              <a:defRPr sz="2250" b="0">
                <a:solidFill>
                  <a:srgbClr val="173B40"/>
                </a:solidFill>
                <a:latin typeface="Arial"/>
                <a:ea typeface="Arial"/>
                <a:cs typeface="Arial"/>
              </a:defRPr>
            </a:pPr>
            <a:r>
              <a:rPr sz="2250" b="0">
                <a:solidFill>
                  <a:srgbClr val="173B40"/>
                </a:solidFill>
                <a:latin typeface="Arial"/>
                <a:ea typeface="Arial"/>
                <a:cs typeface="Arial"/>
              </a:rPr>
              <a:t>Small LSTM uses chronological sales sequences.</a:t>
            </a:r>
          </a:p>
          <a:p xmlns:a="http://schemas.openxmlformats.org/drawingml/2006/main">
            <a:r>
              <a:t/>
            </a:r>
          </a:p>
          <a:p xmlns:a="http://schemas.openxmlformats.org/drawingml/2006/main">
            <a:pPr>
              <a:defRPr sz="2250" b="0">
                <a:solidFill>
                  <a:srgbClr val="173B40"/>
                </a:solidFill>
                <a:latin typeface="Arial"/>
                <a:ea typeface="Arial"/>
                <a:cs typeface="Arial"/>
              </a:defRPr>
            </a:pPr>
            <a:r>
              <a:rPr sz="2250" b="0">
                <a:solidFill>
                  <a:srgbClr val="173B40"/>
                </a:solidFill>
                <a:latin typeface="Arial"/>
                <a:ea typeface="Arial"/>
                <a:cs typeface="Arial"/>
              </a:rPr>
              <a:t>Fit 2013-2015, select on 2016, refit through 2016, test 2017.</a:t>
            </a:r>
          </a:p>
        </p:txBody>
      </p:sp>
      <p:sp>
        <p:nvSpPr>
          <p:cNvPr id="3" name="">
            <a:extLst xmlns:a="http://schemas.openxmlformats.org/drawingml/2006/main">
              <a:ext uri="{FF2B5EF4-FFF2-40B4-BE49-F238E27FC236}">
                <a16:creationId xmlns:a16="http://schemas.microsoft.com/office/drawing/2014/main" id="{82F257D4-F703-4124-A586-97F818F7E4F7}"/>
              </a:ext>
            </a:extLst>
          </p:cNvPr>
          <p:cNvSpPr>
            <a:spLocks xmlns:a="http://schemas.openxmlformats.org/drawingml/2006/main" noGrp="1"/>
          </p:cNvSpPr>
          <p:nvPr/>
        </p:nvSpPr>
        <p:spPr>
          <a:xfrm xmlns:a="http://schemas.openxmlformats.org/drawingml/2006/main">
            <a:off x="1104900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173B40"/>
                </a:solidFill>
                <a:latin typeface="Arial"/>
                <a:ea typeface="Arial"/>
                <a:cs typeface="Arial"/>
              </a:defRPr>
            </a:defPPr>
          </a:lstStyle>
          <a:p xmlns:a="http://schemas.openxmlformats.org/drawingml/2006/main">
            <a:pPr>
              <a:defRPr sz="1275" b="0">
                <a:solidFill>
                  <a:srgbClr val="173B40"/>
                </a:solidFill>
                <a:latin typeface="Arial"/>
                <a:ea typeface="Arial"/>
                <a:cs typeface="Arial"/>
              </a:defRPr>
            </a:pPr>
            <a:r>
              <a:rPr sz="1275" b="0">
                <a:solidFill>
                  <a:srgbClr val="173B40"/>
                </a:solidFill>
                <a:latin typeface="Arial"/>
                <a:ea typeface="Arial"/>
                <a:cs typeface="Arial"/>
              </a:rPr>
              <a:t>6</a:t>
            </a:r>
          </a:p>
        </p:txBody>
      </p:sp>
    </p:spTree>
    <p:extLst>
      <p:ext uri="{BB962C8B-B14F-4D97-AF65-F5344CB8AC3E}">
        <p14:creationId xmlns:p14="http://schemas.microsoft.com/office/powerpoint/2010/main" val="373843394"/>
      </p:ext>
    </p:extLst>
  </p:cSld>
</p:sld>
</file>

<file path=ppt/slides/slide7.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B884527-2F40-4112-9821-CCC55F0A2F8D}"/>
              </a:ext>
            </a:extLst>
          </p:cNvPr>
          <p:cNvSpPr>
            <a:spLocks xmlns:a="http://schemas.openxmlformats.org/drawingml/2006/main" noGrp="1"/>
          </p:cNvSpPr>
          <p:nvPr/>
        </p:nvSpPr>
        <p:spPr>
          <a:xfrm xmlns:a="http://schemas.openxmlformats.org/drawingml/2006/main">
            <a:off x="647700" y="476250"/>
            <a:ext cx="10896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B40"/>
                </a:solidFill>
                <a:latin typeface="Arial"/>
                <a:ea typeface="Arial"/>
                <a:cs typeface="Arial"/>
              </a:defRPr>
            </a:defPPr>
          </a:lstStyle>
          <a:p xmlns:a="http://schemas.openxmlformats.org/drawingml/2006/main">
            <a:pPr>
              <a:defRPr sz="3300" b="1">
                <a:solidFill>
                  <a:srgbClr val="173B40"/>
                </a:solidFill>
                <a:latin typeface="Arial"/>
                <a:ea typeface="Arial"/>
                <a:cs typeface="Arial"/>
              </a:defRPr>
            </a:pPr>
            <a:r>
              <a:rPr sz="3300" b="1">
                <a:solidFill>
                  <a:srgbClr val="173B40"/>
                </a:solidFill>
                <a:latin typeface="Arial"/>
                <a:ea typeface="Arial"/>
                <a:cs typeface="Arial"/>
              </a:rPr>
              <a:t>2016 validation selected random forest</a:t>
            </a:r>
          </a:p>
        </p:txBody>
      </p:sp>
      <p:sp>
        <p:nvSpPr>
          <p:cNvPr id="2" name="">
            <a:extLst xmlns:a="http://schemas.openxmlformats.org/drawingml/2006/main">
              <a:ext uri="{FF2B5EF4-FFF2-40B4-BE49-F238E27FC236}">
                <a16:creationId xmlns:a16="http://schemas.microsoft.com/office/drawing/2014/main" id="{CCBEA30F-8243-49D5-A6CF-0489155E181E}"/>
              </a:ext>
            </a:extLst>
          </p:cNvPr>
          <p:cNvSpPr>
            <a:spLocks xmlns:a="http://schemas.openxmlformats.org/drawingml/2006/main" noGrp="1"/>
          </p:cNvSpPr>
          <p:nvPr/>
        </p:nvSpPr>
        <p:spPr>
          <a:xfrm xmlns:a="http://schemas.openxmlformats.org/drawingml/2006/main">
            <a:off x="1104900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173B40"/>
                </a:solidFill>
                <a:latin typeface="Arial"/>
                <a:ea typeface="Arial"/>
                <a:cs typeface="Arial"/>
              </a:defRPr>
            </a:defPPr>
          </a:lstStyle>
          <a:p xmlns:a="http://schemas.openxmlformats.org/drawingml/2006/main">
            <a:pPr>
              <a:defRPr sz="1275" b="0">
                <a:solidFill>
                  <a:srgbClr val="173B40"/>
                </a:solidFill>
                <a:latin typeface="Arial"/>
                <a:ea typeface="Arial"/>
                <a:cs typeface="Arial"/>
              </a:defRPr>
            </a:pPr>
            <a:r>
              <a:rPr sz="1275" b="0">
                <a:solidFill>
                  <a:srgbClr val="173B40"/>
                </a:solidFill>
                <a:latin typeface="Arial"/>
                <a:ea typeface="Arial"/>
                <a:cs typeface="Arial"/>
              </a:rPr>
              <a:t>7</a:t>
            </a:r>
          </a:p>
        </p:txBody>
      </p:sp>
      <p:graphicFrame>
        <p:nvGraphicFramePr>
          <p:cNvPr id="3" name="">
            <a:extLst xmlns:a="http://schemas.openxmlformats.org/drawingml/2006/main">
              <a:ext uri="{FF2B5EF4-FFF2-40B4-BE49-F238E27FC236}">
                <a16:creationId xmlns:a16="http://schemas.microsoft.com/office/drawing/2014/main" id="{5851E226-B8B7-43AC-AEF7-E2D2E8402651}"/>
              </a:ext>
            </a:extLst>
          </p:cNvPr>
          <p:cNvGraphicFramePr/>
          <p:nvPr/>
        </p:nvGraphicFramePr>
        <p:xfrm>
          <a:off xmlns:a="http://schemas.openxmlformats.org/drawingml/2006/main" x="647700" y="1809750"/>
          <a:ext xmlns:a="http://schemas.openxmlformats.org/drawingml/2006/main" cx="10896600" cy="2857500"/>
        </p:xfrm>
        <a:graphic xmlns:a="http://schemas.openxmlformats.org/drawingml/2006/main">
          <a:graphicData uri="http://schemas.openxmlformats.org/drawingml/2006/table">
            <a:tbl>
              <a:tblPr/>
              <a:tblGrid>
                <a:gridCol w="3714750"/>
                <a:gridCol w="2381250"/>
                <a:gridCol w="2381250"/>
                <a:gridCol w="2419350"/>
              </a:tblGrid>
              <a:tr h="714375">
                <a:tc>
                  <a:txBody>
                    <a:bodyPr/>
                    <a:lstStyle/>
                    <a:p>
                      <a:r>
                        <a:rPr sz="2025" b="1">
                          <a:solidFill>
                            <a:srgbClr val="FFFFFF"/>
                          </a:solidFill>
                          <a:latin typeface="Arial"/>
                          <a:ea typeface="Arial"/>
                          <a:cs typeface="Arial"/>
                        </a:rPr>
                        <a:t>Method</a:t>
                      </a:r>
                    </a:p>
                  </a:txBody>
                  <a:tcPr marL="91440" marR="91440" marT="45720" marB="45720">
                    <a:solidFill>
                      <a:srgbClr val="243E49"/>
                    </a:solidFill>
                  </a:tcPr>
                </a:tc>
                <a:tc>
                  <a:txBody>
                    <a:bodyPr/>
                    <a:lstStyle/>
                    <a:p>
                      <a:r>
                        <a:rPr sz="2025" b="1">
                          <a:solidFill>
                            <a:srgbClr val="FFFFFF"/>
                          </a:solidFill>
                          <a:latin typeface="Arial"/>
                          <a:ea typeface="Arial"/>
                          <a:cs typeface="Arial"/>
                        </a:rPr>
                        <a:t>Daily MAE</a:t>
                      </a:r>
                    </a:p>
                  </a:txBody>
                  <a:tcPr marL="91440" marR="91440" marT="45720" marB="45720">
                    <a:solidFill>
                      <a:srgbClr val="243E49"/>
                    </a:solidFill>
                  </a:tcPr>
                </a:tc>
                <a:tc>
                  <a:txBody>
                    <a:bodyPr/>
                    <a:lstStyle/>
                    <a:p>
                      <a:r>
                        <a:rPr sz="2025" b="1">
                          <a:solidFill>
                            <a:srgbClr val="FFFFFF"/>
                          </a:solidFill>
                          <a:latin typeface="Arial"/>
                          <a:ea typeface="Arial"/>
                          <a:cs typeface="Arial"/>
                        </a:rPr>
                        <a:t>Daily RMSE</a:t>
                      </a:r>
                    </a:p>
                  </a:txBody>
                  <a:tcPr marL="91440" marR="91440" marT="45720" marB="45720">
                    <a:solidFill>
                      <a:srgbClr val="243E49"/>
                    </a:solidFill>
                  </a:tcPr>
                </a:tc>
                <a:tc>
                  <a:txBody>
                    <a:bodyPr/>
                    <a:lstStyle/>
                    <a:p>
                      <a:r>
                        <a:rPr sz="2025" b="1">
                          <a:solidFill>
                            <a:srgbClr val="FFFFFF"/>
                          </a:solidFill>
                          <a:latin typeface="Arial"/>
                          <a:ea typeface="Arial"/>
                          <a:cs typeface="Arial"/>
                        </a:rPr>
                        <a:t>Weekly-total MAE</a:t>
                      </a:r>
                    </a:p>
                  </a:txBody>
                  <a:tcPr marL="91440" marR="91440" marT="45720" marB="45720">
                    <a:solidFill>
                      <a:srgbClr val="243E49"/>
                    </a:solidFill>
                  </a:tcPr>
                </a:tc>
              </a:tr>
              <a:tr h="714375">
                <a:tc>
                  <a:txBody>
                    <a:bodyPr/>
                    <a:lstStyle/>
                    <a:p>
                      <a:r>
                        <a:rPr sz="2025" b="0">
                          <a:solidFill>
                            <a:srgbClr val="173B40"/>
                          </a:solidFill>
                          <a:latin typeface="Arial"/>
                          <a:ea typeface="Arial"/>
                          <a:cs typeface="Arial"/>
                        </a:rPr>
                        <a:t>Weekly benchmark</a:t>
                      </a:r>
                    </a:p>
                  </a:txBody>
                  <a:tcPr marL="91440" marR="91440" marT="45720" marB="45720">
                    <a:solidFill>
                      <a:srgbClr val="FFFFFF"/>
                    </a:solidFill>
                  </a:tcPr>
                </a:tc>
                <a:tc>
                  <a:txBody>
                    <a:bodyPr/>
                    <a:lstStyle/>
                    <a:p>
                      <a:r>
                        <a:rPr sz="2025" b="0">
                          <a:solidFill>
                            <a:srgbClr val="173B40"/>
                          </a:solidFill>
                          <a:latin typeface="Arial"/>
                          <a:ea typeface="Arial"/>
                          <a:cs typeface="Arial"/>
                        </a:rPr>
                        <a:t>6.320</a:t>
                      </a:r>
                    </a:p>
                  </a:txBody>
                  <a:tcPr marL="91440" marR="91440" marT="45720" marB="45720">
                    <a:solidFill>
                      <a:srgbClr val="FFFFFF"/>
                    </a:solidFill>
                  </a:tcPr>
                </a:tc>
                <a:tc>
                  <a:txBody>
                    <a:bodyPr/>
                    <a:lstStyle/>
                    <a:p>
                      <a:r>
                        <a:rPr sz="2025" b="0">
                          <a:solidFill>
                            <a:srgbClr val="173B40"/>
                          </a:solidFill>
                          <a:latin typeface="Arial"/>
                          <a:ea typeface="Arial"/>
                          <a:cs typeface="Arial"/>
                        </a:rPr>
                        <a:t>8.217</a:t>
                      </a:r>
                    </a:p>
                  </a:txBody>
                  <a:tcPr marL="91440" marR="91440" marT="45720" marB="45720">
                    <a:solidFill>
                      <a:srgbClr val="FFFFFF"/>
                    </a:solidFill>
                  </a:tcPr>
                </a:tc>
                <a:tc>
                  <a:txBody>
                    <a:bodyPr/>
                    <a:lstStyle/>
                    <a:p>
                      <a:r>
                        <a:rPr sz="2025" b="0">
                          <a:solidFill>
                            <a:srgbClr val="173B40"/>
                          </a:solidFill>
                          <a:latin typeface="Arial"/>
                          <a:ea typeface="Arial"/>
                          <a:cs typeface="Arial"/>
                        </a:rPr>
                        <a:t>18.758</a:t>
                      </a:r>
                    </a:p>
                  </a:txBody>
                  <a:tcPr marL="91440" marR="91440" marT="45720" marB="45720">
                    <a:solidFill>
                      <a:srgbClr val="FFFFFF"/>
                    </a:solidFill>
                  </a:tcPr>
                </a:tc>
              </a:tr>
              <a:tr h="714375">
                <a:tc>
                  <a:txBody>
                    <a:bodyPr/>
                    <a:lstStyle/>
                    <a:p>
                      <a:r>
                        <a:rPr sz="2025" b="1">
                          <a:solidFill>
                            <a:srgbClr val="173B40"/>
                          </a:solidFill>
                          <a:latin typeface="Arial"/>
                          <a:ea typeface="Arial"/>
                          <a:cs typeface="Arial"/>
                        </a:rPr>
                        <a:t>Random forest</a:t>
                      </a:r>
                    </a:p>
                  </a:txBody>
                  <a:tcPr marL="91440" marR="91440" marT="45720" marB="45720">
                    <a:solidFill>
                      <a:srgbClr val="EAF0F1"/>
                    </a:solidFill>
                  </a:tcPr>
                </a:tc>
                <a:tc>
                  <a:txBody>
                    <a:bodyPr/>
                    <a:lstStyle/>
                    <a:p>
                      <a:r>
                        <a:rPr sz="2025" b="1">
                          <a:solidFill>
                            <a:srgbClr val="173B40"/>
                          </a:solidFill>
                          <a:latin typeface="Arial"/>
                          <a:ea typeface="Arial"/>
                          <a:cs typeface="Arial"/>
                        </a:rPr>
                        <a:t>4.911</a:t>
                      </a:r>
                    </a:p>
                  </a:txBody>
                  <a:tcPr marL="91440" marR="91440" marT="45720" marB="45720">
                    <a:solidFill>
                      <a:srgbClr val="EAF0F1"/>
                    </a:solidFill>
                  </a:tcPr>
                </a:tc>
                <a:tc>
                  <a:txBody>
                    <a:bodyPr/>
                    <a:lstStyle/>
                    <a:p>
                      <a:r>
                        <a:rPr sz="2025" b="1">
                          <a:solidFill>
                            <a:srgbClr val="173B40"/>
                          </a:solidFill>
                          <a:latin typeface="Arial"/>
                          <a:ea typeface="Arial"/>
                          <a:cs typeface="Arial"/>
                        </a:rPr>
                        <a:t>6.596</a:t>
                      </a:r>
                    </a:p>
                  </a:txBody>
                  <a:tcPr marL="91440" marR="91440" marT="45720" marB="45720">
                    <a:solidFill>
                      <a:srgbClr val="EAF0F1"/>
                    </a:solidFill>
                  </a:tcPr>
                </a:tc>
                <a:tc>
                  <a:txBody>
                    <a:bodyPr/>
                    <a:lstStyle/>
                    <a:p>
                      <a:r>
                        <a:rPr sz="2025" b="1">
                          <a:solidFill>
                            <a:srgbClr val="173B40"/>
                          </a:solidFill>
                          <a:latin typeface="Arial"/>
                          <a:ea typeface="Arial"/>
                          <a:cs typeface="Arial"/>
                        </a:rPr>
                        <a:t>19.797</a:t>
                      </a:r>
                    </a:p>
                  </a:txBody>
                  <a:tcPr marL="91440" marR="91440" marT="45720" marB="45720">
                    <a:solidFill>
                      <a:srgbClr val="EAF0F1"/>
                    </a:solidFill>
                  </a:tcPr>
                </a:tc>
              </a:tr>
              <a:tr h="714375">
                <a:tc>
                  <a:txBody>
                    <a:bodyPr/>
                    <a:lstStyle/>
                    <a:p>
                      <a:r>
                        <a:rPr sz="2025" b="0">
                          <a:solidFill>
                            <a:srgbClr val="173B40"/>
                          </a:solidFill>
                          <a:latin typeface="Arial"/>
                          <a:ea typeface="Arial"/>
                          <a:cs typeface="Arial"/>
                        </a:rPr>
                        <a:t>Small LSTM</a:t>
                      </a:r>
                    </a:p>
                  </a:txBody>
                  <a:tcPr marL="91440" marR="91440" marT="45720" marB="45720">
                    <a:solidFill>
                      <a:srgbClr val="FFFFFF"/>
                    </a:solidFill>
                  </a:tcPr>
                </a:tc>
                <a:tc>
                  <a:txBody>
                    <a:bodyPr/>
                    <a:lstStyle/>
                    <a:p>
                      <a:r>
                        <a:rPr sz="2025" b="0">
                          <a:solidFill>
                            <a:srgbClr val="173B40"/>
                          </a:solidFill>
                          <a:latin typeface="Arial"/>
                          <a:ea typeface="Arial"/>
                          <a:cs typeface="Arial"/>
                        </a:rPr>
                        <a:t>5.439</a:t>
                      </a:r>
                    </a:p>
                  </a:txBody>
                  <a:tcPr marL="91440" marR="91440" marT="45720" marB="45720">
                    <a:solidFill>
                      <a:srgbClr val="FFFFFF"/>
                    </a:solidFill>
                  </a:tcPr>
                </a:tc>
                <a:tc>
                  <a:txBody>
                    <a:bodyPr/>
                    <a:lstStyle/>
                    <a:p>
                      <a:r>
                        <a:rPr sz="2025" b="0">
                          <a:solidFill>
                            <a:srgbClr val="173B40"/>
                          </a:solidFill>
                          <a:latin typeface="Arial"/>
                          <a:ea typeface="Arial"/>
                          <a:cs typeface="Arial"/>
                        </a:rPr>
                        <a:t>7.227</a:t>
                      </a:r>
                    </a:p>
                  </a:txBody>
                  <a:tcPr marL="91440" marR="91440" marT="45720" marB="45720">
                    <a:solidFill>
                      <a:srgbClr val="FFFFFF"/>
                    </a:solidFill>
                  </a:tcPr>
                </a:tc>
                <a:tc>
                  <a:txBody>
                    <a:bodyPr/>
                    <a:lstStyle/>
                    <a:p>
                      <a:r>
                        <a:rPr sz="2025" b="0">
                          <a:solidFill>
                            <a:srgbClr val="173B40"/>
                          </a:solidFill>
                          <a:latin typeface="Arial"/>
                          <a:ea typeface="Arial"/>
                          <a:cs typeface="Arial"/>
                        </a:rPr>
                        <a:t>17.280</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6DD75FA-05B5-4738-BFC0-272D5704C699}"/>
              </a:ext>
            </a:extLst>
          </p:cNvPr>
          <p:cNvSpPr>
            <a:spLocks xmlns:a="http://schemas.openxmlformats.org/drawingml/2006/main" noGrp="1"/>
          </p:cNvSpPr>
          <p:nvPr/>
        </p:nvSpPr>
        <p:spPr>
          <a:xfrm xmlns:a="http://schemas.openxmlformats.org/drawingml/2006/main">
            <a:off x="647700" y="519112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3B40"/>
                </a:solidFill>
                <a:latin typeface="Arial"/>
                <a:ea typeface="Arial"/>
                <a:cs typeface="Arial"/>
              </a:defRPr>
            </a:defPPr>
          </a:lstStyle>
          <a:p xmlns:a="http://schemas.openxmlformats.org/drawingml/2006/main">
            <a:pPr>
              <a:defRPr sz="2175" b="0">
                <a:solidFill>
                  <a:srgbClr val="173B40"/>
                </a:solidFill>
                <a:latin typeface="Arial"/>
                <a:ea typeface="Arial"/>
                <a:cs typeface="Arial"/>
              </a:defRPr>
            </a:pPr>
            <a:r>
              <a:rPr sz="2175" b="0">
                <a:solidFill>
                  <a:srgbClr val="173B40"/>
                </a:solidFill>
                <a:latin typeface="Arial"/>
                <a:ea typeface="Arial"/>
                <a:cs typeface="Arial"/>
              </a:rPr>
              <a:t>Errors in units. The method choice stayed fixed before 2017 scoring.</a:t>
            </a:r>
          </a:p>
        </p:txBody>
      </p:sp>
    </p:spTree>
    <p:extLst>
      <p:ext uri="{BB962C8B-B14F-4D97-AF65-F5344CB8AC3E}">
        <p14:creationId xmlns:p14="http://schemas.microsoft.com/office/powerpoint/2010/main" val="350730321"/>
      </p:ext>
    </p:extLst>
  </p:cSld>
</p:sld>
</file>

<file path=ppt/slides/slide8.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B4D0930-974A-4298-941F-95AC04DC57A2}"/>
              </a:ext>
            </a:extLst>
          </p:cNvPr>
          <p:cNvSpPr>
            <a:spLocks xmlns:a="http://schemas.openxmlformats.org/drawingml/2006/main" noGrp="1"/>
          </p:cNvSpPr>
          <p:nvPr/>
        </p:nvSpPr>
        <p:spPr>
          <a:xfrm xmlns:a="http://schemas.openxmlformats.org/drawingml/2006/main">
            <a:off x="647700" y="476250"/>
            <a:ext cx="10896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B40"/>
                </a:solidFill>
                <a:latin typeface="Arial"/>
                <a:ea typeface="Arial"/>
                <a:cs typeface="Arial"/>
              </a:defRPr>
            </a:defPPr>
          </a:lstStyle>
          <a:p xmlns:a="http://schemas.openxmlformats.org/drawingml/2006/main">
            <a:pPr>
              <a:defRPr sz="3300" b="1">
                <a:solidFill>
                  <a:srgbClr val="173B40"/>
                </a:solidFill>
                <a:latin typeface="Arial"/>
                <a:ea typeface="Arial"/>
                <a:cs typeface="Arial"/>
              </a:defRPr>
            </a:pPr>
            <a:r>
              <a:rPr sz="3300" b="1">
                <a:solidFill>
                  <a:srgbClr val="173B40"/>
                </a:solidFill>
                <a:latin typeface="Arial"/>
                <a:ea typeface="Arial"/>
                <a:cs typeface="Arial"/>
              </a:rPr>
              <a:t>2017 final test</a:t>
            </a:r>
          </a:p>
        </p:txBody>
      </p:sp>
      <p:sp>
        <p:nvSpPr>
          <p:cNvPr id="2" name="">
            <a:extLst xmlns:a="http://schemas.openxmlformats.org/drawingml/2006/main">
              <a:ext uri="{FF2B5EF4-FFF2-40B4-BE49-F238E27FC236}">
                <a16:creationId xmlns:a16="http://schemas.microsoft.com/office/drawing/2014/main" id="{06C3F909-6D2F-4489-B48C-CEEA74CE4CB7}"/>
              </a:ext>
            </a:extLst>
          </p:cNvPr>
          <p:cNvSpPr>
            <a:spLocks xmlns:a="http://schemas.openxmlformats.org/drawingml/2006/main" noGrp="1"/>
          </p:cNvSpPr>
          <p:nvPr/>
        </p:nvSpPr>
        <p:spPr>
          <a:xfrm xmlns:a="http://schemas.openxmlformats.org/drawingml/2006/main">
            <a:off x="1104900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173B40"/>
                </a:solidFill>
                <a:latin typeface="Arial"/>
                <a:ea typeface="Arial"/>
                <a:cs typeface="Arial"/>
              </a:defRPr>
            </a:defPPr>
          </a:lstStyle>
          <a:p xmlns:a="http://schemas.openxmlformats.org/drawingml/2006/main">
            <a:pPr>
              <a:defRPr sz="1275" b="0">
                <a:solidFill>
                  <a:srgbClr val="173B40"/>
                </a:solidFill>
                <a:latin typeface="Arial"/>
                <a:ea typeface="Arial"/>
                <a:cs typeface="Arial"/>
              </a:defRPr>
            </a:pPr>
            <a:r>
              <a:rPr sz="1275" b="0">
                <a:solidFill>
                  <a:srgbClr val="173B40"/>
                </a:solidFill>
                <a:latin typeface="Arial"/>
                <a:ea typeface="Arial"/>
                <a:cs typeface="Arial"/>
              </a:rPr>
              <a:t>8</a:t>
            </a:r>
          </a:p>
        </p:txBody>
      </p:sp>
      <p:graphicFrame>
        <p:nvGraphicFramePr>
          <p:cNvPr id="3" name="">
            <a:extLst xmlns:a="http://schemas.openxmlformats.org/drawingml/2006/main">
              <a:ext uri="{FF2B5EF4-FFF2-40B4-BE49-F238E27FC236}">
                <a16:creationId xmlns:a16="http://schemas.microsoft.com/office/drawing/2014/main" id="{B7254BBE-A84E-4C90-A56B-FE833A4A9DA0}"/>
              </a:ext>
            </a:extLst>
          </p:cNvPr>
          <p:cNvGraphicFramePr/>
          <p:nvPr/>
        </p:nvGraphicFramePr>
        <p:xfrm>
          <a:off xmlns:a="http://schemas.openxmlformats.org/drawingml/2006/main" x="647700" y="1809750"/>
          <a:ext xmlns:a="http://schemas.openxmlformats.org/drawingml/2006/main" cx="10896600" cy="2857500"/>
        </p:xfrm>
        <a:graphic xmlns:a="http://schemas.openxmlformats.org/drawingml/2006/main">
          <a:graphicData uri="http://schemas.openxmlformats.org/drawingml/2006/table">
            <a:tbl>
              <a:tblPr/>
              <a:tblGrid>
                <a:gridCol w="3714750"/>
                <a:gridCol w="2381250"/>
                <a:gridCol w="2381250"/>
                <a:gridCol w="2419350"/>
              </a:tblGrid>
              <a:tr h="714375">
                <a:tc>
                  <a:txBody>
                    <a:bodyPr/>
                    <a:lstStyle/>
                    <a:p>
                      <a:r>
                        <a:rPr sz="2025" b="1">
                          <a:solidFill>
                            <a:srgbClr val="FFFFFF"/>
                          </a:solidFill>
                          <a:latin typeface="Arial"/>
                          <a:ea typeface="Arial"/>
                          <a:cs typeface="Arial"/>
                        </a:rPr>
                        <a:t>Method</a:t>
                      </a:r>
                    </a:p>
                  </a:txBody>
                  <a:tcPr marL="91440" marR="91440" marT="45720" marB="45720">
                    <a:solidFill>
                      <a:srgbClr val="243E49"/>
                    </a:solidFill>
                  </a:tcPr>
                </a:tc>
                <a:tc>
                  <a:txBody>
                    <a:bodyPr/>
                    <a:lstStyle/>
                    <a:p>
                      <a:r>
                        <a:rPr sz="2025" b="1">
                          <a:solidFill>
                            <a:srgbClr val="FFFFFF"/>
                          </a:solidFill>
                          <a:latin typeface="Arial"/>
                          <a:ea typeface="Arial"/>
                          <a:cs typeface="Arial"/>
                        </a:rPr>
                        <a:t>Daily MAE</a:t>
                      </a:r>
                    </a:p>
                  </a:txBody>
                  <a:tcPr marL="91440" marR="91440" marT="45720" marB="45720">
                    <a:solidFill>
                      <a:srgbClr val="243E49"/>
                    </a:solidFill>
                  </a:tcPr>
                </a:tc>
                <a:tc>
                  <a:txBody>
                    <a:bodyPr/>
                    <a:lstStyle/>
                    <a:p>
                      <a:r>
                        <a:rPr sz="2025" b="1">
                          <a:solidFill>
                            <a:srgbClr val="FFFFFF"/>
                          </a:solidFill>
                          <a:latin typeface="Arial"/>
                          <a:ea typeface="Arial"/>
                          <a:cs typeface="Arial"/>
                        </a:rPr>
                        <a:t>Daily RMSE</a:t>
                      </a:r>
                    </a:p>
                  </a:txBody>
                  <a:tcPr marL="91440" marR="91440" marT="45720" marB="45720">
                    <a:solidFill>
                      <a:srgbClr val="243E49"/>
                    </a:solidFill>
                  </a:tcPr>
                </a:tc>
                <a:tc>
                  <a:txBody>
                    <a:bodyPr/>
                    <a:lstStyle/>
                    <a:p>
                      <a:r>
                        <a:rPr sz="2025" b="1">
                          <a:solidFill>
                            <a:srgbClr val="FFFFFF"/>
                          </a:solidFill>
                          <a:latin typeface="Arial"/>
                          <a:ea typeface="Arial"/>
                          <a:cs typeface="Arial"/>
                        </a:rPr>
                        <a:t>Weekly-total MAE</a:t>
                      </a:r>
                    </a:p>
                  </a:txBody>
                  <a:tcPr marL="91440" marR="91440" marT="45720" marB="45720">
                    <a:solidFill>
                      <a:srgbClr val="243E49"/>
                    </a:solidFill>
                  </a:tcPr>
                </a:tc>
              </a:tr>
              <a:tr h="714375">
                <a:tc>
                  <a:txBody>
                    <a:bodyPr/>
                    <a:lstStyle/>
                    <a:p>
                      <a:r>
                        <a:rPr sz="2025" b="0">
                          <a:solidFill>
                            <a:srgbClr val="173B40"/>
                          </a:solidFill>
                          <a:latin typeface="Arial"/>
                          <a:ea typeface="Arial"/>
                          <a:cs typeface="Arial"/>
                        </a:rPr>
                        <a:t>Weekly benchmark</a:t>
                      </a:r>
                    </a:p>
                  </a:txBody>
                  <a:tcPr marL="91440" marR="91440" marT="45720" marB="45720">
                    <a:solidFill>
                      <a:srgbClr val="FFFFFF"/>
                    </a:solidFill>
                  </a:tcPr>
                </a:tc>
                <a:tc>
                  <a:txBody>
                    <a:bodyPr/>
                    <a:lstStyle/>
                    <a:p>
                      <a:r>
                        <a:rPr sz="2025" b="0">
                          <a:solidFill>
                            <a:srgbClr val="173B40"/>
                          </a:solidFill>
                          <a:latin typeface="Arial"/>
                          <a:ea typeface="Arial"/>
                          <a:cs typeface="Arial"/>
                        </a:rPr>
                        <a:t>6.273</a:t>
                      </a:r>
                    </a:p>
                  </a:txBody>
                  <a:tcPr marL="91440" marR="91440" marT="45720" marB="45720">
                    <a:solidFill>
                      <a:srgbClr val="FFFFFF"/>
                    </a:solidFill>
                  </a:tcPr>
                </a:tc>
                <a:tc>
                  <a:txBody>
                    <a:bodyPr/>
                    <a:lstStyle/>
                    <a:p>
                      <a:r>
                        <a:rPr sz="2025" b="0">
                          <a:solidFill>
                            <a:srgbClr val="173B40"/>
                          </a:solidFill>
                          <a:latin typeface="Arial"/>
                          <a:ea typeface="Arial"/>
                          <a:cs typeface="Arial"/>
                        </a:rPr>
                        <a:t>8.218</a:t>
                      </a:r>
                    </a:p>
                  </a:txBody>
                  <a:tcPr marL="91440" marR="91440" marT="45720" marB="45720">
                    <a:solidFill>
                      <a:srgbClr val="FFFFFF"/>
                    </a:solidFill>
                  </a:tcPr>
                </a:tc>
                <a:tc>
                  <a:txBody>
                    <a:bodyPr/>
                    <a:lstStyle/>
                    <a:p>
                      <a:r>
                        <a:rPr sz="2025" b="0">
                          <a:solidFill>
                            <a:srgbClr val="173B40"/>
                          </a:solidFill>
                          <a:latin typeface="Arial"/>
                          <a:ea typeface="Arial"/>
                          <a:cs typeface="Arial"/>
                        </a:rPr>
                        <a:t>18.427</a:t>
                      </a:r>
                    </a:p>
                  </a:txBody>
                  <a:tcPr marL="91440" marR="91440" marT="45720" marB="45720">
                    <a:solidFill>
                      <a:srgbClr val="FFFFFF"/>
                    </a:solidFill>
                  </a:tcPr>
                </a:tc>
              </a:tr>
              <a:tr h="714375">
                <a:tc>
                  <a:txBody>
                    <a:bodyPr/>
                    <a:lstStyle/>
                    <a:p>
                      <a:r>
                        <a:rPr sz="2025" b="1">
                          <a:solidFill>
                            <a:srgbClr val="173B40"/>
                          </a:solidFill>
                          <a:latin typeface="Arial"/>
                          <a:ea typeface="Arial"/>
                          <a:cs typeface="Arial"/>
                        </a:rPr>
                        <a:t>Random forest</a:t>
                      </a:r>
                    </a:p>
                  </a:txBody>
                  <a:tcPr marL="91440" marR="91440" marT="45720" marB="45720">
                    <a:solidFill>
                      <a:srgbClr val="EAF0F1"/>
                    </a:solidFill>
                  </a:tcPr>
                </a:tc>
                <a:tc>
                  <a:txBody>
                    <a:bodyPr/>
                    <a:lstStyle/>
                    <a:p>
                      <a:r>
                        <a:rPr sz="2025" b="1">
                          <a:solidFill>
                            <a:srgbClr val="173B40"/>
                          </a:solidFill>
                          <a:latin typeface="Arial"/>
                          <a:ea typeface="Arial"/>
                          <a:cs typeface="Arial"/>
                        </a:rPr>
                        <a:t>4.812</a:t>
                      </a:r>
                    </a:p>
                  </a:txBody>
                  <a:tcPr marL="91440" marR="91440" marT="45720" marB="45720">
                    <a:solidFill>
                      <a:srgbClr val="EAF0F1"/>
                    </a:solidFill>
                  </a:tcPr>
                </a:tc>
                <a:tc>
                  <a:txBody>
                    <a:bodyPr/>
                    <a:lstStyle/>
                    <a:p>
                      <a:r>
                        <a:rPr sz="2025" b="1">
                          <a:solidFill>
                            <a:srgbClr val="173B40"/>
                          </a:solidFill>
                          <a:latin typeface="Arial"/>
                          <a:ea typeface="Arial"/>
                          <a:cs typeface="Arial"/>
                        </a:rPr>
                        <a:t>6.387</a:t>
                      </a:r>
                    </a:p>
                  </a:txBody>
                  <a:tcPr marL="91440" marR="91440" marT="45720" marB="45720">
                    <a:solidFill>
                      <a:srgbClr val="EAF0F1"/>
                    </a:solidFill>
                  </a:tcPr>
                </a:tc>
                <a:tc>
                  <a:txBody>
                    <a:bodyPr/>
                    <a:lstStyle/>
                    <a:p>
                      <a:r>
                        <a:rPr sz="2025" b="1">
                          <a:solidFill>
                            <a:srgbClr val="173B40"/>
                          </a:solidFill>
                          <a:latin typeface="Arial"/>
                          <a:ea typeface="Arial"/>
                          <a:cs typeface="Arial"/>
                        </a:rPr>
                        <a:t>17.973</a:t>
                      </a:r>
                    </a:p>
                  </a:txBody>
                  <a:tcPr marL="91440" marR="91440" marT="45720" marB="45720">
                    <a:solidFill>
                      <a:srgbClr val="EAF0F1"/>
                    </a:solidFill>
                  </a:tcPr>
                </a:tc>
              </a:tr>
              <a:tr h="714375">
                <a:tc>
                  <a:txBody>
                    <a:bodyPr/>
                    <a:lstStyle/>
                    <a:p>
                      <a:r>
                        <a:rPr sz="2025" b="0">
                          <a:solidFill>
                            <a:srgbClr val="173B40"/>
                          </a:solidFill>
                          <a:latin typeface="Arial"/>
                          <a:ea typeface="Arial"/>
                          <a:cs typeface="Arial"/>
                        </a:rPr>
                        <a:t>Small LSTM</a:t>
                      </a:r>
                    </a:p>
                  </a:txBody>
                  <a:tcPr marL="91440" marR="91440" marT="45720" marB="45720">
                    <a:solidFill>
                      <a:srgbClr val="FFFFFF"/>
                    </a:solidFill>
                  </a:tcPr>
                </a:tc>
                <a:tc>
                  <a:txBody>
                    <a:bodyPr/>
                    <a:lstStyle/>
                    <a:p>
                      <a:r>
                        <a:rPr sz="2025" b="0">
                          <a:solidFill>
                            <a:srgbClr val="173B40"/>
                          </a:solidFill>
                          <a:latin typeface="Arial"/>
                          <a:ea typeface="Arial"/>
                          <a:cs typeface="Arial"/>
                        </a:rPr>
                        <a:t>5.411</a:t>
                      </a:r>
                    </a:p>
                  </a:txBody>
                  <a:tcPr marL="91440" marR="91440" marT="45720" marB="45720">
                    <a:solidFill>
                      <a:srgbClr val="FFFFFF"/>
                    </a:solidFill>
                  </a:tcPr>
                </a:tc>
                <a:tc>
                  <a:txBody>
                    <a:bodyPr/>
                    <a:lstStyle/>
                    <a:p>
                      <a:r>
                        <a:rPr sz="2025" b="0">
                          <a:solidFill>
                            <a:srgbClr val="173B40"/>
                          </a:solidFill>
                          <a:latin typeface="Arial"/>
                          <a:ea typeface="Arial"/>
                          <a:cs typeface="Arial"/>
                        </a:rPr>
                        <a:t>7.261</a:t>
                      </a:r>
                    </a:p>
                  </a:txBody>
                  <a:tcPr marL="91440" marR="91440" marT="45720" marB="45720">
                    <a:solidFill>
                      <a:srgbClr val="FFFFFF"/>
                    </a:solidFill>
                  </a:tcPr>
                </a:tc>
                <a:tc>
                  <a:txBody>
                    <a:bodyPr/>
                    <a:lstStyle/>
                    <a:p>
                      <a:r>
                        <a:rPr sz="2025" b="0">
                          <a:solidFill>
                            <a:srgbClr val="173B40"/>
                          </a:solidFill>
                          <a:latin typeface="Arial"/>
                          <a:ea typeface="Arial"/>
                          <a:cs typeface="Arial"/>
                        </a:rPr>
                        <a:t>17.343</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A50313E-BB08-4CC8-87DE-80C61DFD671E}"/>
              </a:ext>
            </a:extLst>
          </p:cNvPr>
          <p:cNvSpPr>
            <a:spLocks xmlns:a="http://schemas.openxmlformats.org/drawingml/2006/main" noGrp="1"/>
          </p:cNvSpPr>
          <p:nvPr/>
        </p:nvSpPr>
        <p:spPr>
          <a:xfrm xmlns:a="http://schemas.openxmlformats.org/drawingml/2006/main">
            <a:off x="647700" y="5095875"/>
            <a:ext cx="10896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3B40"/>
                </a:solidFill>
                <a:latin typeface="Arial"/>
                <a:ea typeface="Arial"/>
                <a:cs typeface="Arial"/>
              </a:defRPr>
            </a:defPPr>
          </a:lstStyle>
          <a:p xmlns:a="http://schemas.openxmlformats.org/drawingml/2006/main">
            <a:pPr>
              <a:defRPr sz="2175" b="0">
                <a:solidFill>
                  <a:srgbClr val="173B40"/>
                </a:solidFill>
                <a:latin typeface="Arial"/>
                <a:ea typeface="Arial"/>
                <a:cs typeface="Arial"/>
              </a:defRPr>
            </a:pPr>
            <a:r>
              <a:rPr sz="2175" b="0">
                <a:solidFill>
                  <a:srgbClr val="173B40"/>
                </a:solidFill>
                <a:latin typeface="Arial"/>
                <a:ea typeface="Arial"/>
                <a:cs typeface="Arial"/>
              </a:rPr>
              <a:t>Random forest lowers daily MAE by about 23.3%.</a:t>
            </a:r>
          </a:p>
          <a:p xmlns:a="http://schemas.openxmlformats.org/drawingml/2006/main">
            <a:pPr>
              <a:defRPr sz="2175" b="0">
                <a:solidFill>
                  <a:srgbClr val="173B40"/>
                </a:solidFill>
                <a:latin typeface="Arial"/>
                <a:ea typeface="Arial"/>
                <a:cs typeface="Arial"/>
              </a:defRPr>
            </a:pPr>
            <a:r>
              <a:rPr sz="2175" b="0">
                <a:solidFill>
                  <a:srgbClr val="173B40"/>
                </a:solidFill>
                <a:latin typeface="Arial"/>
                <a:ea typeface="Arial"/>
                <a:cs typeface="Arial"/>
              </a:rPr>
              <a:t>LSTM has the lowest overall weekly-total error.</a:t>
            </a:r>
          </a:p>
        </p:txBody>
      </p:sp>
    </p:spTree>
    <p:extLst>
      <p:ext uri="{BB962C8B-B14F-4D97-AF65-F5344CB8AC3E}">
        <p14:creationId xmlns:p14="http://schemas.microsoft.com/office/powerpoint/2010/main" val="1682980813"/>
      </p:ext>
    </p:extLst>
  </p:cSld>
</p:sld>
</file>

<file path=ppt/slides/slide9.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3CD0F2B-1101-4FE2-82A3-F5425C814AEF}"/>
              </a:ext>
            </a:extLst>
          </p:cNvPr>
          <p:cNvSpPr>
            <a:spLocks xmlns:a="http://schemas.openxmlformats.org/drawingml/2006/main" noGrp="1"/>
          </p:cNvSpPr>
          <p:nvPr/>
        </p:nvSpPr>
        <p:spPr>
          <a:xfrm xmlns:a="http://schemas.openxmlformats.org/drawingml/2006/main">
            <a:off x="647700" y="476250"/>
            <a:ext cx="10896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B40"/>
                </a:solidFill>
                <a:latin typeface="Arial"/>
                <a:ea typeface="Arial"/>
                <a:cs typeface="Arial"/>
              </a:defRPr>
            </a:defPPr>
          </a:lstStyle>
          <a:p xmlns:a="http://schemas.openxmlformats.org/drawingml/2006/main">
            <a:pPr>
              <a:defRPr sz="3300" b="1">
                <a:solidFill>
                  <a:srgbClr val="173B40"/>
                </a:solidFill>
                <a:latin typeface="Arial"/>
                <a:ea typeface="Arial"/>
                <a:cs typeface="Arial"/>
              </a:defRPr>
            </a:pPr>
            <a:r>
              <a:rPr sz="3300" b="1">
                <a:solidFill>
                  <a:srgbClr val="173B40"/>
                </a:solidFill>
                <a:latin typeface="Arial"/>
                <a:ea typeface="Arial"/>
                <a:cs typeface="Arial"/>
              </a:rPr>
              <a:t>The small LSTM experiment</a:t>
            </a:r>
          </a:p>
        </p:txBody>
      </p:sp>
      <p:sp>
        <p:nvSpPr>
          <p:cNvPr id="2" name="">
            <a:extLst xmlns:a="http://schemas.openxmlformats.org/drawingml/2006/main">
              <a:ext uri="{FF2B5EF4-FFF2-40B4-BE49-F238E27FC236}">
                <a16:creationId xmlns:a16="http://schemas.microsoft.com/office/drawing/2014/main" id="{E80D3959-F002-4C60-8124-A4FDE56D1367}"/>
              </a:ext>
            </a:extLst>
          </p:cNvPr>
          <p:cNvSpPr>
            <a:spLocks xmlns:a="http://schemas.openxmlformats.org/drawingml/2006/main" noGrp="1"/>
          </p:cNvSpPr>
          <p:nvPr/>
        </p:nvSpPr>
        <p:spPr>
          <a:xfrm xmlns:a="http://schemas.openxmlformats.org/drawingml/2006/main">
            <a:off x="647700" y="1905000"/>
            <a:ext cx="108966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3B40"/>
                </a:solidFill>
                <a:latin typeface="Arial"/>
                <a:ea typeface="Arial"/>
                <a:cs typeface="Arial"/>
              </a:defRPr>
            </a:defPPr>
          </a:lstStyle>
          <a:p xmlns:a="http://schemas.openxmlformats.org/drawingml/2006/main">
            <a:pPr>
              <a:defRPr sz="2250" b="0">
                <a:solidFill>
                  <a:srgbClr val="173B40"/>
                </a:solidFill>
                <a:latin typeface="Arial"/>
                <a:ea typeface="Arial"/>
                <a:cs typeface="Arial"/>
              </a:defRPr>
            </a:pPr>
            <a:r>
              <a:rPr sz="2250" b="0">
                <a:solidFill>
                  <a:srgbClr val="173B40"/>
                </a:solidFill>
                <a:latin typeface="Arial"/>
                <a:ea typeface="Arial"/>
                <a:cs typeface="Arial"/>
              </a:rPr>
              <a:t>28 sales inputs, 16 LSTM units, seven outputs</a:t>
            </a:r>
          </a:p>
          <a:p xmlns:a="http://schemas.openxmlformats.org/drawingml/2006/main">
            <a:r>
              <a:t/>
            </a:r>
          </a:p>
          <a:p xmlns:a="http://schemas.openxmlformats.org/drawingml/2006/main">
            <a:pPr>
              <a:defRPr sz="2250" b="0">
                <a:solidFill>
                  <a:srgbClr val="173B40"/>
                </a:solidFill>
                <a:latin typeface="Arial"/>
                <a:ea typeface="Arial"/>
                <a:cs typeface="Arial"/>
              </a:defRPr>
            </a:pPr>
            <a:r>
              <a:rPr sz="2250" b="0">
                <a:solidFill>
                  <a:srgbClr val="173B40"/>
                </a:solidFill>
                <a:latin typeface="Arial"/>
                <a:ea typeface="Arial"/>
                <a:cs typeface="Arial"/>
              </a:rPr>
              <a:t>1,271 trainable parameters per item</a:t>
            </a:r>
          </a:p>
          <a:p xmlns:a="http://schemas.openxmlformats.org/drawingml/2006/main">
            <a:r>
              <a:t/>
            </a:r>
          </a:p>
          <a:p xmlns:a="http://schemas.openxmlformats.org/drawingml/2006/main">
            <a:pPr>
              <a:defRPr sz="2250" b="0">
                <a:solidFill>
                  <a:srgbClr val="173B40"/>
                </a:solidFill>
                <a:latin typeface="Arial"/>
                <a:ea typeface="Arial"/>
                <a:cs typeface="Arial"/>
              </a:defRPr>
            </a:pPr>
            <a:r>
              <a:rPr sz="2250" b="0">
                <a:solidFill>
                  <a:srgbClr val="173B40"/>
                </a:solidFill>
                <a:latin typeface="Arial"/>
                <a:ea typeface="Arial"/>
                <a:cs typeface="Arial"/>
              </a:rPr>
              <a:t>Training-only scaling and validation early stopping</a:t>
            </a:r>
          </a:p>
          <a:p xmlns:a="http://schemas.openxmlformats.org/drawingml/2006/main">
            <a:r>
              <a:t/>
            </a:r>
          </a:p>
          <a:p xmlns:a="http://schemas.openxmlformats.org/drawingml/2006/main">
            <a:pPr>
              <a:defRPr sz="2250" b="0">
                <a:solidFill>
                  <a:srgbClr val="173B40"/>
                </a:solidFill>
                <a:latin typeface="Arial"/>
                <a:ea typeface="Arial"/>
                <a:cs typeface="Arial"/>
              </a:defRPr>
            </a:pPr>
            <a:r>
              <a:rPr sz="2250" b="0">
                <a:solidFill>
                  <a:srgbClr val="173B40"/>
                </a:solidFill>
                <a:latin typeface="Arial"/>
                <a:ea typeface="Arial"/>
                <a:cs typeface="Arial"/>
              </a:rPr>
              <a:t>Frozen refit epochs: 39, 50, 12, 50 and 21</a:t>
            </a:r>
          </a:p>
        </p:txBody>
      </p:sp>
      <p:sp>
        <p:nvSpPr>
          <p:cNvPr id="3" name="">
            <a:extLst xmlns:a="http://schemas.openxmlformats.org/drawingml/2006/main">
              <a:ext uri="{FF2B5EF4-FFF2-40B4-BE49-F238E27FC236}">
                <a16:creationId xmlns:a16="http://schemas.microsoft.com/office/drawing/2014/main" id="{8D3EA20F-663D-4880-AB8E-A812B3902820}"/>
              </a:ext>
            </a:extLst>
          </p:cNvPr>
          <p:cNvSpPr>
            <a:spLocks xmlns:a="http://schemas.openxmlformats.org/drawingml/2006/main" noGrp="1"/>
          </p:cNvSpPr>
          <p:nvPr/>
        </p:nvSpPr>
        <p:spPr>
          <a:xfrm xmlns:a="http://schemas.openxmlformats.org/drawingml/2006/main">
            <a:off x="1104900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173B40"/>
                </a:solidFill>
                <a:latin typeface="Arial"/>
                <a:ea typeface="Arial"/>
                <a:cs typeface="Arial"/>
              </a:defRPr>
            </a:defPPr>
          </a:lstStyle>
          <a:p xmlns:a="http://schemas.openxmlformats.org/drawingml/2006/main">
            <a:pPr>
              <a:defRPr sz="1275" b="0">
                <a:solidFill>
                  <a:srgbClr val="173B40"/>
                </a:solidFill>
                <a:latin typeface="Arial"/>
                <a:ea typeface="Arial"/>
                <a:cs typeface="Arial"/>
              </a:defRPr>
            </a:pPr>
            <a:r>
              <a:rPr sz="1275" b="0">
                <a:solidFill>
                  <a:srgbClr val="173B40"/>
                </a:solidFill>
                <a:latin typeface="Arial"/>
                <a:ea typeface="Arial"/>
                <a:cs typeface="Arial"/>
              </a:rPr>
              <a:t>9</a:t>
            </a:r>
          </a:p>
        </p:txBody>
      </p:sp>
    </p:spTree>
    <p:extLst>
      <p:ext uri="{BB962C8B-B14F-4D97-AF65-F5344CB8AC3E}">
        <p14:creationId xmlns:p14="http://schemas.microsoft.com/office/powerpoint/2010/main" val="730670262"/>
      </p:ext>
    </p:extLst>
  </p:cSld>
</p:sld>
</file>

<file path=ppt/slides/slide10.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3990D25-C168-4F34-A41F-2045D0DAB499}"/>
              </a:ext>
            </a:extLst>
          </p:cNvPr>
          <p:cNvSpPr>
            <a:spLocks xmlns:a="http://schemas.openxmlformats.org/drawingml/2006/main" noGrp="1"/>
          </p:cNvSpPr>
          <p:nvPr/>
        </p:nvSpPr>
        <p:spPr>
          <a:xfrm xmlns:a="http://schemas.openxmlformats.org/drawingml/2006/main">
            <a:off x="647700" y="476250"/>
            <a:ext cx="10896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B40"/>
                </a:solidFill>
                <a:latin typeface="Arial"/>
                <a:ea typeface="Arial"/>
                <a:cs typeface="Arial"/>
              </a:defRPr>
            </a:defPPr>
          </a:lstStyle>
          <a:p xmlns:a="http://schemas.openxmlformats.org/drawingml/2006/main">
            <a:pPr>
              <a:defRPr sz="3300" b="1">
                <a:solidFill>
                  <a:srgbClr val="173B40"/>
                </a:solidFill>
                <a:latin typeface="Arial"/>
                <a:ea typeface="Arial"/>
                <a:cs typeface="Arial"/>
              </a:defRPr>
            </a:pPr>
            <a:r>
              <a:rPr sz="3300" b="1">
                <a:solidFill>
                  <a:srgbClr val="173B40"/>
                </a:solidFill>
                <a:latin typeface="Arial"/>
                <a:ea typeface="Arial"/>
                <a:cs typeface="Arial"/>
              </a:rPr>
              <a:t>Stock planning</a:t>
            </a:r>
          </a:p>
        </p:txBody>
      </p:sp>
      <p:sp>
        <p:nvSpPr>
          <p:cNvPr id="2" name="">
            <a:extLst xmlns:a="http://schemas.openxmlformats.org/drawingml/2006/main">
              <a:ext uri="{FF2B5EF4-FFF2-40B4-BE49-F238E27FC236}">
                <a16:creationId xmlns:a16="http://schemas.microsoft.com/office/drawing/2014/main" id="{E27837DB-75DE-4F82-BC33-BED6B827BA3A}"/>
              </a:ext>
            </a:extLst>
          </p:cNvPr>
          <p:cNvSpPr>
            <a:spLocks xmlns:a="http://schemas.openxmlformats.org/drawingml/2006/main" noGrp="1"/>
          </p:cNvSpPr>
          <p:nvPr/>
        </p:nvSpPr>
        <p:spPr>
          <a:xfrm xmlns:a="http://schemas.openxmlformats.org/drawingml/2006/main">
            <a:off x="647700" y="1905000"/>
            <a:ext cx="108966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3B40"/>
                </a:solidFill>
                <a:latin typeface="Arial"/>
                <a:ea typeface="Arial"/>
                <a:cs typeface="Arial"/>
              </a:defRPr>
            </a:defPPr>
          </a:lstStyle>
          <a:p xmlns:a="http://schemas.openxmlformats.org/drawingml/2006/main">
            <a:pPr>
              <a:defRPr sz="2250" b="0">
                <a:solidFill>
                  <a:srgbClr val="173B40"/>
                </a:solidFill>
                <a:latin typeface="Arial"/>
                <a:ea typeface="Arial"/>
                <a:cs typeface="Arial"/>
              </a:defRPr>
            </a:pPr>
            <a:r>
              <a:rPr sz="2250" b="0">
                <a:solidFill>
                  <a:srgbClr val="173B40"/>
                </a:solidFill>
                <a:latin typeface="Arial"/>
                <a:ea typeface="Arial"/>
                <a:cs typeface="Arial"/>
              </a:rPr>
              <a:t>Coverage = lead time + review interval, up to seven days</a:t>
            </a:r>
          </a:p>
          <a:p xmlns:a="http://schemas.openxmlformats.org/drawingml/2006/main">
            <a:r>
              <a:t/>
            </a:r>
          </a:p>
          <a:p xmlns:a="http://schemas.openxmlformats.org/drawingml/2006/main">
            <a:pPr>
              <a:defRPr sz="2250" b="0">
                <a:solidFill>
                  <a:srgbClr val="173B40"/>
                </a:solidFill>
                <a:latin typeface="Arial"/>
                <a:ea typeface="Arial"/>
                <a:cs typeface="Arial"/>
              </a:defRPr>
            </a:pPr>
            <a:r>
              <a:rPr sz="2250" b="0">
                <a:solidFill>
                  <a:srgbClr val="173B40"/>
                </a:solidFill>
                <a:latin typeface="Arial"/>
                <a:ea typeface="Arial"/>
                <a:cs typeface="Arial"/>
              </a:rPr>
              <a:t>Target = forecast over coverage + buffer</a:t>
            </a:r>
          </a:p>
          <a:p xmlns:a="http://schemas.openxmlformats.org/drawingml/2006/main">
            <a:r>
              <a:t/>
            </a:r>
          </a:p>
          <a:p xmlns:a="http://schemas.openxmlformats.org/drawingml/2006/main">
            <a:pPr>
              <a:defRPr sz="2250" b="0">
                <a:solidFill>
                  <a:srgbClr val="173B40"/>
                </a:solidFill>
                <a:latin typeface="Arial"/>
                <a:ea typeface="Arial"/>
                <a:cs typeface="Arial"/>
              </a:defRPr>
            </a:pPr>
            <a:r>
              <a:rPr sz="2250" b="0">
                <a:solidFill>
                  <a:srgbClr val="173B40"/>
                </a:solidFill>
                <a:latin typeface="Arial"/>
                <a:ea typeface="Arial"/>
                <a:cs typeface="Arial"/>
              </a:rPr>
              <a:t>Order = round upwards max(0, target - stock - outstanding)</a:t>
            </a:r>
          </a:p>
          <a:p xmlns:a="http://schemas.openxmlformats.org/drawingml/2006/main">
            <a:r>
              <a:t/>
            </a:r>
          </a:p>
          <a:p xmlns:a="http://schemas.openxmlformats.org/drawingml/2006/main">
            <a:pPr>
              <a:defRPr sz="2250" b="0">
                <a:solidFill>
                  <a:srgbClr val="173B40"/>
                </a:solidFill>
                <a:latin typeface="Arial"/>
                <a:ea typeface="Arial"/>
                <a:cs typeface="Arial"/>
              </a:defRPr>
            </a:pPr>
            <a:r>
              <a:rPr sz="2250" b="0">
                <a:solidFill>
                  <a:srgbClr val="173B40"/>
                </a:solidFill>
                <a:latin typeface="Arial"/>
                <a:ea typeface="Arial"/>
                <a:cs typeface="Arial"/>
              </a:rPr>
              <a:t>A shortage warning checks sales before delivery.</a:t>
            </a:r>
          </a:p>
        </p:txBody>
      </p:sp>
      <p:sp>
        <p:nvSpPr>
          <p:cNvPr id="3" name="">
            <a:extLst xmlns:a="http://schemas.openxmlformats.org/drawingml/2006/main">
              <a:ext uri="{FF2B5EF4-FFF2-40B4-BE49-F238E27FC236}">
                <a16:creationId xmlns:a16="http://schemas.microsoft.com/office/drawing/2014/main" id="{C16B924A-F1FE-4CA0-9166-A90B7304CA8A}"/>
              </a:ext>
            </a:extLst>
          </p:cNvPr>
          <p:cNvSpPr>
            <a:spLocks xmlns:a="http://schemas.openxmlformats.org/drawingml/2006/main" noGrp="1"/>
          </p:cNvSpPr>
          <p:nvPr/>
        </p:nvSpPr>
        <p:spPr>
          <a:xfrm xmlns:a="http://schemas.openxmlformats.org/drawingml/2006/main">
            <a:off x="1104900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173B40"/>
                </a:solidFill>
                <a:latin typeface="Arial"/>
                <a:ea typeface="Arial"/>
                <a:cs typeface="Arial"/>
              </a:defRPr>
            </a:defPPr>
          </a:lstStyle>
          <a:p xmlns:a="http://schemas.openxmlformats.org/drawingml/2006/main">
            <a:pPr>
              <a:defRPr sz="1275" b="0">
                <a:solidFill>
                  <a:srgbClr val="173B40"/>
                </a:solidFill>
                <a:latin typeface="Arial"/>
                <a:ea typeface="Arial"/>
                <a:cs typeface="Arial"/>
              </a:defRPr>
            </a:pPr>
            <a:r>
              <a:rPr sz="1275" b="0">
                <a:solidFill>
                  <a:srgbClr val="173B40"/>
                </a:solidFill>
                <a:latin typeface="Arial"/>
                <a:ea typeface="Arial"/>
                <a:cs typeface="Arial"/>
              </a:rPr>
              <a:t>10</a:t>
            </a:r>
          </a:p>
        </p:txBody>
      </p:sp>
    </p:spTree>
    <p:extLst>
      <p:ext uri="{BB962C8B-B14F-4D97-AF65-F5344CB8AC3E}">
        <p14:creationId xmlns:p14="http://schemas.microsoft.com/office/powerpoint/2010/main" val="128354192"/>
      </p:ext>
    </p:extLst>
  </p:cSld>
</p:sld>
</file>

<file path=ppt/slides/slide11.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3EF0539-71B0-4EC7-AEB2-AD3BD466AD2E}"/>
              </a:ext>
            </a:extLst>
          </p:cNvPr>
          <p:cNvSpPr>
            <a:spLocks xmlns:a="http://schemas.openxmlformats.org/drawingml/2006/main" noGrp="1"/>
          </p:cNvSpPr>
          <p:nvPr/>
        </p:nvSpPr>
        <p:spPr>
          <a:xfrm xmlns:a="http://schemas.openxmlformats.org/drawingml/2006/main">
            <a:off x="647700" y="476250"/>
            <a:ext cx="10896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B40"/>
                </a:solidFill>
                <a:latin typeface="Arial"/>
                <a:ea typeface="Arial"/>
                <a:cs typeface="Arial"/>
              </a:defRPr>
            </a:defPPr>
          </a:lstStyle>
          <a:p xmlns:a="http://schemas.openxmlformats.org/drawingml/2006/main">
            <a:pPr>
              <a:defRPr sz="3300" b="1">
                <a:solidFill>
                  <a:srgbClr val="173B40"/>
                </a:solidFill>
                <a:latin typeface="Arial"/>
                <a:ea typeface="Arial"/>
                <a:cs typeface="Arial"/>
              </a:defRPr>
            </a:pPr>
            <a:r>
              <a:rPr sz="3300" b="1">
                <a:solidFill>
                  <a:srgbClr val="173B40"/>
                </a:solidFill>
                <a:latin typeface="Arial"/>
                <a:ea typeface="Arial"/>
                <a:cs typeface="Arial"/>
              </a:rPr>
              <a:t>NLP and the text assistant</a:t>
            </a:r>
          </a:p>
        </p:txBody>
      </p:sp>
      <p:sp>
        <p:nvSpPr>
          <p:cNvPr id="2" name="">
            <a:extLst xmlns:a="http://schemas.openxmlformats.org/drawingml/2006/main">
              <a:ext uri="{FF2B5EF4-FFF2-40B4-BE49-F238E27FC236}">
                <a16:creationId xmlns:a16="http://schemas.microsoft.com/office/drawing/2014/main" id="{A4B30E47-40CB-419F-A365-AA466BFEA69B}"/>
              </a:ext>
            </a:extLst>
          </p:cNvPr>
          <p:cNvSpPr>
            <a:spLocks xmlns:a="http://schemas.openxmlformats.org/drawingml/2006/main" noGrp="1"/>
          </p:cNvSpPr>
          <p:nvPr/>
        </p:nvSpPr>
        <p:spPr>
          <a:xfrm xmlns:a="http://schemas.openxmlformats.org/drawingml/2006/main">
            <a:off x="647700" y="1905000"/>
            <a:ext cx="108966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3B40"/>
                </a:solidFill>
                <a:latin typeface="Arial"/>
                <a:ea typeface="Arial"/>
                <a:cs typeface="Arial"/>
              </a:defRPr>
            </a:defPPr>
          </a:lstStyle>
          <a:p xmlns:a="http://schemas.openxmlformats.org/drawingml/2006/main">
            <a:pPr>
              <a:defRPr sz="2250" b="0">
                <a:solidFill>
                  <a:srgbClr val="173B40"/>
                </a:solidFill>
                <a:latin typeface="Arial"/>
                <a:ea typeface="Arial"/>
                <a:cs typeface="Arial"/>
              </a:defRPr>
            </a:pPr>
            <a:r>
              <a:rPr sz="2250" b="0">
                <a:solidFill>
                  <a:srgbClr val="173B40"/>
                </a:solidFill>
                <a:latin typeface="Arial"/>
                <a:ea typeface="Arial"/>
                <a:cs typeface="Arial"/>
              </a:rPr>
              <a:t>TF-IDF word features and logistic regression recognise five intents.</a:t>
            </a:r>
          </a:p>
          <a:p xmlns:a="http://schemas.openxmlformats.org/drawingml/2006/main">
            <a:r>
              <a:t/>
            </a:r>
          </a:p>
          <a:p xmlns:a="http://schemas.openxmlformats.org/drawingml/2006/main">
            <a:pPr>
              <a:defRPr sz="2250" b="0">
                <a:solidFill>
                  <a:srgbClr val="173B40"/>
                </a:solidFill>
                <a:latin typeface="Arial"/>
                <a:ea typeface="Arial"/>
                <a:cs typeface="Arial"/>
              </a:defRPr>
            </a:pPr>
            <a:r>
              <a:rPr sz="2250" b="0">
                <a:solidFill>
                  <a:srgbClr val="173B40"/>
                </a:solidFill>
                <a:latin typeface="Arial"/>
                <a:ea typeface="Arial"/>
                <a:cs typeface="Arial"/>
              </a:rPr>
              <a:t>Templates retrieve the same forecast and stock objects shown on screen.</a:t>
            </a:r>
          </a:p>
          <a:p xmlns:a="http://schemas.openxmlformats.org/drawingml/2006/main">
            <a:r>
              <a:t/>
            </a:r>
          </a:p>
          <a:p xmlns:a="http://schemas.openxmlformats.org/drawingml/2006/main">
            <a:pPr>
              <a:defRPr sz="2250" b="0">
                <a:solidFill>
                  <a:srgbClr val="173B40"/>
                </a:solidFill>
                <a:latin typeface="Arial"/>
                <a:ea typeface="Arial"/>
                <a:cs typeface="Arial"/>
              </a:defRPr>
            </a:pPr>
            <a:r>
              <a:rPr sz="2250" b="0">
                <a:solidFill>
                  <a:srgbClr val="173B40"/>
                </a:solidFill>
                <a:latin typeface="Arial"/>
                <a:ea typeface="Arial"/>
                <a:cs typeface="Arial"/>
              </a:rPr>
              <a:t>Fresh check: 24/25 supported requests, 8/8 unrelated requests rejected.</a:t>
            </a:r>
          </a:p>
        </p:txBody>
      </p:sp>
      <p:sp>
        <p:nvSpPr>
          <p:cNvPr id="3" name="">
            <a:extLst xmlns:a="http://schemas.openxmlformats.org/drawingml/2006/main">
              <a:ext uri="{FF2B5EF4-FFF2-40B4-BE49-F238E27FC236}">
                <a16:creationId xmlns:a16="http://schemas.microsoft.com/office/drawing/2014/main" id="{99EAA22C-EF70-4DBA-A298-EEC523266D3E}"/>
              </a:ext>
            </a:extLst>
          </p:cNvPr>
          <p:cNvSpPr>
            <a:spLocks xmlns:a="http://schemas.openxmlformats.org/drawingml/2006/main" noGrp="1"/>
          </p:cNvSpPr>
          <p:nvPr/>
        </p:nvSpPr>
        <p:spPr>
          <a:xfrm xmlns:a="http://schemas.openxmlformats.org/drawingml/2006/main">
            <a:off x="1104900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173B40"/>
                </a:solidFill>
                <a:latin typeface="Arial"/>
                <a:ea typeface="Arial"/>
                <a:cs typeface="Arial"/>
              </a:defRPr>
            </a:defPPr>
          </a:lstStyle>
          <a:p xmlns:a="http://schemas.openxmlformats.org/drawingml/2006/main">
            <a:pPr>
              <a:defRPr sz="1275" b="0">
                <a:solidFill>
                  <a:srgbClr val="173B40"/>
                </a:solidFill>
                <a:latin typeface="Arial"/>
                <a:ea typeface="Arial"/>
                <a:cs typeface="Arial"/>
              </a:defRPr>
            </a:pPr>
            <a:r>
              <a:rPr sz="1275" b="0">
                <a:solidFill>
                  <a:srgbClr val="173B40"/>
                </a:solidFill>
                <a:latin typeface="Arial"/>
                <a:ea typeface="Arial"/>
                <a:cs typeface="Arial"/>
              </a:rPr>
              <a:t>11</a:t>
            </a:r>
          </a:p>
        </p:txBody>
      </p:sp>
    </p:spTree>
    <p:extLst>
      <p:ext uri="{BB962C8B-B14F-4D97-AF65-F5344CB8AC3E}">
        <p14:creationId xmlns:p14="http://schemas.microsoft.com/office/powerpoint/2010/main" val="678447368"/>
      </p:ext>
    </p:extLst>
  </p:cSld>
</p:sld>
</file>

<file path=ppt/slides/slide12.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B878B2D-66CA-43A0-8887-00EF732BB52F}"/>
              </a:ext>
            </a:extLst>
          </p:cNvPr>
          <p:cNvSpPr>
            <a:spLocks xmlns:a="http://schemas.openxmlformats.org/drawingml/2006/main" noGrp="1"/>
          </p:cNvSpPr>
          <p:nvPr/>
        </p:nvSpPr>
        <p:spPr>
          <a:xfrm xmlns:a="http://schemas.openxmlformats.org/drawingml/2006/main">
            <a:off x="647700" y="476250"/>
            <a:ext cx="10896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B40"/>
                </a:solidFill>
                <a:latin typeface="Arial"/>
                <a:ea typeface="Arial"/>
                <a:cs typeface="Arial"/>
              </a:defRPr>
            </a:defPPr>
          </a:lstStyle>
          <a:p xmlns:a="http://schemas.openxmlformats.org/drawingml/2006/main">
            <a:pPr>
              <a:defRPr sz="3300" b="1">
                <a:solidFill>
                  <a:srgbClr val="173B40"/>
                </a:solidFill>
                <a:latin typeface="Arial"/>
                <a:ea typeface="Arial"/>
                <a:cs typeface="Arial"/>
              </a:defRPr>
            </a:pPr>
            <a:r>
              <a:rPr sz="3300" b="1">
                <a:solidFill>
                  <a:srgbClr val="173B40"/>
                </a:solidFill>
                <a:latin typeface="Arial"/>
                <a:ea typeface="Arial"/>
                <a:cs typeface="Arial"/>
              </a:rPr>
              <a:t>Personal PC verification</a:t>
            </a:r>
          </a:p>
        </p:txBody>
      </p:sp>
      <p:sp>
        <p:nvSpPr>
          <p:cNvPr id="2" name="">
            <a:extLst xmlns:a="http://schemas.openxmlformats.org/drawingml/2006/main">
              <a:ext uri="{FF2B5EF4-FFF2-40B4-BE49-F238E27FC236}">
                <a16:creationId xmlns:a16="http://schemas.microsoft.com/office/drawing/2014/main" id="{F3447C8B-616C-47E1-852C-AF1B9E2CF561}"/>
              </a:ext>
            </a:extLst>
          </p:cNvPr>
          <p:cNvSpPr>
            <a:spLocks xmlns:a="http://schemas.openxmlformats.org/drawingml/2006/main" noGrp="1"/>
          </p:cNvSpPr>
          <p:nvPr/>
        </p:nvSpPr>
        <p:spPr>
          <a:xfrm xmlns:a="http://schemas.openxmlformats.org/drawingml/2006/main">
            <a:off x="647700" y="1905000"/>
            <a:ext cx="108966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3B40"/>
                </a:solidFill>
                <a:latin typeface="Arial"/>
                <a:ea typeface="Arial"/>
                <a:cs typeface="Arial"/>
              </a:defRPr>
            </a:defPPr>
          </a:lstStyle>
          <a:p xmlns:a="http://schemas.openxmlformats.org/drawingml/2006/main">
            <a:pPr>
              <a:defRPr sz="2250" b="0">
                <a:solidFill>
                  <a:srgbClr val="173B40"/>
                </a:solidFill>
                <a:latin typeface="Arial"/>
                <a:ea typeface="Arial"/>
                <a:cs typeface="Arial"/>
              </a:defRPr>
            </a:pPr>
            <a:r>
              <a:rPr sz="2250" b="0">
                <a:solidFill>
                  <a:srgbClr val="173B40"/>
                </a:solidFill>
                <a:latin typeface="Arial"/>
                <a:ea typeface="Arial"/>
                <a:cs typeface="Arial"/>
              </a:rPr>
              <a:t>45 automated tests passed with no skips</a:t>
            </a:r>
          </a:p>
          <a:p xmlns:a="http://schemas.openxmlformats.org/drawingml/2006/main">
            <a:r>
              <a:t/>
            </a:r>
          </a:p>
          <a:p xmlns:a="http://schemas.openxmlformats.org/drawingml/2006/main">
            <a:pPr>
              <a:defRPr sz="2250" b="0">
                <a:solidFill>
                  <a:srgbClr val="173B40"/>
                </a:solidFill>
                <a:latin typeface="Arial"/>
                <a:ea typeface="Arial"/>
                <a:cs typeface="Arial"/>
              </a:defRPr>
            </a:pPr>
            <a:r>
              <a:rPr sz="2250" b="0">
                <a:solidFill>
                  <a:srgbClr val="173B40"/>
                </a:solidFill>
                <a:latin typeface="Arial"/>
                <a:ea typeface="Arial"/>
                <a:cs typeface="Arial"/>
              </a:rPr>
              <a:t>All five items, stock rules and assistant consistency checked</a:t>
            </a:r>
          </a:p>
          <a:p xmlns:a="http://schemas.openxmlformats.org/drawingml/2006/main">
            <a:r>
              <a:t/>
            </a:r>
          </a:p>
          <a:p xmlns:a="http://schemas.openxmlformats.org/drawingml/2006/main">
            <a:pPr>
              <a:defRPr sz="2250" b="0">
                <a:solidFill>
                  <a:srgbClr val="173B40"/>
                </a:solidFill>
                <a:latin typeface="Arial"/>
                <a:ea typeface="Arial"/>
                <a:cs typeface="Arial"/>
              </a:defRPr>
            </a:pPr>
            <a:r>
              <a:rPr sz="2250" b="0">
                <a:solidFill>
                  <a:srgbClr val="173B40"/>
                </a:solidFill>
                <a:latin typeface="Arial"/>
                <a:ea typeface="Arial"/>
                <a:cs typeface="Arial"/>
              </a:rPr>
              <a:t>AppTest initial render 7.29 seconds</a:t>
            </a:r>
          </a:p>
          <a:p xmlns:a="http://schemas.openxmlformats.org/drawingml/2006/main">
            <a:pPr>
              <a:defRPr sz="2250" b="0">
                <a:solidFill>
                  <a:srgbClr val="173B40"/>
                </a:solidFill>
                <a:latin typeface="Arial"/>
                <a:ea typeface="Arial"/>
                <a:cs typeface="Arial"/>
              </a:defRPr>
            </a:pPr>
            <a:r>
              <a:rPr sz="2250" b="0">
                <a:solidFill>
                  <a:srgbClr val="173B40"/>
                </a:solidFill>
                <a:latin typeface="Arial"/>
                <a:ea typeface="Arial"/>
                <a:cs typeface="Arial"/>
              </a:rPr>
              <a:t>Warm selections 0.20-0.23 seconds</a:t>
            </a:r>
          </a:p>
        </p:txBody>
      </p:sp>
      <p:sp>
        <p:nvSpPr>
          <p:cNvPr id="3" name="">
            <a:extLst xmlns:a="http://schemas.openxmlformats.org/drawingml/2006/main">
              <a:ext uri="{FF2B5EF4-FFF2-40B4-BE49-F238E27FC236}">
                <a16:creationId xmlns:a16="http://schemas.microsoft.com/office/drawing/2014/main" id="{D6CB75D6-110C-4E6A-BAF1-88416A75F102}"/>
              </a:ext>
            </a:extLst>
          </p:cNvPr>
          <p:cNvSpPr>
            <a:spLocks xmlns:a="http://schemas.openxmlformats.org/drawingml/2006/main" noGrp="1"/>
          </p:cNvSpPr>
          <p:nvPr/>
        </p:nvSpPr>
        <p:spPr>
          <a:xfrm xmlns:a="http://schemas.openxmlformats.org/drawingml/2006/main">
            <a:off x="1104900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173B40"/>
                </a:solidFill>
                <a:latin typeface="Arial"/>
                <a:ea typeface="Arial"/>
                <a:cs typeface="Arial"/>
              </a:defRPr>
            </a:defPPr>
          </a:lstStyle>
          <a:p xmlns:a="http://schemas.openxmlformats.org/drawingml/2006/main">
            <a:pPr>
              <a:defRPr sz="1275" b="0">
                <a:solidFill>
                  <a:srgbClr val="173B40"/>
                </a:solidFill>
                <a:latin typeface="Arial"/>
                <a:ea typeface="Arial"/>
                <a:cs typeface="Arial"/>
              </a:defRPr>
            </a:pPr>
            <a:r>
              <a:rPr sz="1275" b="0">
                <a:solidFill>
                  <a:srgbClr val="173B40"/>
                </a:solidFill>
                <a:latin typeface="Arial"/>
                <a:ea typeface="Arial"/>
                <a:cs typeface="Arial"/>
              </a:rPr>
              <a:t>12</a:t>
            </a:r>
          </a:p>
        </p:txBody>
      </p:sp>
    </p:spTree>
    <p:extLst>
      <p:ext uri="{BB962C8B-B14F-4D97-AF65-F5344CB8AC3E}">
        <p14:creationId xmlns:p14="http://schemas.microsoft.com/office/powerpoint/2010/main" val="1061333280"/>
      </p:ext>
    </p:extLst>
  </p:cSld>
</p:sld>
</file>

<file path=ppt/slides/slide13.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AEED81D-C753-47A8-AAA6-2900542B23F8}"/>
              </a:ext>
            </a:extLst>
          </p:cNvPr>
          <p:cNvSpPr>
            <a:spLocks xmlns:a="http://schemas.openxmlformats.org/drawingml/2006/main" noGrp="1"/>
          </p:cNvSpPr>
          <p:nvPr/>
        </p:nvSpPr>
        <p:spPr>
          <a:xfrm xmlns:a="http://schemas.openxmlformats.org/drawingml/2006/main">
            <a:off x="647700" y="476250"/>
            <a:ext cx="10896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B40"/>
                </a:solidFill>
                <a:latin typeface="Arial"/>
                <a:ea typeface="Arial"/>
                <a:cs typeface="Arial"/>
              </a:defRPr>
            </a:defPPr>
          </a:lstStyle>
          <a:p xmlns:a="http://schemas.openxmlformats.org/drawingml/2006/main">
            <a:pPr>
              <a:defRPr sz="3300" b="1">
                <a:solidFill>
                  <a:srgbClr val="173B40"/>
                </a:solidFill>
                <a:latin typeface="Arial"/>
                <a:ea typeface="Arial"/>
                <a:cs typeface="Arial"/>
              </a:defRPr>
            </a:pPr>
            <a:r>
              <a:rPr sz="3300" b="1">
                <a:solidFill>
                  <a:srgbClr val="173B40"/>
                </a:solidFill>
                <a:latin typeface="Arial"/>
                <a:ea typeface="Arial"/>
                <a:cs typeface="Arial"/>
              </a:rPr>
              <a:t>Application demonstration</a:t>
            </a:r>
          </a:p>
        </p:txBody>
      </p:sp>
      <p:sp>
        <p:nvSpPr>
          <p:cNvPr id="2" name="">
            <a:extLst xmlns:a="http://schemas.openxmlformats.org/drawingml/2006/main">
              <a:ext uri="{FF2B5EF4-FFF2-40B4-BE49-F238E27FC236}">
                <a16:creationId xmlns:a16="http://schemas.microsoft.com/office/drawing/2014/main" id="{3DEB1157-B28A-410D-84F8-13DD145EB4C6}"/>
              </a:ext>
            </a:extLst>
          </p:cNvPr>
          <p:cNvSpPr>
            <a:spLocks xmlns:a="http://schemas.openxmlformats.org/drawingml/2006/main" noGrp="1"/>
          </p:cNvSpPr>
          <p:nvPr/>
        </p:nvSpPr>
        <p:spPr>
          <a:xfrm xmlns:a="http://schemas.openxmlformats.org/drawingml/2006/main">
            <a:off x="647700" y="1905000"/>
            <a:ext cx="108966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3B40"/>
                </a:solidFill>
                <a:latin typeface="Arial"/>
                <a:ea typeface="Arial"/>
                <a:cs typeface="Arial"/>
              </a:defRPr>
            </a:defPPr>
          </a:lstStyle>
          <a:p xmlns:a="http://schemas.openxmlformats.org/drawingml/2006/main">
            <a:pPr>
              <a:defRPr sz="2250" b="0">
                <a:solidFill>
                  <a:srgbClr val="173B40"/>
                </a:solidFill>
                <a:latin typeface="Arial"/>
                <a:ea typeface="Arial"/>
                <a:cs typeface="Arial"/>
              </a:defRPr>
            </a:pPr>
            <a:r>
              <a:rPr sz="2250" b="0">
                <a:solidFill>
                  <a:srgbClr val="173B40"/>
                </a:solidFill>
                <a:latin typeface="Arial"/>
                <a:ea typeface="Arial"/>
                <a:cs typeface="Arial"/>
              </a:rPr>
              <a:t>Select an item and inspect seven dated estimates.</a:t>
            </a:r>
          </a:p>
          <a:p xmlns:a="http://schemas.openxmlformats.org/drawingml/2006/main">
            <a:r>
              <a:t/>
            </a:r>
          </a:p>
          <a:p xmlns:a="http://schemas.openxmlformats.org/drawingml/2006/main">
            <a:pPr>
              <a:defRPr sz="2250" b="0">
                <a:solidFill>
                  <a:srgbClr val="173B40"/>
                </a:solidFill>
                <a:latin typeface="Arial"/>
                <a:ea typeface="Arial"/>
                <a:cs typeface="Arial"/>
              </a:defRPr>
            </a:pPr>
            <a:r>
              <a:rPr sz="2250" b="0">
                <a:solidFill>
                  <a:srgbClr val="173B40"/>
                </a:solidFill>
                <a:latin typeface="Arial"/>
                <a:ea typeface="Arial"/>
                <a:cs typeface="Arial"/>
              </a:rPr>
              <a:t>Calculate an order, then show invalid coverage and a shortage.</a:t>
            </a:r>
          </a:p>
          <a:p xmlns:a="http://schemas.openxmlformats.org/drawingml/2006/main">
            <a:r>
              <a:t/>
            </a:r>
          </a:p>
          <a:p xmlns:a="http://schemas.openxmlformats.org/drawingml/2006/main">
            <a:pPr>
              <a:defRPr sz="2250" b="0">
                <a:solidFill>
                  <a:srgbClr val="173B40"/>
                </a:solidFill>
                <a:latin typeface="Arial"/>
                <a:ea typeface="Arial"/>
                <a:cs typeface="Arial"/>
              </a:defRPr>
            </a:pPr>
            <a:r>
              <a:rPr sz="2250" b="0">
                <a:solidFill>
                  <a:srgbClr val="173B40"/>
                </a:solidFill>
                <a:latin typeface="Arial"/>
                <a:ea typeface="Arial"/>
                <a:cs typeface="Arial"/>
              </a:rPr>
              <a:t>Ask for the forecast and open both historical evaluation tables.</a:t>
            </a:r>
          </a:p>
        </p:txBody>
      </p:sp>
      <p:sp>
        <p:nvSpPr>
          <p:cNvPr id="3" name="">
            <a:extLst xmlns:a="http://schemas.openxmlformats.org/drawingml/2006/main">
              <a:ext uri="{FF2B5EF4-FFF2-40B4-BE49-F238E27FC236}">
                <a16:creationId xmlns:a16="http://schemas.microsoft.com/office/drawing/2014/main" id="{B2AE0E33-F531-4FA1-A988-26B73977F6D3}"/>
              </a:ext>
            </a:extLst>
          </p:cNvPr>
          <p:cNvSpPr>
            <a:spLocks xmlns:a="http://schemas.openxmlformats.org/drawingml/2006/main" noGrp="1"/>
          </p:cNvSpPr>
          <p:nvPr/>
        </p:nvSpPr>
        <p:spPr>
          <a:xfrm xmlns:a="http://schemas.openxmlformats.org/drawingml/2006/main">
            <a:off x="1104900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173B40"/>
                </a:solidFill>
                <a:latin typeface="Arial"/>
                <a:ea typeface="Arial"/>
                <a:cs typeface="Arial"/>
              </a:defRPr>
            </a:defPPr>
          </a:lstStyle>
          <a:p xmlns:a="http://schemas.openxmlformats.org/drawingml/2006/main">
            <a:pPr>
              <a:defRPr sz="1275" b="0">
                <a:solidFill>
                  <a:srgbClr val="173B40"/>
                </a:solidFill>
                <a:latin typeface="Arial"/>
                <a:ea typeface="Arial"/>
                <a:cs typeface="Arial"/>
              </a:defRPr>
            </a:pPr>
            <a:r>
              <a:rPr sz="1275" b="0">
                <a:solidFill>
                  <a:srgbClr val="173B40"/>
                </a:solidFill>
                <a:latin typeface="Arial"/>
                <a:ea typeface="Arial"/>
                <a:cs typeface="Arial"/>
              </a:rPr>
              <a:t>13</a:t>
            </a:r>
          </a:p>
        </p:txBody>
      </p:sp>
    </p:spTree>
    <p:extLst>
      <p:ext uri="{BB962C8B-B14F-4D97-AF65-F5344CB8AC3E}">
        <p14:creationId xmlns:p14="http://schemas.microsoft.com/office/powerpoint/2010/main" val="218094903"/>
      </p:ext>
    </p:extLst>
  </p:cSld>
</p:sld>
</file>

<file path=ppt/slides/slide14.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1167987-0F6A-465E-91DF-06E140BE6757}"/>
              </a:ext>
            </a:extLst>
          </p:cNvPr>
          <p:cNvSpPr>
            <a:spLocks xmlns:a="http://schemas.openxmlformats.org/drawingml/2006/main" noGrp="1"/>
          </p:cNvSpPr>
          <p:nvPr/>
        </p:nvSpPr>
        <p:spPr>
          <a:xfrm xmlns:a="http://schemas.openxmlformats.org/drawingml/2006/main">
            <a:off x="647700" y="476250"/>
            <a:ext cx="10896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B40"/>
                </a:solidFill>
                <a:latin typeface="Arial"/>
                <a:ea typeface="Arial"/>
                <a:cs typeface="Arial"/>
              </a:defRPr>
            </a:defPPr>
          </a:lstStyle>
          <a:p xmlns:a="http://schemas.openxmlformats.org/drawingml/2006/main">
            <a:pPr>
              <a:defRPr sz="3300" b="1">
                <a:solidFill>
                  <a:srgbClr val="173B40"/>
                </a:solidFill>
                <a:latin typeface="Arial"/>
                <a:ea typeface="Arial"/>
                <a:cs typeface="Arial"/>
              </a:defRPr>
            </a:pPr>
            <a:r>
              <a:rPr sz="3300" b="1">
                <a:solidFill>
                  <a:srgbClr val="173B40"/>
                </a:solidFill>
                <a:latin typeface="Arial"/>
                <a:ea typeface="Arial"/>
                <a:cs typeface="Arial"/>
              </a:rPr>
              <a:t>Findings and remaining evidence</a:t>
            </a:r>
          </a:p>
        </p:txBody>
      </p:sp>
      <p:sp>
        <p:nvSpPr>
          <p:cNvPr id="2" name="">
            <a:extLst xmlns:a="http://schemas.openxmlformats.org/drawingml/2006/main">
              <a:ext uri="{FF2B5EF4-FFF2-40B4-BE49-F238E27FC236}">
                <a16:creationId xmlns:a16="http://schemas.microsoft.com/office/drawing/2014/main" id="{9E5A7B9B-C542-453B-96AB-7CFD272E3373}"/>
              </a:ext>
            </a:extLst>
          </p:cNvPr>
          <p:cNvSpPr>
            <a:spLocks xmlns:a="http://schemas.openxmlformats.org/drawingml/2006/main" noGrp="1"/>
          </p:cNvSpPr>
          <p:nvPr/>
        </p:nvSpPr>
        <p:spPr>
          <a:xfrm xmlns:a="http://schemas.openxmlformats.org/drawingml/2006/main">
            <a:off x="647700" y="1905000"/>
            <a:ext cx="108966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3B40"/>
                </a:solidFill>
                <a:latin typeface="Arial"/>
                <a:ea typeface="Arial"/>
                <a:cs typeface="Arial"/>
              </a:defRPr>
            </a:defPPr>
          </a:lstStyle>
          <a:p xmlns:a="http://schemas.openxmlformats.org/drawingml/2006/main">
            <a:pPr>
              <a:defRPr sz="2250" b="0">
                <a:solidFill>
                  <a:srgbClr val="173B40"/>
                </a:solidFill>
                <a:latin typeface="Arial"/>
                <a:ea typeface="Arial"/>
                <a:cs typeface="Arial"/>
              </a:defRPr>
            </a:pPr>
            <a:r>
              <a:rPr sz="2250" b="0">
                <a:solidFill>
                  <a:srgbClr val="173B40"/>
                </a:solidFill>
                <a:latin typeface="Arial"/>
                <a:ea typeface="Arial"/>
                <a:cs typeface="Arial"/>
              </a:rPr>
              <a:t>The local prototype works and random forest meets the daily error criterion.</a:t>
            </a:r>
          </a:p>
          <a:p xmlns:a="http://schemas.openxmlformats.org/drawingml/2006/main">
            <a:r>
              <a:t/>
            </a:r>
          </a:p>
          <a:p xmlns:a="http://schemas.openxmlformats.org/drawingml/2006/main">
            <a:pPr>
              <a:defRPr sz="2250" b="0">
                <a:solidFill>
                  <a:srgbClr val="173B40"/>
                </a:solidFill>
                <a:latin typeface="Arial"/>
                <a:ea typeface="Arial"/>
                <a:cs typeface="Arial"/>
              </a:defRPr>
            </a:pPr>
            <a:r>
              <a:rPr sz="2250" b="0">
                <a:solidFill>
                  <a:srgbClr val="173B40"/>
                </a:solidFill>
                <a:latin typeface="Arial"/>
                <a:ea typeface="Arial"/>
                <a:cs typeface="Arial"/>
              </a:rPr>
              <a:t>LSTM shows a weekly-total trade-off worth investigating.</a:t>
            </a:r>
          </a:p>
          <a:p xmlns:a="http://schemas.openxmlformats.org/drawingml/2006/main">
            <a:r>
              <a:t/>
            </a:r>
          </a:p>
          <a:p xmlns:a="http://schemas.openxmlformats.org/drawingml/2006/main">
            <a:pPr>
              <a:defRPr sz="2250" b="0">
                <a:solidFill>
                  <a:srgbClr val="173B40"/>
                </a:solidFill>
                <a:latin typeface="Arial"/>
                <a:ea typeface="Arial"/>
                <a:cs typeface="Arial"/>
              </a:defRPr>
            </a:pPr>
            <a:r>
              <a:rPr sz="2250" b="0">
                <a:solidFill>
                  <a:srgbClr val="173B40"/>
                </a:solidFill>
                <a:latin typeface="Arial"/>
                <a:ea typeface="Arial"/>
                <a:cs typeface="Arial"/>
              </a:rPr>
              <a:t>Human review, signed declarations and Grammarly evidence remain.</a:t>
            </a:r>
          </a:p>
          <a:p xmlns:a="http://schemas.openxmlformats.org/drawingml/2006/main">
            <a:r>
              <a:t/>
            </a:r>
          </a:p>
          <a:p xmlns:a="http://schemas.openxmlformats.org/drawingml/2006/main">
            <a:pPr>
              <a:defRPr sz="2250" b="0">
                <a:solidFill>
                  <a:srgbClr val="173B40"/>
                </a:solidFill>
                <a:latin typeface="Arial"/>
                <a:ea typeface="Arial"/>
                <a:cs typeface="Arial"/>
              </a:defRPr>
            </a:pPr>
            <a:r>
              <a:rPr sz="2250" b="0">
                <a:solidFill>
                  <a:srgbClr val="173B40"/>
                </a:solidFill>
                <a:latin typeface="Arial"/>
                <a:ea typeface="Arial"/>
                <a:cs typeface="Arial"/>
              </a:rPr>
              <a:t>Questions</a:t>
            </a:r>
          </a:p>
        </p:txBody>
      </p:sp>
      <p:sp>
        <p:nvSpPr>
          <p:cNvPr id="3" name="">
            <a:extLst xmlns:a="http://schemas.openxmlformats.org/drawingml/2006/main">
              <a:ext uri="{FF2B5EF4-FFF2-40B4-BE49-F238E27FC236}">
                <a16:creationId xmlns:a16="http://schemas.microsoft.com/office/drawing/2014/main" id="{20DD4ADF-C489-43A8-88A2-8C0147123759}"/>
              </a:ext>
            </a:extLst>
          </p:cNvPr>
          <p:cNvSpPr>
            <a:spLocks xmlns:a="http://schemas.openxmlformats.org/drawingml/2006/main" noGrp="1"/>
          </p:cNvSpPr>
          <p:nvPr/>
        </p:nvSpPr>
        <p:spPr>
          <a:xfrm xmlns:a="http://schemas.openxmlformats.org/drawingml/2006/main">
            <a:off x="1104900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173B40"/>
                </a:solidFill>
                <a:latin typeface="Arial"/>
                <a:ea typeface="Arial"/>
                <a:cs typeface="Arial"/>
              </a:defRPr>
            </a:defPPr>
          </a:lstStyle>
          <a:p xmlns:a="http://schemas.openxmlformats.org/drawingml/2006/main">
            <a:pPr>
              <a:defRPr sz="1275" b="0">
                <a:solidFill>
                  <a:srgbClr val="173B40"/>
                </a:solidFill>
                <a:latin typeface="Arial"/>
                <a:ea typeface="Arial"/>
                <a:cs typeface="Arial"/>
              </a:defRPr>
            </a:pPr>
            <a:r>
              <a:rPr sz="1275" b="0">
                <a:solidFill>
                  <a:srgbClr val="173B40"/>
                </a:solidFill>
                <a:latin typeface="Arial"/>
                <a:ea typeface="Arial"/>
                <a:cs typeface="Arial"/>
              </a:rPr>
              <a:t>14</a:t>
            </a:r>
          </a:p>
        </p:txBody>
      </p:sp>
    </p:spTree>
    <p:extLst>
      <p:ext uri="{BB962C8B-B14F-4D97-AF65-F5344CB8AC3E}">
        <p14:creationId xmlns:p14="http://schemas.microsoft.com/office/powerpoint/2010/main" val="1755388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2026-10-10T15:54:11.9860000Z</dcterms:created>
  <dcterms:modified xsi:type="dcterms:W3CDTF">2026-10-10T15:54:11.9870000Z</dcterms:modified>
</coreProperties>
</file>