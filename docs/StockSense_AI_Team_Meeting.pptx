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45a1ed3dc043ec" /><Relationship Type="http://schemas.openxmlformats.org/officeDocument/2006/relationships/extended-properties" Target="/docProps/app.xml" Id="R91ea79d73a6e4294" /><Relationship Type="http://schemas.openxmlformats.org/officeDocument/2006/relationships/officeDocument" Target="/ppt/presentation.xml" Id="Rd9e97bb00ca34beb" /></Relationships>
</file>

<file path=ppt/presentation.xml><?xml version="1.0" encoding="utf-8"?>
<p:presentation xmlns:p="http://schemas.openxmlformats.org/presentationml/2006/main">
  <p:sldMasterIdLst>
    <p:sldMasterId xmlns:r="http://schemas.openxmlformats.org/officeDocument/2006/relationships" id="2147483648" r:id="R8f37314fc82b4e0c"/>
  </p:sldMasterIdLst>
  <p:notesMasterIdLst>
    <p:notesMasterId xmlns:r="http://schemas.openxmlformats.org/officeDocument/2006/relationships" r:id="R5298dbbffd434275"/>
  </p:notesMasterIdLst>
  <p:sldIdLst>
    <p:sldId xmlns:r="http://schemas.openxmlformats.org/officeDocument/2006/relationships" id="256" r:id="R6d3d93133b864e0f"/>
    <p:sldId xmlns:r="http://schemas.openxmlformats.org/officeDocument/2006/relationships" id="257" r:id="Rf18ef3d9658240c5"/>
    <p:sldId xmlns:r="http://schemas.openxmlformats.org/officeDocument/2006/relationships" id="258" r:id="R726dac0d53094ac5"/>
    <p:sldId xmlns:r="http://schemas.openxmlformats.org/officeDocument/2006/relationships" id="259" r:id="Re20e7821a67d4300"/>
    <p:sldId xmlns:r="http://schemas.openxmlformats.org/officeDocument/2006/relationships" id="260" r:id="Ra109fa436c03410a"/>
    <p:sldId xmlns:r="http://schemas.openxmlformats.org/officeDocument/2006/relationships" id="261" r:id="R278f31ce41e64212"/>
    <p:sldId xmlns:r="http://schemas.openxmlformats.org/officeDocument/2006/relationships" id="262" r:id="Rcda0708a4fcc4200"/>
    <p:sldId xmlns:r="http://schemas.openxmlformats.org/officeDocument/2006/relationships" id="263" r:id="Rc8fc2afe7f764da0"/>
    <p:sldId xmlns:r="http://schemas.openxmlformats.org/officeDocument/2006/relationships" id="264" r:id="R71201f8bc7894398"/>
    <p:sldId xmlns:r="http://schemas.openxmlformats.org/officeDocument/2006/relationships" id="265" r:id="R40db2159bd8d4ed2"/>
    <p:sldId xmlns:r="http://schemas.openxmlformats.org/officeDocument/2006/relationships" id="266" r:id="Rd6f314e136fa4f04"/>
    <p:sldId xmlns:r="http://schemas.openxmlformats.org/officeDocument/2006/relationships" id="267" r:id="R4001a57ade0f4f17"/>
    <p:sldId xmlns:r="http://schemas.openxmlformats.org/officeDocument/2006/relationships" id="268" r:id="R6429cd755ac147be"/>
    <p:sldId xmlns:r="http://schemas.openxmlformats.org/officeDocument/2006/relationships" id="269" r:id="Rbbe32254e9554eae"/>
    <p:sldId xmlns:r="http://schemas.openxmlformats.org/officeDocument/2006/relationships" id="270" r:id="Rb6b15ef928214e79"/>
    <p:sldId xmlns:r="http://schemas.openxmlformats.org/officeDocument/2006/relationships" id="271" r:id="R3acb467abe9b4a6a"/>
    <p:sldId xmlns:r="http://schemas.openxmlformats.org/officeDocument/2006/relationships" id="272" r:id="R9257f456e3cc4deb"/>
    <p:sldId xmlns:r="http://schemas.openxmlformats.org/officeDocument/2006/relationships" id="273" r:id="R6959c780bf2f4da9"/>
    <p:sldId xmlns:r="http://schemas.openxmlformats.org/officeDocument/2006/relationships" id="274" r:id="Rcc44a98ce9484a71"/>
    <p:sldId xmlns:r="http://schemas.openxmlformats.org/officeDocument/2006/relationships" id="275" r:id="Rd4b2bb3f6225422c"/>
    <p:sldId xmlns:r="http://schemas.openxmlformats.org/officeDocument/2006/relationships" id="276" r:id="R93ef16deef84450d"/>
    <p:sldId xmlns:r="http://schemas.openxmlformats.org/officeDocument/2006/relationships" id="277" r:id="R075d755e7ad5480e"/>
    <p:sldId xmlns:r="http://schemas.openxmlformats.org/officeDocument/2006/relationships" id="278" r:id="R3b7c3d54f2ec4f66"/>
    <p:sldId xmlns:r="http://schemas.openxmlformats.org/officeDocument/2006/relationships" id="279" r:id="R3b2180a0a5cd4be9"/>
    <p:sldId xmlns:r="http://schemas.openxmlformats.org/officeDocument/2006/relationships" id="280" r:id="Rfec08294f41a4934"/>
    <p:sldId xmlns:r="http://schemas.openxmlformats.org/officeDocument/2006/relationships" id="281" r:id="Re3097dc8fbda4965"/>
    <p:sldId xmlns:r="http://schemas.openxmlformats.org/officeDocument/2006/relationships" id="282" r:id="Re24232a5459e4792"/>
    <p:sldId xmlns:r="http://schemas.openxmlformats.org/officeDocument/2006/relationships" id="283" r:id="Ra5cba09c834f4f73"/>
    <p:sldId xmlns:r="http://schemas.openxmlformats.org/officeDocument/2006/relationships" id="284" r:id="R590ba8dd69664529"/>
    <p:sldId xmlns:r="http://schemas.openxmlformats.org/officeDocument/2006/relationships" id="285" r:id="R4b6e2e81dea04db3"/>
    <p:sldId xmlns:r="http://schemas.openxmlformats.org/officeDocument/2006/relationships" id="286" r:id="R0edaaa2b43e9446e"/>
    <p:sldId xmlns:r="http://schemas.openxmlformats.org/officeDocument/2006/relationships" id="287" r:id="R1d61d4598fb24745"/>
    <p:sldId xmlns:r="http://schemas.openxmlformats.org/officeDocument/2006/relationships" id="288" r:id="R8e91c04eda7046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8c1ee66af745ab" /><Relationship Type="http://schemas.openxmlformats.org/officeDocument/2006/relationships/slideMaster" Target="/ppt/slideMasters/slideMaster1.xml" Id="R8f37314fc82b4e0c" /><Relationship Type="http://schemas.openxmlformats.org/officeDocument/2006/relationships/notesMaster" Target="/ppt/notesMasters/notesMaster1.xml" Id="R5298dbbffd434275" /><Relationship Type="http://schemas.openxmlformats.org/officeDocument/2006/relationships/presProps" Target="/ppt/presProps.xml" Id="R337899b222324df2" /><Relationship Type="http://schemas.openxmlformats.org/officeDocument/2006/relationships/tableStyles" Target="/ppt/tableStyles.xml" Id="Ra2a7edfc32744979" /><Relationship Type="http://schemas.openxmlformats.org/officeDocument/2006/relationships/slide" Target="/ppt/slides/slide1.xml" Id="R6d3d93133b864e0f" /><Relationship Type="http://schemas.openxmlformats.org/officeDocument/2006/relationships/slide" Target="/ppt/slides/slide2.xml" Id="Rf18ef3d9658240c5" /><Relationship Type="http://schemas.openxmlformats.org/officeDocument/2006/relationships/slide" Target="/ppt/slides/slide3.xml" Id="R726dac0d53094ac5" /><Relationship Type="http://schemas.openxmlformats.org/officeDocument/2006/relationships/slide" Target="/ppt/slides/slide4.xml" Id="Re20e7821a67d4300" /><Relationship Type="http://schemas.openxmlformats.org/officeDocument/2006/relationships/slide" Target="/ppt/slides/slide5.xml" Id="Ra109fa436c03410a" /><Relationship Type="http://schemas.openxmlformats.org/officeDocument/2006/relationships/slide" Target="/ppt/slides/slide6.xml" Id="R278f31ce41e64212" /><Relationship Type="http://schemas.openxmlformats.org/officeDocument/2006/relationships/slide" Target="/ppt/slides/slide7.xml" Id="Rcda0708a4fcc4200" /><Relationship Type="http://schemas.openxmlformats.org/officeDocument/2006/relationships/slide" Target="/ppt/slides/slide8.xml" Id="Rc8fc2afe7f764da0" /><Relationship Type="http://schemas.openxmlformats.org/officeDocument/2006/relationships/slide" Target="/ppt/slides/slide9.xml" Id="R71201f8bc7894398" /><Relationship Type="http://schemas.openxmlformats.org/officeDocument/2006/relationships/slide" Target="/ppt/slides/slide10.xml" Id="R40db2159bd8d4ed2" /><Relationship Type="http://schemas.openxmlformats.org/officeDocument/2006/relationships/slide" Target="/ppt/slides/slide11.xml" Id="Rd6f314e136fa4f04" /><Relationship Type="http://schemas.openxmlformats.org/officeDocument/2006/relationships/slide" Target="/ppt/slides/slide12.xml" Id="R4001a57ade0f4f17" /><Relationship Type="http://schemas.openxmlformats.org/officeDocument/2006/relationships/slide" Target="/ppt/slides/slide13.xml" Id="R6429cd755ac147be" /><Relationship Type="http://schemas.openxmlformats.org/officeDocument/2006/relationships/slide" Target="/ppt/slides/slide14.xml" Id="Rbbe32254e9554eae" /><Relationship Type="http://schemas.openxmlformats.org/officeDocument/2006/relationships/slide" Target="/ppt/slides/slide15.xml" Id="Rb6b15ef928214e79" /><Relationship Type="http://schemas.openxmlformats.org/officeDocument/2006/relationships/slide" Target="/ppt/slides/slide16.xml" Id="R3acb467abe9b4a6a" /><Relationship Type="http://schemas.openxmlformats.org/officeDocument/2006/relationships/slide" Target="/ppt/slides/slide17.xml" Id="R9257f456e3cc4deb" /><Relationship Type="http://schemas.openxmlformats.org/officeDocument/2006/relationships/slide" Target="/ppt/slides/slide18.xml" Id="R6959c780bf2f4da9" /><Relationship Type="http://schemas.openxmlformats.org/officeDocument/2006/relationships/slide" Target="/ppt/slides/slide19.xml" Id="Rcc44a98ce9484a71" /><Relationship Type="http://schemas.openxmlformats.org/officeDocument/2006/relationships/slide" Target="/ppt/slides/slide20.xml" Id="Rd4b2bb3f6225422c" /><Relationship Type="http://schemas.openxmlformats.org/officeDocument/2006/relationships/slide" Target="/ppt/slides/slide21.xml" Id="R93ef16deef84450d" /><Relationship Type="http://schemas.openxmlformats.org/officeDocument/2006/relationships/slide" Target="/ppt/slides/slide22.xml" Id="R075d755e7ad5480e" /><Relationship Type="http://schemas.openxmlformats.org/officeDocument/2006/relationships/slide" Target="/ppt/slides/slide23.xml" Id="R3b7c3d54f2ec4f66" /><Relationship Type="http://schemas.openxmlformats.org/officeDocument/2006/relationships/slide" Target="/ppt/slides/slide24.xml" Id="R3b2180a0a5cd4be9" /><Relationship Type="http://schemas.openxmlformats.org/officeDocument/2006/relationships/slide" Target="/ppt/slides/slide25.xml" Id="Rfec08294f41a4934" /><Relationship Type="http://schemas.openxmlformats.org/officeDocument/2006/relationships/slide" Target="/ppt/slides/slide26.xml" Id="Re3097dc8fbda4965" /><Relationship Type="http://schemas.openxmlformats.org/officeDocument/2006/relationships/slide" Target="/ppt/slides/slide27.xml" Id="Re24232a5459e4792" /><Relationship Type="http://schemas.openxmlformats.org/officeDocument/2006/relationships/slide" Target="/ppt/slides/slide28.xml" Id="Ra5cba09c834f4f73" /><Relationship Type="http://schemas.openxmlformats.org/officeDocument/2006/relationships/slide" Target="/ppt/slides/slide29.xml" Id="R590ba8dd69664529" /><Relationship Type="http://schemas.openxmlformats.org/officeDocument/2006/relationships/slide" Target="/ppt/slides/slide30.xml" Id="R4b6e2e81dea04db3" /><Relationship Type="http://schemas.openxmlformats.org/officeDocument/2006/relationships/slide" Target="/ppt/slides/slide31.xml" Id="R0edaaa2b43e9446e" /><Relationship Type="http://schemas.openxmlformats.org/officeDocument/2006/relationships/slide" Target="/ppt/slides/slide32.xml" Id="R1d61d4598fb24745" /><Relationship Type="http://schemas.openxmlformats.org/officeDocument/2006/relationships/slide" Target="/ppt/slides/slide33.xml" Id="R8e91c04eda7046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37f7b532d246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7f001a8c994958" /><Relationship Type="http://schemas.openxmlformats.org/officeDocument/2006/relationships/notesMaster" Target="/ppt/notesMasters/notesMaster1.xml" Id="R8e4659340d0e47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32d59fbb4a4d9c" /><Relationship Type="http://schemas.openxmlformats.org/officeDocument/2006/relationships/notesMaster" Target="/ppt/notesMasters/notesMaster1.xml" Id="R9cfff0a71ec34e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8bc6be9f994278" /><Relationship Type="http://schemas.openxmlformats.org/officeDocument/2006/relationships/notesMaster" Target="/ppt/notesMasters/notesMaster1.xml" Id="R5b513c9860a34d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7feb5112ec4059" /><Relationship Type="http://schemas.openxmlformats.org/officeDocument/2006/relationships/notesMaster" Target="/ppt/notesMasters/notesMaster1.xml" Id="R1e61a9c5c06e43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98034c1cb40e9" /><Relationship Type="http://schemas.openxmlformats.org/officeDocument/2006/relationships/notesMaster" Target="/ppt/notesMasters/notesMaster1.xml" Id="Rc0b8024da04b43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fc567c92f449d5" /><Relationship Type="http://schemas.openxmlformats.org/officeDocument/2006/relationships/notesMaster" Target="/ppt/notesMasters/notesMaster1.xml" Id="Rf9e9216b5b4a46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5637c1fee34513" /><Relationship Type="http://schemas.openxmlformats.org/officeDocument/2006/relationships/notesMaster" Target="/ppt/notesMasters/notesMaster1.xml" Id="R5c272f5932cb46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920186e3314dd3" /><Relationship Type="http://schemas.openxmlformats.org/officeDocument/2006/relationships/notesMaster" Target="/ppt/notesMasters/notesMaster1.xml" Id="Rd7548bddb43647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bab91d296e4b89" /><Relationship Type="http://schemas.openxmlformats.org/officeDocument/2006/relationships/notesMaster" Target="/ppt/notesMasters/notesMaster1.xml" Id="R14704e90534f45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398f0641804507" /><Relationship Type="http://schemas.openxmlformats.org/officeDocument/2006/relationships/notesMaster" Target="/ppt/notesMasters/notesMaster1.xml" Id="R14fe49bb9f9b4f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df06fce41348ee" /><Relationship Type="http://schemas.openxmlformats.org/officeDocument/2006/relationships/notesMaster" Target="/ppt/notesMasters/notesMaster1.xml" Id="Rf5cf834f83c242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e5424c09f34978" /><Relationship Type="http://schemas.openxmlformats.org/officeDocument/2006/relationships/notesMaster" Target="/ppt/notesMasters/notesMaster1.xml" Id="R8af333dccc8944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ca19e8fd8b436a" /><Relationship Type="http://schemas.openxmlformats.org/officeDocument/2006/relationships/notesMaster" Target="/ppt/notesMasters/notesMaster1.xml" Id="Rd19cd1b1f48749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05130d91864766" /><Relationship Type="http://schemas.openxmlformats.org/officeDocument/2006/relationships/notesMaster" Target="/ppt/notesMasters/notesMaster1.xml" Id="R091a8a4e0c2c44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5fe20e0fe1445d" /><Relationship Type="http://schemas.openxmlformats.org/officeDocument/2006/relationships/notesMaster" Target="/ppt/notesMasters/notesMaster1.xml" Id="R57dcd0047b6142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56c0c0dd4746c5" /><Relationship Type="http://schemas.openxmlformats.org/officeDocument/2006/relationships/notesMaster" Target="/ppt/notesMasters/notesMaster1.xml" Id="Rbeda8bc05ccd47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76872cb2654ba9" /><Relationship Type="http://schemas.openxmlformats.org/officeDocument/2006/relationships/notesMaster" Target="/ppt/notesMasters/notesMaster1.xml" Id="R7702477c101b44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eb4f6711f744ec" /><Relationship Type="http://schemas.openxmlformats.org/officeDocument/2006/relationships/notesMaster" Target="/ppt/notesMasters/notesMaster1.xml" Id="R9c4f3d56bfd746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e3648d2ae44b18" /><Relationship Type="http://schemas.openxmlformats.org/officeDocument/2006/relationships/notesMaster" Target="/ppt/notesMasters/notesMaster1.xml" Id="Rc06a6c2efec448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b72a7334114a79" /><Relationship Type="http://schemas.openxmlformats.org/officeDocument/2006/relationships/notesMaster" Target="/ppt/notesMasters/notesMaster1.xml" Id="R1c6c0ca2d9bf45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8fa9e619e5477c" /><Relationship Type="http://schemas.openxmlformats.org/officeDocument/2006/relationships/notesMaster" Target="/ppt/notesMasters/notesMaster1.xml" Id="R502495287af646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21dc69bbb04ef0" /><Relationship Type="http://schemas.openxmlformats.org/officeDocument/2006/relationships/notesMaster" Target="/ppt/notesMasters/notesMaster1.xml" Id="Rf1f6a6a707284b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c9cb159004f4b64" /><Relationship Type="http://schemas.openxmlformats.org/officeDocument/2006/relationships/notesMaster" Target="/ppt/notesMasters/notesMaster1.xml" Id="R91cdcf96070e430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bf6348559f4ced" /><Relationship Type="http://schemas.openxmlformats.org/officeDocument/2006/relationships/notesMaster" Target="/ppt/notesMasters/notesMaster1.xml" Id="Rddf00032537a49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4c1faaf2474591" /><Relationship Type="http://schemas.openxmlformats.org/officeDocument/2006/relationships/notesMaster" Target="/ppt/notesMasters/notesMaster1.xml" Id="R6bcb27294e754f7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7026995e96448c8" /><Relationship Type="http://schemas.openxmlformats.org/officeDocument/2006/relationships/notesMaster" Target="/ppt/notesMasters/notesMaster1.xml" Id="R639a2440dad245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ce34e62ebf4730" /><Relationship Type="http://schemas.openxmlformats.org/officeDocument/2006/relationships/notesMaster" Target="/ppt/notesMasters/notesMaster1.xml" Id="R7e3cedb3473a49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4917ac48774fd9" /><Relationship Type="http://schemas.openxmlformats.org/officeDocument/2006/relationships/notesMaster" Target="/ppt/notesMasters/notesMaster1.xml" Id="R7f3cd115312b46a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27ed440619c4c2a" /><Relationship Type="http://schemas.openxmlformats.org/officeDocument/2006/relationships/notesMaster" Target="/ppt/notesMasters/notesMaster1.xml" Id="Rb9563abaf4bf46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025befd743c44a3" /><Relationship Type="http://schemas.openxmlformats.org/officeDocument/2006/relationships/notesMaster" Target="/ppt/notesMasters/notesMaster1.xml" Id="Rdb597208785c42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d9c09b5d30041fe" /><Relationship Type="http://schemas.openxmlformats.org/officeDocument/2006/relationships/notesMaster" Target="/ppt/notesMasters/notesMaster1.xml" Id="R654ba441ce7346f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52326949b8b40b1" /><Relationship Type="http://schemas.openxmlformats.org/officeDocument/2006/relationships/notesMaster" Target="/ppt/notesMasters/notesMaster1.xml" Id="R16cfa2eb6f4c425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8cc57ceb0884811" /><Relationship Type="http://schemas.openxmlformats.org/officeDocument/2006/relationships/notesMaster" Target="/ppt/notesMasters/notesMaster1.xml" Id="R05909ce657d44d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group. This is a teaching session for the current prototype. Plan roughly 40 minutes: about 15 minutes on the app, 15 on models and evidence, then 10 on practice. Slides 31 and 32 are reference pages. The fictional retailer is Sunrise Mini Market. Every member should leave able to explain a feature in their own words. Project source: app.py, stocksense/ui.py. App captured locally on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group which part currently feels hardest. Use this to decide where to slow down. By the end, each member should explain what an estimate means, calculate the example, distinguish the forecasting models from the question classifier, and explain the model results. The agenda is flexible and includes live demonstration pauses.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familiar example: a small shop manager needs enough units to meet expected demand until the next review and delivery. Too little may miss sales, while too much ties up money. Our prototype supports this decision with a sales forecast and a transparent calculation. The case is fictional. We have not measured real savings, real stockouts or profits. Project source: data/prepared/store_1_items_1_to_5.csv and docs/report.md. Dataset: https://www.kaggle.com/competitions/demand-forecasting-kernels-only/data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train.csv has 913,000 rows: 10 stores, 50 items, daily sales from 2013 through 2017. We use Store 1 and Items 1 to 5, giving 9,130 rows. Sunrise Mini Market is the fictional name we chose for the case study. Product numbers preserve the anonymous item IDs. They do not identify real milk, bread or other named products. The source does not supply inventory or supplier records. Project source: data/prepared/store_1_items_1_to_5.csv and docs/report.md. Dataset: https://www.kaggle.com/competitions/demand-forecasting-kernels-only/data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first row aloud: on 1 January 2013, Store 1 sold 13 units of Item 1. A time series is the same item’s observations in date order. Sales are observed units sold. We use sales as a proxy for demand because we have no evidence of unmet demand. The row does not tell us the product name, stock available, price or supplier delay. These are real rows from our chosen dataset. Project source: data/prepared/store_1_items_1_to_5.csv and docs/report.md. Dataset: https://www.kaggle.com/competitions/demand-forecasting-kernels-only/data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actual app and point to these four areas in order. The screenshot shows the current Product 1 example with the 38-unit order. The lower part contains the historical model-result expanders. Product selection and recent KPIs appear above the chart. The chatbot and planner use the same selected product unless the question names another product. Project source: app.py, stocksense/ui.py. App captured locally on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Product 1 during the live explanation. Recent sales equals the sum of its final 28 observed daily values, 467 units. Daily average is 467 divided by 28, about 16.7 units. The planning window is seven forecast days. Changing the product changes these values and the forecast. It clears a stale stock calculation and resets follow-up context. Old chat messages keep their original inputs and labels. KPI means key performance indicator, or a summary measure. Project source: app.py, stocksense/ui.py. App captured locally on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Grey is observed sales for the last 28 available days. Teal is the next seven estimates from the selected random forest. The last observed day is 31 December 2017. The forecast horizon is 1 to 7 January 2018. Those outcomes are absent from our dataset, so we cannot score this displayed forecast. The daily table gives the actual date next to each estimate. The lines show units rather than currency. Project source: app.py, stocksense/ui.py. App captured locally on 12 October 2026. Project source: stocksense/random_forest.py and artifacts/forecasters/random_forest.joblib.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come from the saved current random forest. Total: 114.87188037061834 units, displayed as 114.9. The daily forecasts are fractional because they represent average expected quantities. Do not round every daily estimate before calculating the stock plan. The order rounds up only at the final step. The displayed one-decimal rows add to 114.8, while the unrounded predictions sum to 114.9 when rounded, so small apparent sum differences are display rounding. Project source: stocksense/random_forest.py and artifacts/forecasters/random_forest.joblib.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manual demonstration inputs, since Kaggle has no stock or supplier data. Stock available means units physically on hand. Outstanding units are already ordered and expected, and are added to inventory position. Lead time is the number of forecast days before the next delivery. The app assumes delivery after those days. A lead time of zero means delivery before forecast day 1. Review interval is the time until the next review. Buffer stock is extra units chosen by the user, not a statistically calculated service-level buffer. Project source: stocksense/inventory.py and the saved random forest forecast for Product 1 at 31 December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equals lead time plus review interval. For the default example, 2 plus 3 gives 5 forecast days. Sum Monday to Friday demand, then add the buffer. Delivery occurs after the two lead-time days, so the order does not fix a shortage during Monday and Tuesday. Saturday and Sunday remain visible forecast days but do not belong to this five-day order calculation. Explain this carefully: the weekly forecast total and the coverage demand can be different numbers. Project source: stocksense/inventory.py and the saved random forest forecast for Product 1 at 31 December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calculation slowly with Product 1 and the defaults. Coverage demand is 77.51696678502094. Add 10 units to get target stock 87.51696678502094. Inventory position is 50 available plus zero outstanding, or 50. The gap is 37.51696678502094. An order must use whole units, so the app uses ceiling to get 38. Ceiling means round up, and max with zero prevents a negative order. The app uses full-precision forecasts for the arithmetic. Project source: stocksense/inventory.py and the saved random forest forecast for Product 1 at 31 December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Product 1 and the 2-day lead time, but set stock available to 5, outstanding to zero, review to 3 and buffer to 10. First two days predict 29.755561310335686 units. Only five units are on hand, leaving forecast shortage 24.755561310335686, displayed as 24.8. Target stays 87.51696678502094, and the order rises to ceiling of 82.51696678502094, or 83. That later order cannot cover the earlier shortage. Outstanding units affect the position, but do not count as stock already on the shelf. Project source: stocksense/inventory.py and the saved random forest forecast for Product 1 at 31 December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invalid case during the demo: lead 6 and review 3, totaling 9, which exceeds the seven available forecast days. The app rejects it and removes the old order result. Inputs must be non-negative whole numbers. Review interval must be at least one day. If the target is already covered, the suggested order is zero. Changing the product or submitted inputs invalidates a stale calculation. The chatbot asks for a new submitted stock calculation for another product. Form changes take effect through the Calculate button. Project source: stocksense/inventory.py and the saved random forest forecast for Product 1 at 31 December 2017. Project source: app.py, stocksense/ui.py. App captured locally on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six shortcuts, then type a question. The shortcuts cover a sales forecast, a stock order, recent sales, model results, product comparisons and an order explanation. The chat can answer a question about an item other than the selected one, but a stock plan remains product-specific. It can show busiest and quietest forecast days, a named date or weekday, and simple definitions. Clear erases the transcript and follow-up focus while retaining the current stock plan. The app retains the newest 40 messages, or 20 question-and-answer turns. Project source: stocksense/assistant.py, app.py, resources/assistant_questions.json and artifacts/assistant/evaluation.json.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was checked in the running app. Product 1 can remain selected while the question names Product 2. The answer uses Product 2’s forecast, not Product 1’s. Asking And Product 3 changes conversation focus to Product 3. Show the daily breakdown then refers to Product 3 and provides seven dated values. Ask Which is the busiest forecast day for a maximum. A product-selector change or Clear resets this focus. A multi-product comparison followed by an ambiguous daily request asks which product you mean. Previous transcript answers remain historical messages with their original selection captions. Project source: stocksense/assistant.py, app.py, resources/assistant_questions.json and artifacts/assistant/evaluation.json.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predicting a number and classifying a question. TF-IDF means term frequency–inverse document frequency. It turns words and pairs of words into numeric features, giving common generic words less influence. Logistic regression chooses a request category from the features. Despite its name, this model is used here for classification. The training set has 60 labelled questions across forecast, reorder, history, performance and help. Validation selected confidence threshold 0.35. Product/date rules and conversation context also help route questions. Response templates retrieve current forecast, history, stock or metric data. Project source: stocksense/assistant.py, app.py, resources/assistant_questions.json and artifacts/assistant/evaluation.json.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Comparisons use the same seven forecast dates for every item. Recent-sales comparisons can use a requested window up to 28 days. Dates outside the available forecast and unsupported products require clarification. Stock answers require a plan for the relevant item. The system is a focused local question assistant, with no general language-model service or paid API. It does not know real product names, prices, profits, current weather or live transactions. Confidence is confidence in the request category. It is not a probability that the numerical sales forecast will be correct. The held-out classifier record is 24 out of 25 supported examples correct and 8 out of 8 unrelated examples rejected, a small test rather than evidence for every possible question. Project source: stocksense/assistant.py, app.py, resources/assistant_questions.json and artifacts/assistant/evaluation.json.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methods answer the same forecasting question for the same items and seven-day horizon. Weekly seasonal naive repeats last week and is a benchmark rule. Random forest is the selected supervised machine-learning regressor. A small LSTM is a deep-learning sequence model we compared. The chatbot classifier is a separate model and does not generate these sales estimates. Each trained forecasting method has one model per item. All use only information available at their forecast origin. Project source: stocksense/random_forest.py and artifacts/forecasters/random_forest.joblib. Project source: stocksense/lstm.py and artifacts/forecasters/selection-lock.json.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Seasonal means a repeated calendar pattern. Naive means a simple repeat rule. If the previous Monday sold 10 units, the next Monday gets a 10-unit forecast. Likewise for every other weekday. These values are an illustration, not current app outputs. The method trains no parameters. It gives us a fair reference: a more complex method should show a useful improvement over something this simple. It may miss a trend or a sudden change. The actual implementation copies the most recent seven observed days into the next week. Project source: stocksense/forecasting.py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tree learns splits such as recent sales above or below a learned value. We are describing the mechanism, not claiming a specific actual split. A forest trains many trees on resampled training examples, then averages their predictions. Our regressor directly returns seven daily values together. It does not recursively feed tomorrow’s prediction back into the following forecast. Inputs: all 28 past daily sales values, means over 7, 14 and 28 days, and sine/cosine encodings for the weekday and day of year of each of the seven target dates. That is 59 numeric features. Calendar dates are known beforehand. One separate forest serves each item. Settings: 100 trees, maximum depth 10, minimum leaf size 3 and seed 42. Project source: stocksense/random_forest.py and artifacts/forecasters/random_forest.joblib.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LSTM stands for Long Short-Term Memory. It is a recurrent neural-network layer that learns what information to retain while reading an ordered sequence. Our small model receives 28 daily sales values in chronological order, uses one 16-unit LSTM layer and a Dense output layer with seven values. It has 1,271 trainable parameters and one separate model per product. It uses no calendar features. We standardize using a mean and standard deviation calculated from training observations, then convert predictions back to units. It uses Adam at learning rate 0.001 and mean squared error loss, batch size 32, no shuffling, up to 50 epochs with validation early stopping patience 5. The final refit uses the validation-selected epoch counts. Project source: stocksense/lstm.py and artifacts/forecasters/selection-lock.json.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teaches parameters using 2013 to 2015 sales. Validation in 2016 selects the method and settings. We chose the random forest by lowest overall daily validation MAE. Then we refit forecasting models using data through 2016 with settings frozen. The 2017 final test evaluates the frozen choices. Each evaluation year scores 52 complete weeks per item: 364 daily values per item or 1,820 across five items. Model weights stay fixed during testing while observed history advances each week. At each origin the model sees only earlier actual values. It never sees the future seven outcomes that it is about to predict. Final evaluation covers 1 January to 30 December 2017, with the incomplete final day excluded.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is Mean Absolute Error. First subtract the observed value from the prediction, then ignore the sign. Average those absolute differences. For this two-day illustration, errors are 2 and 3 units. Their average is 2.5 units. We care about magnitude because over- and underestimates should not cancel when measuring daily accuracy. Lower MAE is better on the same data, products and dates. MAE 4.812 means an average absolute daily error of about 4.8 units across the scored values. It is not 4.8 percent and does not mean every prediction misses by exactly that amount.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RMSE means Root Mean Squared Error. For the preceding two-day illustration, square errors 2 and 3 to get 4 and 9, average them to 6.5, then take the square root: about 2.55 units. Squaring makes larger mistakes matter more. Weekly-total MAE sums predicted values for a week, sums its actual values, compares the totals, and averages the absolute differences over weeks. Errors on separate days can cancel in a weekly total even when daily forecasts are imperfect. The right-hand example simplifies this to two days: observed 10 and 20, forecast 12 and 18. Daily MAE is 2 while the two-day total error is zero. The real metric uses seven days. This explains why the daily and weekly rankings can differ.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came from 2016 validation, before this 2017 test. Random forest validation MAE was 4.911, LSTM 5.439 and the benchmark 6.320. These bars show final daily test MAE: benchmark 6.273, LSTM 5.411, random forest 4.812 units. Compute relative error reduction using the benchmark as the denominator: about 23.3 percent. Call this lower daily MAE, not 23.3 percent accuracy or 76.7 percent accuracy. Results aggregate all five products across the same 1,820 daily predictions. They do not prove equal performance for every item.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both Historical model results expanders in the app. These are the recorded aggregate numbers, rounded to three decimal places, in units. Daily validation MAE determined the choice. LSTM has the lowest weekly-total MAE in both years. Random forest has the lowest daily MAE and RMSE in both years. We retain the frozen selection instead of switching after seeing the test. No model wins every measure. If the sole business objective were weekly total accuracy, that would require a separately planned experiment and selection criterion. Project source: artifacts/forecasters/comparison.json, artifacts/forecasters/final-test.json and stocksense/evaluation.py.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real savings or successful supplier orders. We use historical anonymous sales and a fictional business. Sales may miss unfulfilled demand because the dataset does not measure lost sales. Stock, delivery and buffer are assumptions entered by the user. The 2017 final test has observed outcomes, whereas the January 2018 displayed week does not. The app has no automatic supplier ordering, point-of-sale integration or live inventory feed. The assistant’s small classifier test does not prove broad conversational reliability. Human usability feedback must come from actual users rather than invented comments. Project source: data/prepared/store_1_items_1_to_5.csv and docs/report.md. Dataset: https://www.kaggle.com/competitions/demand-forecasting-kernels-only/data Project source: artifacts/forecasters/comparison.json, artifacts/forecasters/final-test.json and stocksense/evaluation.py. Project source: stocksense/assistant.py, app.py, resources/assistant_questions.json and artifacts/assistant/evaluation.json.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five minutes. First select Product 1 and explain the historical dates. Read its 114.9-unit week. With default stock 50, outstanding 0, lead 2, review 3, buffer 10, calculate 38. Change stock to 5 and calculate again to show 83 and the 24.8-unit shortage before delivery. Restore stock 50 and recalculate. Ask Compare all products, then Forecast for Product 2, And Product 3, Show the daily breakdown. Open both model-result expanders. Do not retrain models during this demonstration. If the office app is unavailable from another PC, run the repository’s Streamlit application on that PC using its own local dataset and saved setup. Project source: app.py, stocksense/ui.py. App captured locally on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group two minutes before showing the answers through your explanation. Answer 1: the coverage window is five days, not the whole seven-day horizon, and stock inputs also matter. Answer 2: it means average absolute error in units, not a percentage of accuracy. Answer 3: the frozen choice used 2016 daily MAE, where random forest was better. LSTM’s weekly-total metric measures a different objective. Answer 4: a submitted calculation for that product with its stock and delivery inputs is required. Invite members to point to the relevant screen rather than recite definitions. Ask a different member to answer each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reference page rather than reading every line aloud. Artificial intelligence is a broad term. Machine learning learns patterns from examples. Our forecast models perform supervised regression using past inputs and known numeric targets. Features are inputs, targets are outputs during training, and an ensemble combines models. Deep learning uses neural networks with learned internal representations. The LSTM is the neural-network model used here. Chat intent classification predicts a category instead of a numeric sales quantity. Project source: stocksense/random_forest.py, stocksense/lstm.py and stocksense/assistant.py.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definitions if members ask about the report’s technical settings. An epoch is one pass through training examples. A batch is the group used for one optimization update. Adam is the optimizer adjusting neural-network weights. MSE is the LSTM training loss and squares prediction errors. Scaling transforms sales using training mean and standard deviation; prediction values return to units. Overfitting means good fit to training examples but poor future generalization. Leakage means using information from after the prediction boundary. Inference means running a trained model to obtain an output. Threshold concerns the intent classifier, not the numerical forecast. Hyperparameters are settings chosen before fitting, such as tree count or learning rate. Sources: stocksense/lstm.py, stocksense/random_forest.py, stocksense/assistant.py,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by having each member choose a feature or model and explain it in their own words using the app. If two people choose the same feature, one explains it and the other asks a question. Record real meeting decisions in the existing GitHub Discussion. Members should add their own observations and completed work to the relevant issues. A co-author credit records contribution to a change; it does not substitute for actual discussion or demonstrated understanding. Note unresolved questions so the team can correct the report, poster or submitted slides where necessary. The reference slides are available for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5bd92c581b4b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9a87dfee1d4b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b61cedcdc04f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ee713cc63a4d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621c4351474e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eb1ebe63b048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AE58D5-D5B6-4138-AFB3-5B40675551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94EE13-BC88-4771-BABB-5EE79E9AAD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B598C3-1119-4ED5-8625-24C8BC301B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E944B3-0429-4441-9A0B-6E9862934A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05C52A-11BE-4315-8E00-AA174044E2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DF3F75-2151-4060-8B35-02BA975D27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F09FC5-8FA4-4942-9095-EDBB32F26C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DFF671-0E61-47A6-BC8B-13353E0A6F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4A0B72-4C8E-4427-9B3E-D5340986CF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4F4BA5-5FEE-43F3-9122-3A1877E229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6bf160057e4513" /><Relationship Type="http://schemas.openxmlformats.org/officeDocument/2006/relationships/slideLayout" Target="/ppt/slideLayouts/slideLayout1.xml" Id="Rb2d49b9b805c4a1b" /><Relationship Type="http://schemas.openxmlformats.org/officeDocument/2006/relationships/slideLayout" Target="/ppt/slideLayouts/slideLayout2.xml" Id="Rd7582e443b4f4b8b" /><Relationship Type="http://schemas.openxmlformats.org/officeDocument/2006/relationships/slideLayout" Target="/ppt/slideLayouts/slideLayout3.xml" Id="Ree8cc2b93e394831" /><Relationship Type="http://schemas.openxmlformats.org/officeDocument/2006/relationships/slideLayout" Target="/ppt/slideLayouts/slideLayout4.xml" Id="R38e7056f06554929" /><Relationship Type="http://schemas.openxmlformats.org/officeDocument/2006/relationships/slideLayout" Target="/ppt/slideLayouts/slideLayout5.xml" Id="R7b1039b8480e43c2" /><Relationship Type="http://schemas.openxmlformats.org/officeDocument/2006/relationships/slideLayout" Target="/ppt/slideLayouts/slideLayout6.xml" Id="R4ab84f4656d64e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d49b9b805c4a1b"/>
    <p:sldLayoutId xmlns:r="http://schemas.openxmlformats.org/officeDocument/2006/relationships" id="2147483650" r:id="Rd7582e443b4f4b8b"/>
    <p:sldLayoutId xmlns:r="http://schemas.openxmlformats.org/officeDocument/2006/relationships" id="2147483651" r:id="Ree8cc2b93e394831"/>
    <p:sldLayoutId xmlns:r="http://schemas.openxmlformats.org/officeDocument/2006/relationships" id="2147483652" r:id="R38e7056f06554929"/>
    <p:sldLayoutId xmlns:r="http://schemas.openxmlformats.org/officeDocument/2006/relationships" id="2147483653" r:id="R7b1039b8480e43c2"/>
    <p:sldLayoutId xmlns:r="http://schemas.openxmlformats.org/officeDocument/2006/relationships" id="2147483654" r:id="R4ab84f4656d64e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6dff27747a4559" /><Relationship Type="http://schemas.openxmlformats.org/officeDocument/2006/relationships/notesSlide" Target="/ppt/notesSlides/notesSlide1.xml" Id="Re7fcb30ea8674b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636f63c487413b" /><Relationship Type="http://schemas.openxmlformats.org/officeDocument/2006/relationships/notesSlide" Target="/ppt/notesSlides/notesSlide2.xml" Id="Re90dee09c61541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3fd53d3d044572" /><Relationship Type="http://schemas.openxmlformats.org/officeDocument/2006/relationships/notesSlide" Target="/ppt/notesSlides/notesSlide3.xml" Id="Rf1ca73f8793346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80f5e5966f4954" /><Relationship Type="http://schemas.openxmlformats.org/officeDocument/2006/relationships/notesSlide" Target="/ppt/notesSlides/notesSlide4.xml" Id="R8de7ce8c94d04b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7f5f6f590442f2" /><Relationship Type="http://schemas.openxmlformats.org/officeDocument/2006/relationships/notesSlide" Target="/ppt/notesSlides/notesSlide5.xml" Id="R83b7950664fe46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addf362a77450d" /><Relationship Type="http://schemas.openxmlformats.org/officeDocument/2006/relationships/image" Target="/ppt/media/image.png" Id="R7b05a8facaaf4d85" /><Relationship Type="http://schemas.openxmlformats.org/officeDocument/2006/relationships/notesSlide" Target="/ppt/notesSlides/notesSlide6.xml" Id="Rcd34d7bdb75c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e3db5e39644fbc" /><Relationship Type="http://schemas.openxmlformats.org/officeDocument/2006/relationships/image" Target="/ppt/media/image2.png" Id="R02e0c6248af946b8" /><Relationship Type="http://schemas.openxmlformats.org/officeDocument/2006/relationships/notesSlide" Target="/ppt/notesSlides/notesSlide7.xml" Id="R904763083fbc42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3493d6ac1b461a" /><Relationship Type="http://schemas.openxmlformats.org/officeDocument/2006/relationships/image" Target="/ppt/media/image3.png" Id="R435ba051d54e4efa" /><Relationship Type="http://schemas.openxmlformats.org/officeDocument/2006/relationships/notesSlide" Target="/ppt/notesSlides/notesSlide8.xml" Id="Rd250e7963b4341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4d2fd0713a431e" /><Relationship Type="http://schemas.openxmlformats.org/officeDocument/2006/relationships/notesSlide" Target="/ppt/notesSlides/notesSlide9.xml" Id="R07824fd3ce7246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06752a1b2e4931" /><Relationship Type="http://schemas.openxmlformats.org/officeDocument/2006/relationships/notesSlide" Target="/ppt/notesSlides/notesSlide10.xml" Id="Rf5f233de7cf44f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0997b9098e4802" /><Relationship Type="http://schemas.openxmlformats.org/officeDocument/2006/relationships/notesSlide" Target="/ppt/notesSlides/notesSlide11.xml" Id="Rb433ed8881a74d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d69bc0ea10e4d07" /><Relationship Type="http://schemas.openxmlformats.org/officeDocument/2006/relationships/notesSlide" Target="/ppt/notesSlides/notesSlide12.xml" Id="R199f6775e75b48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10b22543cc74351" /><Relationship Type="http://schemas.openxmlformats.org/officeDocument/2006/relationships/notesSlide" Target="/ppt/notesSlides/notesSlide13.xml" Id="R00da1f2961be43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daf7273e0245da" /><Relationship Type="http://schemas.openxmlformats.org/officeDocument/2006/relationships/notesSlide" Target="/ppt/notesSlides/notesSlide14.xml" Id="R22ce175548f045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1e9ddee85c4d8f" /><Relationship Type="http://schemas.openxmlformats.org/officeDocument/2006/relationships/image" Target="/ppt/media/image4.png" Id="R03715af54cd14fa9" /><Relationship Type="http://schemas.openxmlformats.org/officeDocument/2006/relationships/notesSlide" Target="/ppt/notesSlides/notesSlide15.xml" Id="R28d8380c47044c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66b771d40ac4bb2" /><Relationship Type="http://schemas.openxmlformats.org/officeDocument/2006/relationships/notesSlide" Target="/ppt/notesSlides/notesSlide16.xml" Id="R67789d2a09eb4a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e8c80446ae74e9b" /><Relationship Type="http://schemas.openxmlformats.org/officeDocument/2006/relationships/notesSlide" Target="/ppt/notesSlides/notesSlide17.xml" Id="R77e704eacc9444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cc96734c55c477a" /><Relationship Type="http://schemas.openxmlformats.org/officeDocument/2006/relationships/notesSlide" Target="/ppt/notesSlides/notesSlide18.xml" Id="Rc20842859f004d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05c0bc58d814352" /><Relationship Type="http://schemas.openxmlformats.org/officeDocument/2006/relationships/notesSlide" Target="/ppt/notesSlides/notesSlide19.xml" Id="R8901c9da4b6c41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93e592f844c405c" /><Relationship Type="http://schemas.openxmlformats.org/officeDocument/2006/relationships/notesSlide" Target="/ppt/notesSlides/notesSlide20.xml" Id="R9c94314a323e42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8ebdbee6e5d4a86" /><Relationship Type="http://schemas.openxmlformats.org/officeDocument/2006/relationships/notesSlide" Target="/ppt/notesSlides/notesSlide21.xml" Id="R1ab8e2995e5845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691c2ccfa514913" /><Relationship Type="http://schemas.openxmlformats.org/officeDocument/2006/relationships/notesSlide" Target="/ppt/notesSlides/notesSlide22.xml" Id="R241656fd511f42f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80863746110421f" /><Relationship Type="http://schemas.openxmlformats.org/officeDocument/2006/relationships/notesSlide" Target="/ppt/notesSlides/notesSlide23.xml" Id="R0d94b9c64f864a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89fc1428746441f" /><Relationship Type="http://schemas.openxmlformats.org/officeDocument/2006/relationships/notesSlide" Target="/ppt/notesSlides/notesSlide24.xml" Id="Rb288664252e049b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41940ed1c4a4a36" /><Relationship Type="http://schemas.openxmlformats.org/officeDocument/2006/relationships/notesSlide" Target="/ppt/notesSlides/notesSlide25.xml" Id="R018f373b4ec844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e9924576a5f4e9a" /><Relationship Type="http://schemas.openxmlformats.org/officeDocument/2006/relationships/chart" Target="/ppt/slides/charts/chart1.xml" Id="R7051518f305741d5" /><Relationship Type="http://schemas.openxmlformats.org/officeDocument/2006/relationships/notesSlide" Target="/ppt/notesSlides/notesSlide26.xml" Id="R35d3dc18829c41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6b90259ce974fa1" /><Relationship Type="http://schemas.openxmlformats.org/officeDocument/2006/relationships/notesSlide" Target="/ppt/notesSlides/notesSlide27.xml" Id="Rb6164a1750a3491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055d9cc790941f8" /><Relationship Type="http://schemas.openxmlformats.org/officeDocument/2006/relationships/notesSlide" Target="/ppt/notesSlides/notesSlide28.xml" Id="R67b92cb1416b49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516c93c12414ba7" /><Relationship Type="http://schemas.openxmlformats.org/officeDocument/2006/relationships/notesSlide" Target="/ppt/notesSlides/notesSlide29.xml" Id="Rc4f1ee57c7e64d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c578755015b42ba" /><Relationship Type="http://schemas.openxmlformats.org/officeDocument/2006/relationships/notesSlide" Target="/ppt/notesSlides/notesSlide30.xml" Id="R772c703d322a4c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f77f3c8c96c44c3" /><Relationship Type="http://schemas.openxmlformats.org/officeDocument/2006/relationships/notesSlide" Target="/ppt/notesSlides/notesSlide31.xml" Id="R80817efbb25c4a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337c11844944f9c" /><Relationship Type="http://schemas.openxmlformats.org/officeDocument/2006/relationships/notesSlide" Target="/ppt/notesSlides/notesSlide32.xml" Id="R506609c0e73d4b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d108daaa3264791" /><Relationship Type="http://schemas.openxmlformats.org/officeDocument/2006/relationships/notesSlide" Target="/ppt/notesSlides/notesSlide33.xml" Id="Rac4b1f1c86aa44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Daily MAE (units)</c:v>
          </c:tx>
          <c:spPr>
            <a:solidFill xmlns:a="http://schemas.openxmlformats.org/drawingml/2006/main">
              <a:srgbClr val="087E79"/>
            </a:solidFill>
          </c:spPr>
          <c:cat>
            <c:strRef>
              <c:f>'Chart Data'!$A$2:$A$4</c:f>
              <c:strCache>
                <c:ptCount val="3"/>
                <c:pt idx="0">
                  <c:v>Weekly benchmark</c:v>
                </c:pt>
                <c:pt idx="1">
                  <c:v>Small LSTM</c:v>
                </c:pt>
                <c:pt idx="2">
                  <c:v>Random forest</c:v>
                </c:pt>
              </c:strCache>
            </c:strRef>
          </c:cat>
          <c:val>
            <c:numRef>
              <c:f>'Chart Data'!$B$2:$B$4</c:f>
              <c:numCache>
                <c:formatCode>General</c:formatCode>
                <c:ptCount val="3"/>
                <c:pt idx="0">
                  <c:v>6.273</c:v>
                </c:pt>
                <c:pt idx="1">
                  <c:v>5.411</c:v>
                </c:pt>
                <c:pt idx="2">
                  <c:v>4.812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18324A"/>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xmlns:a="http://schemas.openxmlformats.org/drawingml/2006/main" w="9525">
              <a:solidFill>
                <a:srgbClr val="DAE5E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A7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18324A"/>
                </a:solidFill>
                <a:latin typeface="Arial"/>
                <a:ea typeface="Arial"/>
                <a:cs typeface="Arial"/>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FB7518-3DAB-4E03-965D-B517148C0793}"/>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2" name="">
            <a:extLst xmlns:a="http://schemas.openxmlformats.org/drawingml/2006/main">
              <a:ext uri="{FF2B5EF4-FFF2-40B4-BE49-F238E27FC236}">
                <a16:creationId xmlns:a16="http://schemas.microsoft.com/office/drawing/2014/main" id="{A2503CE2-5104-403B-AB08-6A3FA249D3D5}"/>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0D8F61C-8238-46EC-8489-41D8EF9397CA}"/>
              </a:ext>
            </a:extLst>
          </p:cNvPr>
          <p:cNvSpPr>
            <a:spLocks xmlns:a="http://schemas.openxmlformats.org/drawingml/2006/main" noGrp="1"/>
          </p:cNvSpPr>
          <p:nvPr/>
        </p:nvSpPr>
        <p:spPr>
          <a:xfrm xmlns:a="http://schemas.openxmlformats.org/drawingml/2006/main">
            <a:off x="619125" y="1362075"/>
            <a:ext cx="105727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900" b="1">
                <a:solidFill>
                  <a:srgbClr val="FFFFFF"/>
                </a:solidFill>
                <a:latin typeface="Arial"/>
                <a:ea typeface="Arial"/>
                <a:cs typeface="Arial"/>
              </a:defRPr>
            </a:defPPr>
          </a:lstStyle>
          <a:p xmlns:a="http://schemas.openxmlformats.org/drawingml/2006/main">
            <a:pPr>
              <a:defRPr sz="6900" b="1">
                <a:solidFill>
                  <a:srgbClr val="FFFFFF"/>
                </a:solidFill>
                <a:latin typeface="Arial"/>
                <a:ea typeface="Arial"/>
                <a:cs typeface="Arial"/>
              </a:defRPr>
            </a:pPr>
            <a:r>
              <a:rPr sz="6900" b="1">
                <a:solidFill>
                  <a:srgbClr val="FFFFFF"/>
                </a:solidFill>
                <a:latin typeface="Arial"/>
                <a:ea typeface="Arial"/>
                <a:cs typeface="Arial"/>
              </a:rPr>
              <a:t>StockSense</a:t>
            </a:r>
          </a:p>
        </p:txBody>
      </p:sp>
      <p:sp>
        <p:nvSpPr>
          <p:cNvPr id="4" name="">
            <a:extLst xmlns:a="http://schemas.openxmlformats.org/drawingml/2006/main">
              <a:ext uri="{FF2B5EF4-FFF2-40B4-BE49-F238E27FC236}">
                <a16:creationId xmlns:a16="http://schemas.microsoft.com/office/drawing/2014/main" id="{D6FC8ECC-038A-4B21-849F-C8D46C528A03}"/>
              </a:ext>
            </a:extLst>
          </p:cNvPr>
          <p:cNvSpPr>
            <a:spLocks xmlns:a="http://schemas.openxmlformats.org/drawingml/2006/main" noGrp="1"/>
          </p:cNvSpPr>
          <p:nvPr/>
        </p:nvSpPr>
        <p:spPr>
          <a:xfrm xmlns:a="http://schemas.openxmlformats.org/drawingml/2006/main">
            <a:off x="619125" y="2409825"/>
            <a:ext cx="4191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800" b="1">
                <a:solidFill>
                  <a:srgbClr val="A9E7D7"/>
                </a:solidFill>
                <a:latin typeface="Arial"/>
                <a:ea typeface="Arial"/>
                <a:cs typeface="Arial"/>
              </a:defRPr>
            </a:defPPr>
          </a:lstStyle>
          <a:p xmlns:a="http://schemas.openxmlformats.org/drawingml/2006/main">
            <a:pPr>
              <a:defRPr sz="7800" b="1">
                <a:solidFill>
                  <a:srgbClr val="A9E7D7"/>
                </a:solidFill>
                <a:latin typeface="Arial"/>
                <a:ea typeface="Arial"/>
                <a:cs typeface="Arial"/>
              </a:defRPr>
            </a:pPr>
            <a:r>
              <a:rPr sz="7800" b="1">
                <a:solidFill>
                  <a:srgbClr val="A9E7D7"/>
                </a:solidFill>
                <a:latin typeface="Arial"/>
                <a:ea typeface="Arial"/>
                <a:cs typeface="Arial"/>
              </a:rPr>
              <a:t>AI</a:t>
            </a:r>
          </a:p>
        </p:txBody>
      </p:sp>
      <p:sp>
        <p:nvSpPr>
          <p:cNvPr id="5" name="">
            <a:extLst xmlns:a="http://schemas.openxmlformats.org/drawingml/2006/main">
              <a:ext uri="{FF2B5EF4-FFF2-40B4-BE49-F238E27FC236}">
                <a16:creationId xmlns:a16="http://schemas.microsoft.com/office/drawing/2014/main" id="{F1186E64-299D-43EC-818B-BFFAEF42B678}"/>
              </a:ext>
            </a:extLst>
          </p:cNvPr>
          <p:cNvSpPr>
            <a:spLocks xmlns:a="http://schemas.openxmlformats.org/drawingml/2006/main" noGrp="1"/>
          </p:cNvSpPr>
          <p:nvPr/>
        </p:nvSpPr>
        <p:spPr>
          <a:xfrm xmlns:a="http://schemas.openxmlformats.org/drawingml/2006/main">
            <a:off x="666750" y="4019550"/>
            <a:ext cx="1057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A team walkthrough</a:t>
            </a:r>
          </a:p>
        </p:txBody>
      </p:sp>
      <p:sp>
        <p:nvSpPr>
          <p:cNvPr id="6" name="">
            <a:extLst xmlns:a="http://schemas.openxmlformats.org/drawingml/2006/main">
              <a:ext uri="{FF2B5EF4-FFF2-40B4-BE49-F238E27FC236}">
                <a16:creationId xmlns:a16="http://schemas.microsoft.com/office/drawing/2014/main" id="{9A92E576-91D3-4D83-84C8-77FD2CC23799}"/>
              </a:ext>
            </a:extLst>
          </p:cNvPr>
          <p:cNvSpPr>
            <a:spLocks xmlns:a="http://schemas.openxmlformats.org/drawingml/2006/main" noGrp="1"/>
          </p:cNvSpPr>
          <p:nvPr/>
        </p:nvSpPr>
        <p:spPr>
          <a:xfrm xmlns:a="http://schemas.openxmlformats.org/drawingml/2006/main">
            <a:off x="666750" y="4933950"/>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A9E7D7"/>
                </a:solidFill>
                <a:latin typeface="Arial"/>
                <a:ea typeface="Arial"/>
                <a:cs typeface="Arial"/>
              </a:defRPr>
            </a:defPPr>
          </a:lstStyle>
          <a:p xmlns:a="http://schemas.openxmlformats.org/drawingml/2006/main">
            <a:pPr>
              <a:defRPr sz="2325" b="0">
                <a:solidFill>
                  <a:srgbClr val="A9E7D7"/>
                </a:solidFill>
                <a:latin typeface="Arial"/>
                <a:ea typeface="Arial"/>
                <a:cs typeface="Arial"/>
              </a:defRPr>
            </a:pPr>
            <a:r>
              <a:rPr sz="2325" b="0">
                <a:solidFill>
                  <a:srgbClr val="A9E7D7"/>
                </a:solidFill>
                <a:latin typeface="Arial"/>
                <a:ea typeface="Arial"/>
                <a:cs typeface="Arial"/>
              </a:rPr>
              <a:t>The app, the stock calculation and the models</a:t>
            </a:r>
          </a:p>
        </p:txBody>
      </p:sp>
    </p:spTree>
    <p:extLst>
      <p:ext uri="{BB962C8B-B14F-4D97-AF65-F5344CB8AC3E}">
        <p14:creationId xmlns:p14="http://schemas.microsoft.com/office/powerpoint/2010/main" val="170224301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82ACB5-84A6-4807-8B1A-1E49D6A345C2}"/>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GROUP MEETING</a:t>
            </a:r>
          </a:p>
        </p:txBody>
      </p:sp>
      <p:sp>
        <p:nvSpPr>
          <p:cNvPr id="2" name="">
            <a:extLst xmlns:a="http://schemas.openxmlformats.org/drawingml/2006/main">
              <a:ext uri="{FF2B5EF4-FFF2-40B4-BE49-F238E27FC236}">
                <a16:creationId xmlns:a16="http://schemas.microsoft.com/office/drawing/2014/main" id="{2EA1BE44-FB28-4EC9-8668-99FABD81E8E0}"/>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What everyone should understand</a:t>
            </a:r>
          </a:p>
        </p:txBody>
      </p:sp>
      <p:sp>
        <p:nvSpPr>
          <p:cNvPr id="3" name="">
            <a:extLst xmlns:a="http://schemas.openxmlformats.org/drawingml/2006/main">
              <a:ext uri="{FF2B5EF4-FFF2-40B4-BE49-F238E27FC236}">
                <a16:creationId xmlns:a16="http://schemas.microsoft.com/office/drawing/2014/main" id="{2B6214A7-CAF3-45A0-A952-552CE7B3782E}"/>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42FCE93F-1340-45B9-8329-D331FE1A13F4}"/>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F988D79-FC1E-418F-97B3-9DB96D53A303}"/>
              </a:ext>
            </a:extLst>
          </p:cNvPr>
          <p:cNvSpPr>
            <a:spLocks xmlns:a="http://schemas.openxmlformats.org/drawingml/2006/main" noGrp="1"/>
          </p:cNvSpPr>
          <p:nvPr/>
        </p:nvSpPr>
        <p:spPr>
          <a:xfrm xmlns:a="http://schemas.openxmlformats.org/drawingml/2006/main">
            <a:off x="647700" y="19335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087E79"/>
                </a:solidFill>
                <a:latin typeface="Arial"/>
                <a:ea typeface="Arial"/>
                <a:cs typeface="Arial"/>
              </a:defRPr>
            </a:defPPr>
          </a:lstStyle>
          <a:p xmlns:a="http://schemas.openxmlformats.org/drawingml/2006/main">
            <a:pPr>
              <a:defRPr sz="2475" b="1">
                <a:solidFill>
                  <a:srgbClr val="087E79"/>
                </a:solidFill>
                <a:latin typeface="Arial"/>
                <a:ea typeface="Arial"/>
                <a:cs typeface="Arial"/>
              </a:defRPr>
            </a:pPr>
            <a:r>
              <a:rPr sz="2475" b="1">
                <a:solidFill>
                  <a:srgbClr val="087E7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5AFFF5D-F705-4A2D-A84D-80B07985AEF9}"/>
              </a:ext>
            </a:extLst>
          </p:cNvPr>
          <p:cNvSpPr>
            <a:spLocks xmlns:a="http://schemas.openxmlformats.org/drawingml/2006/main" noGrp="1"/>
          </p:cNvSpPr>
          <p:nvPr/>
        </p:nvSpPr>
        <p:spPr>
          <a:xfrm xmlns:a="http://schemas.openxmlformats.org/drawingml/2006/main">
            <a:off x="1504950" y="193357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324A"/>
                </a:solidFill>
                <a:latin typeface="Arial"/>
                <a:ea typeface="Arial"/>
                <a:cs typeface="Arial"/>
              </a:defRPr>
            </a:defPPr>
          </a:lstStyle>
          <a:p xmlns:a="http://schemas.openxmlformats.org/drawingml/2006/main">
            <a:pPr>
              <a:defRPr sz="2325" b="0">
                <a:solidFill>
                  <a:srgbClr val="18324A"/>
                </a:solidFill>
                <a:latin typeface="Arial"/>
                <a:ea typeface="Arial"/>
                <a:cs typeface="Arial"/>
              </a:defRPr>
            </a:pPr>
            <a:r>
              <a:rPr sz="2325" b="0">
                <a:solidFill>
                  <a:srgbClr val="18324A"/>
                </a:solidFill>
                <a:latin typeface="Arial"/>
                <a:ea typeface="Arial"/>
                <a:cs typeface="Arial"/>
              </a:rPr>
              <a:t>Read the forecast and explain its dates.</a:t>
            </a:r>
          </a:p>
        </p:txBody>
      </p:sp>
      <p:sp>
        <p:nvSpPr>
          <p:cNvPr id="7" name="">
            <a:extLst xmlns:a="http://schemas.openxmlformats.org/drawingml/2006/main">
              <a:ext uri="{FF2B5EF4-FFF2-40B4-BE49-F238E27FC236}">
                <a16:creationId xmlns:a16="http://schemas.microsoft.com/office/drawing/2014/main" id="{F87152BE-D88B-44BC-B40A-DD8B4A5FCF2E}"/>
              </a:ext>
            </a:extLst>
          </p:cNvPr>
          <p:cNvSpPr>
            <a:spLocks xmlns:a="http://schemas.openxmlformats.org/drawingml/2006/main" noGrp="1"/>
          </p:cNvSpPr>
          <p:nvPr/>
        </p:nvSpPr>
        <p:spPr>
          <a:xfrm xmlns:a="http://schemas.openxmlformats.org/drawingml/2006/main">
            <a:off x="6477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087E79"/>
                </a:solidFill>
                <a:latin typeface="Arial"/>
                <a:ea typeface="Arial"/>
                <a:cs typeface="Arial"/>
              </a:defRPr>
            </a:defPPr>
          </a:lstStyle>
          <a:p xmlns:a="http://schemas.openxmlformats.org/drawingml/2006/main">
            <a:pPr>
              <a:defRPr sz="2475" b="1">
                <a:solidFill>
                  <a:srgbClr val="087E79"/>
                </a:solidFill>
                <a:latin typeface="Arial"/>
                <a:ea typeface="Arial"/>
                <a:cs typeface="Arial"/>
              </a:defRPr>
            </a:pPr>
            <a:r>
              <a:rPr sz="2475" b="1">
                <a:solidFill>
                  <a:srgbClr val="087E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1CAA2F2-D9AA-4345-B166-5F59D5BF40A2}"/>
              </a:ext>
            </a:extLst>
          </p:cNvPr>
          <p:cNvSpPr>
            <a:spLocks xmlns:a="http://schemas.openxmlformats.org/drawingml/2006/main" noGrp="1"/>
          </p:cNvSpPr>
          <p:nvPr/>
        </p:nvSpPr>
        <p:spPr>
          <a:xfrm xmlns:a="http://schemas.openxmlformats.org/drawingml/2006/main">
            <a:off x="1504950" y="29146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324A"/>
                </a:solidFill>
                <a:latin typeface="Arial"/>
                <a:ea typeface="Arial"/>
                <a:cs typeface="Arial"/>
              </a:defRPr>
            </a:defPPr>
          </a:lstStyle>
          <a:p xmlns:a="http://schemas.openxmlformats.org/drawingml/2006/main">
            <a:pPr>
              <a:defRPr sz="2325" b="0">
                <a:solidFill>
                  <a:srgbClr val="18324A"/>
                </a:solidFill>
                <a:latin typeface="Arial"/>
                <a:ea typeface="Arial"/>
                <a:cs typeface="Arial"/>
              </a:defRPr>
            </a:pPr>
            <a:r>
              <a:rPr sz="2325" b="0">
                <a:solidFill>
                  <a:srgbClr val="18324A"/>
                </a:solidFill>
                <a:latin typeface="Arial"/>
                <a:ea typeface="Arial"/>
                <a:cs typeface="Arial"/>
              </a:rPr>
              <a:t>Calculate a stock order and explain the warning.</a:t>
            </a:r>
          </a:p>
        </p:txBody>
      </p:sp>
      <p:sp>
        <p:nvSpPr>
          <p:cNvPr id="9" name="">
            <a:extLst xmlns:a="http://schemas.openxmlformats.org/drawingml/2006/main">
              <a:ext uri="{FF2B5EF4-FFF2-40B4-BE49-F238E27FC236}">
                <a16:creationId xmlns:a16="http://schemas.microsoft.com/office/drawing/2014/main" id="{D5DC3482-D0A2-45AE-ADE4-2A0F90DAB1E9}"/>
              </a:ext>
            </a:extLst>
          </p:cNvPr>
          <p:cNvSpPr>
            <a:spLocks xmlns:a="http://schemas.openxmlformats.org/drawingml/2006/main" noGrp="1"/>
          </p:cNvSpPr>
          <p:nvPr/>
        </p:nvSpPr>
        <p:spPr>
          <a:xfrm xmlns:a="http://schemas.openxmlformats.org/drawingml/2006/main">
            <a:off x="647700" y="38957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087E79"/>
                </a:solidFill>
                <a:latin typeface="Arial"/>
                <a:ea typeface="Arial"/>
                <a:cs typeface="Arial"/>
              </a:defRPr>
            </a:defPPr>
          </a:lstStyle>
          <a:p xmlns:a="http://schemas.openxmlformats.org/drawingml/2006/main">
            <a:pPr>
              <a:defRPr sz="2475" b="1">
                <a:solidFill>
                  <a:srgbClr val="087E79"/>
                </a:solidFill>
                <a:latin typeface="Arial"/>
                <a:ea typeface="Arial"/>
                <a:cs typeface="Arial"/>
              </a:defRPr>
            </a:pPr>
            <a:r>
              <a:rPr sz="2475" b="1">
                <a:solidFill>
                  <a:srgbClr val="087E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BD2A6B1-298A-4A56-A854-E35D62B58375}"/>
              </a:ext>
            </a:extLst>
          </p:cNvPr>
          <p:cNvSpPr>
            <a:spLocks xmlns:a="http://schemas.openxmlformats.org/drawingml/2006/main" noGrp="1"/>
          </p:cNvSpPr>
          <p:nvPr/>
        </p:nvSpPr>
        <p:spPr>
          <a:xfrm xmlns:a="http://schemas.openxmlformats.org/drawingml/2006/main">
            <a:off x="1504950" y="38957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324A"/>
                </a:solidFill>
                <a:latin typeface="Arial"/>
                <a:ea typeface="Arial"/>
                <a:cs typeface="Arial"/>
              </a:defRPr>
            </a:defPPr>
          </a:lstStyle>
          <a:p xmlns:a="http://schemas.openxmlformats.org/drawingml/2006/main">
            <a:pPr>
              <a:defRPr sz="2325" b="0">
                <a:solidFill>
                  <a:srgbClr val="18324A"/>
                </a:solidFill>
                <a:latin typeface="Arial"/>
                <a:ea typeface="Arial"/>
                <a:cs typeface="Arial"/>
              </a:defRPr>
            </a:pPr>
            <a:r>
              <a:rPr sz="2325" b="0">
                <a:solidFill>
                  <a:srgbClr val="18324A"/>
                </a:solidFill>
                <a:latin typeface="Arial"/>
                <a:ea typeface="Arial"/>
                <a:cs typeface="Arial"/>
              </a:rPr>
              <a:t>Explain what each model does.</a:t>
            </a:r>
          </a:p>
        </p:txBody>
      </p:sp>
      <p:sp>
        <p:nvSpPr>
          <p:cNvPr id="11" name="">
            <a:extLst xmlns:a="http://schemas.openxmlformats.org/drawingml/2006/main">
              <a:ext uri="{FF2B5EF4-FFF2-40B4-BE49-F238E27FC236}">
                <a16:creationId xmlns:a16="http://schemas.microsoft.com/office/drawing/2014/main" id="{E2DB01F3-BF76-4774-995C-A4459ADF737A}"/>
              </a:ext>
            </a:extLst>
          </p:cNvPr>
          <p:cNvSpPr>
            <a:spLocks xmlns:a="http://schemas.openxmlformats.org/drawingml/2006/main" noGrp="1"/>
          </p:cNvSpPr>
          <p:nvPr/>
        </p:nvSpPr>
        <p:spPr>
          <a:xfrm xmlns:a="http://schemas.openxmlformats.org/drawingml/2006/main">
            <a:off x="647700" y="4876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087E79"/>
                </a:solidFill>
                <a:latin typeface="Arial"/>
                <a:ea typeface="Arial"/>
                <a:cs typeface="Arial"/>
              </a:defRPr>
            </a:defPPr>
          </a:lstStyle>
          <a:p xmlns:a="http://schemas.openxmlformats.org/drawingml/2006/main">
            <a:pPr>
              <a:defRPr sz="2475" b="1">
                <a:solidFill>
                  <a:srgbClr val="087E79"/>
                </a:solidFill>
                <a:latin typeface="Arial"/>
                <a:ea typeface="Arial"/>
                <a:cs typeface="Arial"/>
              </a:defRPr>
            </a:pPr>
            <a:r>
              <a:rPr sz="2475" b="1">
                <a:solidFill>
                  <a:srgbClr val="087E79"/>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485C9799-F5C7-4CD1-A3FD-46358E8C1B80}"/>
              </a:ext>
            </a:extLst>
          </p:cNvPr>
          <p:cNvSpPr>
            <a:spLocks xmlns:a="http://schemas.openxmlformats.org/drawingml/2006/main" noGrp="1"/>
          </p:cNvSpPr>
          <p:nvPr/>
        </p:nvSpPr>
        <p:spPr>
          <a:xfrm xmlns:a="http://schemas.openxmlformats.org/drawingml/2006/main">
            <a:off x="1504950" y="48768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324A"/>
                </a:solidFill>
                <a:latin typeface="Arial"/>
                <a:ea typeface="Arial"/>
                <a:cs typeface="Arial"/>
              </a:defRPr>
            </a:defPPr>
          </a:lstStyle>
          <a:p xmlns:a="http://schemas.openxmlformats.org/drawingml/2006/main">
            <a:pPr>
              <a:defRPr sz="2325" b="0">
                <a:solidFill>
                  <a:srgbClr val="18324A"/>
                </a:solidFill>
                <a:latin typeface="Arial"/>
                <a:ea typeface="Arial"/>
                <a:cs typeface="Arial"/>
              </a:defRPr>
            </a:pPr>
            <a:r>
              <a:rPr sz="2325" b="0">
                <a:solidFill>
                  <a:srgbClr val="18324A"/>
                </a:solidFill>
                <a:latin typeface="Arial"/>
                <a:ea typeface="Arial"/>
                <a:cs typeface="Arial"/>
              </a:rPr>
              <a:t>Interpret the results and answer a lecturer’s question.</a:t>
            </a:r>
          </a:p>
        </p:txBody>
      </p:sp>
    </p:spTree>
    <p:extLst>
      <p:ext uri="{BB962C8B-B14F-4D97-AF65-F5344CB8AC3E}">
        <p14:creationId xmlns:p14="http://schemas.microsoft.com/office/powerpoint/2010/main" val="397565917"/>
      </p:ext>
    </p:extLst>
  </p:cSld>
</p:sld>
</file>

<file path=ppt/slides/slide3.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43218B-FE15-41C6-A12D-C2565911A29B}"/>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BUSINESS PURPOSE</a:t>
            </a:r>
          </a:p>
        </p:txBody>
      </p:sp>
      <p:sp>
        <p:nvSpPr>
          <p:cNvPr id="2" name="">
            <a:extLst xmlns:a="http://schemas.openxmlformats.org/drawingml/2006/main">
              <a:ext uri="{FF2B5EF4-FFF2-40B4-BE49-F238E27FC236}">
                <a16:creationId xmlns:a16="http://schemas.microsoft.com/office/drawing/2014/main" id="{4B34D9F1-53B5-46F5-89DC-3CC98559A591}"/>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The manager’s stock decision</a:t>
            </a:r>
          </a:p>
        </p:txBody>
      </p:sp>
      <p:sp>
        <p:nvSpPr>
          <p:cNvPr id="3" name="">
            <a:extLst xmlns:a="http://schemas.openxmlformats.org/drawingml/2006/main">
              <a:ext uri="{FF2B5EF4-FFF2-40B4-BE49-F238E27FC236}">
                <a16:creationId xmlns:a16="http://schemas.microsoft.com/office/drawing/2014/main" id="{EB196CBD-75F3-42D6-8AB3-4C74147DAE90}"/>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873E80C-5E02-4F72-82C7-7EB71CF1471C}"/>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61D6A07-72F2-46A0-8260-B6A28C9BCAE4}"/>
              </a:ext>
            </a:extLst>
          </p:cNvPr>
          <p:cNvSpPr>
            <a:spLocks xmlns:a="http://schemas.openxmlformats.org/drawingml/2006/main" noGrp="1"/>
          </p:cNvSpPr>
          <p:nvPr/>
        </p:nvSpPr>
        <p:spPr>
          <a:xfrm xmlns:a="http://schemas.openxmlformats.org/drawingml/2006/main">
            <a:off x="628650" y="1943100"/>
            <a:ext cx="1066800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How many units should Sunrise Mini Market order?</a:t>
            </a:r>
          </a:p>
        </p:txBody>
      </p:sp>
      <p:sp>
        <p:nvSpPr>
          <p:cNvPr id="6" name="">
            <a:extLst xmlns:a="http://schemas.openxmlformats.org/drawingml/2006/main">
              <a:ext uri="{FF2B5EF4-FFF2-40B4-BE49-F238E27FC236}">
                <a16:creationId xmlns:a16="http://schemas.microsoft.com/office/drawing/2014/main" id="{6D20FF20-6540-4BFA-B101-2C92AA762D2B}"/>
              </a:ext>
            </a:extLst>
          </p:cNvPr>
          <p:cNvSpPr>
            <a:spLocks xmlns:a="http://schemas.openxmlformats.org/drawingml/2006/main" noGrp="1"/>
          </p:cNvSpPr>
          <p:nvPr/>
        </p:nvSpPr>
        <p:spPr>
          <a:xfrm xmlns:a="http://schemas.openxmlformats.org/drawingml/2006/main">
            <a:off x="666750" y="3952875"/>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0">
                <a:solidFill>
                  <a:srgbClr val="A9E7D7"/>
                </a:solidFill>
                <a:latin typeface="Arial"/>
                <a:ea typeface="Arial"/>
                <a:cs typeface="Arial"/>
              </a:defRPr>
            </a:defPPr>
          </a:lstStyle>
          <a:p xmlns:a="http://schemas.openxmlformats.org/drawingml/2006/main">
            <a:pPr>
              <a:defRPr sz="2625" b="0">
                <a:solidFill>
                  <a:srgbClr val="A9E7D7"/>
                </a:solidFill>
                <a:latin typeface="Arial"/>
                <a:ea typeface="Arial"/>
                <a:cs typeface="Arial"/>
              </a:defRPr>
            </a:pPr>
            <a:r>
              <a:rPr sz="2625" b="0">
                <a:solidFill>
                  <a:srgbClr val="A9E7D7"/>
                </a:solidFill>
                <a:latin typeface="Arial"/>
                <a:ea typeface="Arial"/>
                <a:cs typeface="Arial"/>
              </a:rPr>
              <a:t>The app estimates demand.</a:t>
            </a:r>
          </a:p>
        </p:txBody>
      </p:sp>
      <p:sp>
        <p:nvSpPr>
          <p:cNvPr id="7" name="">
            <a:extLst xmlns:a="http://schemas.openxmlformats.org/drawingml/2006/main">
              <a:ext uri="{FF2B5EF4-FFF2-40B4-BE49-F238E27FC236}">
                <a16:creationId xmlns:a16="http://schemas.microsoft.com/office/drawing/2014/main" id="{FF4189A7-73A0-4B09-AE5D-5AF2B7DB77DA}"/>
              </a:ext>
            </a:extLst>
          </p:cNvPr>
          <p:cNvSpPr>
            <a:spLocks xmlns:a="http://schemas.openxmlformats.org/drawingml/2006/main" noGrp="1"/>
          </p:cNvSpPr>
          <p:nvPr/>
        </p:nvSpPr>
        <p:spPr>
          <a:xfrm xmlns:a="http://schemas.openxmlformats.org/drawingml/2006/main">
            <a:off x="666750" y="4838700"/>
            <a:ext cx="104775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The manager enters stock and delivery details, then reviews the suggestion.</a:t>
            </a:r>
          </a:p>
        </p:txBody>
      </p:sp>
    </p:spTree>
    <p:extLst>
      <p:ext uri="{BB962C8B-B14F-4D97-AF65-F5344CB8AC3E}">
        <p14:creationId xmlns:p14="http://schemas.microsoft.com/office/powerpoint/2010/main" val="19578878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8A71FE-4D94-4F3B-9E84-34C87D0DCBB0}"/>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SALES DATA</a:t>
            </a:r>
          </a:p>
        </p:txBody>
      </p:sp>
      <p:sp>
        <p:nvSpPr>
          <p:cNvPr id="2" name="">
            <a:extLst xmlns:a="http://schemas.openxmlformats.org/drawingml/2006/main">
              <a:ext uri="{FF2B5EF4-FFF2-40B4-BE49-F238E27FC236}">
                <a16:creationId xmlns:a16="http://schemas.microsoft.com/office/drawing/2014/main" id="{D48F06A7-0479-46CD-A2E8-988492613836}"/>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Our dataset and scope</a:t>
            </a:r>
          </a:p>
        </p:txBody>
      </p:sp>
      <p:sp>
        <p:nvSpPr>
          <p:cNvPr id="3" name="">
            <a:extLst xmlns:a="http://schemas.openxmlformats.org/drawingml/2006/main">
              <a:ext uri="{FF2B5EF4-FFF2-40B4-BE49-F238E27FC236}">
                <a16:creationId xmlns:a16="http://schemas.microsoft.com/office/drawing/2014/main" id="{E0B7D652-9123-41FC-9D25-2BE0CB85A990}"/>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B5F3072A-58C5-4F9D-911D-FA9E161F1887}"/>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7FF250E-84B1-41F3-8C9D-461AD5B1652E}"/>
              </a:ext>
            </a:extLst>
          </p:cNvPr>
          <p:cNvSpPr>
            <a:spLocks xmlns:a="http://schemas.openxmlformats.org/drawingml/2006/main" noGrp="1"/>
          </p:cNvSpPr>
          <p:nvPr/>
        </p:nvSpPr>
        <p:spPr>
          <a:xfrm xmlns:a="http://schemas.openxmlformats.org/drawingml/2006/main">
            <a:off x="666750" y="1962150"/>
            <a:ext cx="27146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0D233CD-021B-4DFC-B070-60C55CADDC8B}"/>
              </a:ext>
            </a:extLst>
          </p:cNvPr>
          <p:cNvSpPr>
            <a:spLocks xmlns:a="http://schemas.openxmlformats.org/drawingml/2006/main" noGrp="1"/>
          </p:cNvSpPr>
          <p:nvPr/>
        </p:nvSpPr>
        <p:spPr>
          <a:xfrm xmlns:a="http://schemas.openxmlformats.org/drawingml/2006/main">
            <a:off x="4514850" y="1962150"/>
            <a:ext cx="27146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DA6020B3-4DB5-43A1-907C-D46AF7426B18}"/>
              </a:ext>
            </a:extLst>
          </p:cNvPr>
          <p:cNvSpPr>
            <a:spLocks xmlns:a="http://schemas.openxmlformats.org/drawingml/2006/main" noGrp="1"/>
          </p:cNvSpPr>
          <p:nvPr/>
        </p:nvSpPr>
        <p:spPr>
          <a:xfrm xmlns:a="http://schemas.openxmlformats.org/drawingml/2006/main">
            <a:off x="8410575" y="1962150"/>
            <a:ext cx="27146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118EEAC8-DC4C-412C-8413-513BE242C568}"/>
              </a:ext>
            </a:extLst>
          </p:cNvPr>
          <p:cNvSpPr>
            <a:spLocks xmlns:a="http://schemas.openxmlformats.org/drawingml/2006/main" noGrp="1"/>
          </p:cNvSpPr>
          <p:nvPr/>
        </p:nvSpPr>
        <p:spPr>
          <a:xfrm xmlns:a="http://schemas.openxmlformats.org/drawingml/2006/main">
            <a:off x="666750" y="3343275"/>
            <a:ext cx="3162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8324A"/>
                </a:solidFill>
                <a:latin typeface="Arial"/>
                <a:ea typeface="Arial"/>
                <a:cs typeface="Arial"/>
              </a:defRPr>
            </a:defPPr>
          </a:lstStyle>
          <a:p xmlns:a="http://schemas.openxmlformats.org/drawingml/2006/main">
            <a:pPr>
              <a:defRPr sz="2250" b="1">
                <a:solidFill>
                  <a:srgbClr val="18324A"/>
                </a:solidFill>
                <a:latin typeface="Arial"/>
                <a:ea typeface="Arial"/>
                <a:cs typeface="Arial"/>
              </a:defRPr>
            </a:pPr>
            <a:r>
              <a:rPr sz="2250" b="1">
                <a:solidFill>
                  <a:srgbClr val="18324A"/>
                </a:solidFill>
                <a:latin typeface="Arial"/>
                <a:ea typeface="Arial"/>
                <a:cs typeface="Arial"/>
              </a:rPr>
              <a:t>fictional store</a:t>
            </a:r>
          </a:p>
        </p:txBody>
      </p:sp>
      <p:sp>
        <p:nvSpPr>
          <p:cNvPr id="9" name="">
            <a:extLst xmlns:a="http://schemas.openxmlformats.org/drawingml/2006/main">
              <a:ext uri="{FF2B5EF4-FFF2-40B4-BE49-F238E27FC236}">
                <a16:creationId xmlns:a16="http://schemas.microsoft.com/office/drawing/2014/main" id="{A22C6649-21A6-4264-9894-A3048DE7609E}"/>
              </a:ext>
            </a:extLst>
          </p:cNvPr>
          <p:cNvSpPr>
            <a:spLocks xmlns:a="http://schemas.openxmlformats.org/drawingml/2006/main" noGrp="1"/>
          </p:cNvSpPr>
          <p:nvPr/>
        </p:nvSpPr>
        <p:spPr>
          <a:xfrm xmlns:a="http://schemas.openxmlformats.org/drawingml/2006/main">
            <a:off x="4514850" y="3343275"/>
            <a:ext cx="3162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8324A"/>
                </a:solidFill>
                <a:latin typeface="Arial"/>
                <a:ea typeface="Arial"/>
                <a:cs typeface="Arial"/>
              </a:defRPr>
            </a:defPPr>
          </a:lstStyle>
          <a:p xmlns:a="http://schemas.openxmlformats.org/drawingml/2006/main">
            <a:pPr>
              <a:defRPr sz="2250" b="1">
                <a:solidFill>
                  <a:srgbClr val="18324A"/>
                </a:solidFill>
                <a:latin typeface="Arial"/>
                <a:ea typeface="Arial"/>
                <a:cs typeface="Arial"/>
              </a:defRPr>
            </a:pPr>
            <a:r>
              <a:rPr sz="2250" b="1">
                <a:solidFill>
                  <a:srgbClr val="18324A"/>
                </a:solidFill>
                <a:latin typeface="Arial"/>
                <a:ea typeface="Arial"/>
                <a:cs typeface="Arial"/>
              </a:rPr>
              <a:t>anonymous products</a:t>
            </a:r>
          </a:p>
        </p:txBody>
      </p:sp>
      <p:sp>
        <p:nvSpPr>
          <p:cNvPr id="10" name="">
            <a:extLst xmlns:a="http://schemas.openxmlformats.org/drawingml/2006/main">
              <a:ext uri="{FF2B5EF4-FFF2-40B4-BE49-F238E27FC236}">
                <a16:creationId xmlns:a16="http://schemas.microsoft.com/office/drawing/2014/main" id="{5E384D63-BEA8-4D8C-A5AB-293D2DE506FF}"/>
              </a:ext>
            </a:extLst>
          </p:cNvPr>
          <p:cNvSpPr>
            <a:spLocks xmlns:a="http://schemas.openxmlformats.org/drawingml/2006/main" noGrp="1"/>
          </p:cNvSpPr>
          <p:nvPr/>
        </p:nvSpPr>
        <p:spPr>
          <a:xfrm xmlns:a="http://schemas.openxmlformats.org/drawingml/2006/main">
            <a:off x="8410575" y="3343275"/>
            <a:ext cx="3162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8324A"/>
                </a:solidFill>
                <a:latin typeface="Arial"/>
                <a:ea typeface="Arial"/>
                <a:cs typeface="Arial"/>
              </a:defRPr>
            </a:defPPr>
          </a:lstStyle>
          <a:p xmlns:a="http://schemas.openxmlformats.org/drawingml/2006/main">
            <a:pPr>
              <a:defRPr sz="2250" b="1">
                <a:solidFill>
                  <a:srgbClr val="18324A"/>
                </a:solidFill>
                <a:latin typeface="Arial"/>
                <a:ea typeface="Arial"/>
                <a:cs typeface="Arial"/>
              </a:defRPr>
            </a:pPr>
            <a:r>
              <a:rPr sz="2250" b="1">
                <a:solidFill>
                  <a:srgbClr val="18324A"/>
                </a:solidFill>
                <a:latin typeface="Arial"/>
                <a:ea typeface="Arial"/>
                <a:cs typeface="Arial"/>
              </a:rPr>
              <a:t>forecast days</a:t>
            </a:r>
          </a:p>
        </p:txBody>
      </p:sp>
      <p:sp>
        <p:nvSpPr>
          <p:cNvPr id="11" name="">
            <a:extLst xmlns:a="http://schemas.openxmlformats.org/drawingml/2006/main">
              <a:ext uri="{FF2B5EF4-FFF2-40B4-BE49-F238E27FC236}">
                <a16:creationId xmlns:a16="http://schemas.microsoft.com/office/drawing/2014/main" id="{D490B572-14E2-4FC0-A7CF-FE2E8ACF6D76}"/>
              </a:ext>
            </a:extLst>
          </p:cNvPr>
          <p:cNvSpPr>
            <a:spLocks xmlns:a="http://schemas.openxmlformats.org/drawingml/2006/main" noGrp="1"/>
          </p:cNvSpPr>
          <p:nvPr/>
        </p:nvSpPr>
        <p:spPr>
          <a:xfrm xmlns:a="http://schemas.openxmlformats.org/drawingml/2006/main">
            <a:off x="666750" y="45434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913,000 source rows. 9,130 rows in our chosen scope.</a:t>
            </a:r>
          </a:p>
        </p:txBody>
      </p:sp>
      <p:sp>
        <p:nvSpPr>
          <p:cNvPr id="12" name="">
            <a:extLst xmlns:a="http://schemas.openxmlformats.org/drawingml/2006/main">
              <a:ext uri="{FF2B5EF4-FFF2-40B4-BE49-F238E27FC236}">
                <a16:creationId xmlns:a16="http://schemas.microsoft.com/office/drawing/2014/main" id="{D751CC53-0927-47AD-A76D-EF0749E13B5E}"/>
              </a:ext>
            </a:extLst>
          </p:cNvPr>
          <p:cNvSpPr>
            <a:spLocks xmlns:a="http://schemas.openxmlformats.org/drawingml/2006/main" noGrp="1"/>
          </p:cNvSpPr>
          <p:nvPr/>
        </p:nvSpPr>
        <p:spPr>
          <a:xfrm xmlns:a="http://schemas.openxmlformats.org/drawingml/2006/main">
            <a:off x="666750" y="5372100"/>
            <a:ext cx="10477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87E79"/>
                </a:solidFill>
                <a:latin typeface="Arial"/>
                <a:ea typeface="Arial"/>
                <a:cs typeface="Arial"/>
              </a:defRPr>
            </a:defPPr>
          </a:lstStyle>
          <a:p xmlns:a="http://schemas.openxmlformats.org/drawingml/2006/main">
            <a:pPr>
              <a:defRPr sz="2325" b="1">
                <a:solidFill>
                  <a:srgbClr val="087E79"/>
                </a:solidFill>
                <a:latin typeface="Arial"/>
                <a:ea typeface="Arial"/>
                <a:cs typeface="Arial"/>
              </a:defRPr>
            </a:pPr>
            <a:r>
              <a:rPr sz="2325" b="1">
                <a:solidFill>
                  <a:srgbClr val="087E79"/>
                </a:solidFill>
                <a:latin typeface="Arial"/>
                <a:ea typeface="Arial"/>
                <a:cs typeface="Arial"/>
              </a:rPr>
              <a:t>Daily sales from 2013 to 2017</a:t>
            </a:r>
          </a:p>
        </p:txBody>
      </p:sp>
    </p:spTree>
    <p:extLst>
      <p:ext uri="{BB962C8B-B14F-4D97-AF65-F5344CB8AC3E}">
        <p14:creationId xmlns:p14="http://schemas.microsoft.com/office/powerpoint/2010/main" val="110837829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4E7F61-1029-433B-999E-A9E47D1081FE}"/>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 SMALL EXAMPLE</a:t>
            </a:r>
          </a:p>
        </p:txBody>
      </p:sp>
      <p:sp>
        <p:nvSpPr>
          <p:cNvPr id="2" name="">
            <a:extLst xmlns:a="http://schemas.openxmlformats.org/drawingml/2006/main">
              <a:ext uri="{FF2B5EF4-FFF2-40B4-BE49-F238E27FC236}">
                <a16:creationId xmlns:a16="http://schemas.microsoft.com/office/drawing/2014/main" id="{944E3476-2CFB-484A-B66D-3CBD779E5179}"/>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What one data row means</a:t>
            </a:r>
          </a:p>
        </p:txBody>
      </p:sp>
      <p:sp>
        <p:nvSpPr>
          <p:cNvPr id="3" name="">
            <a:extLst xmlns:a="http://schemas.openxmlformats.org/drawingml/2006/main">
              <a:ext uri="{FF2B5EF4-FFF2-40B4-BE49-F238E27FC236}">
                <a16:creationId xmlns:a16="http://schemas.microsoft.com/office/drawing/2014/main" id="{6CC6CC6A-C58F-4147-9F31-A2DA0DC5A6D8}"/>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AA66E0D-39E8-46AF-90E0-404D904687FD}"/>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679EC66F-FAEE-4F6A-8961-C61C008BAB0D}"/>
              </a:ext>
            </a:extLst>
          </p:cNvPr>
          <p:cNvGraphicFramePr/>
          <p:nvPr/>
        </p:nvGraphicFramePr>
        <p:xfrm>
          <a:off xmlns:a="http://schemas.openxmlformats.org/drawingml/2006/main" x="619125" y="1943100"/>
          <a:ext xmlns:a="http://schemas.openxmlformats.org/drawingml/2006/main" cx="10858500" cy="2400300"/>
        </p:xfrm>
        <a:graphic xmlns:a="http://schemas.openxmlformats.org/drawingml/2006/main">
          <a:graphicData uri="http://schemas.openxmlformats.org/drawingml/2006/table">
            <a:tbl>
              <a:tblPr/>
              <a:tblGrid>
                <a:gridCol w="4286250"/>
                <a:gridCol w="1809750"/>
                <a:gridCol w="1809750"/>
                <a:gridCol w="2952750"/>
              </a:tblGrid>
              <a:tr h="600075">
                <a:tc>
                  <a:txBody>
                    <a:bodyPr/>
                    <a:lstStyle/>
                    <a:p>
                      <a:r>
                        <a:rPr sz="2250" b="1">
                          <a:solidFill>
                            <a:srgbClr val="FFFFFF"/>
                          </a:solidFill>
                          <a:latin typeface="Arial"/>
                          <a:ea typeface="Arial"/>
                          <a:cs typeface="Arial"/>
                        </a:rPr>
                        <a:t>Date</a:t>
                      </a:r>
                    </a:p>
                  </a:txBody>
                  <a:tcPr marL="123825" marR="123825" marT="66675" marB="66675" anchor="ctr">
                    <a:solidFill>
                      <a:srgbClr val="087E79"/>
                    </a:solidFill>
                  </a:tcPr>
                </a:tc>
                <a:tc>
                  <a:txBody>
                    <a:bodyPr/>
                    <a:lstStyle/>
                    <a:p>
                      <a:r>
                        <a:rPr sz="2250" b="1">
                          <a:solidFill>
                            <a:srgbClr val="FFFFFF"/>
                          </a:solidFill>
                          <a:latin typeface="Arial"/>
                          <a:ea typeface="Arial"/>
                          <a:cs typeface="Arial"/>
                        </a:rPr>
                        <a:t>Store</a:t>
                      </a:r>
                    </a:p>
                  </a:txBody>
                  <a:tcPr marL="123825" marR="123825" marT="66675" marB="66675" anchor="ctr">
                    <a:solidFill>
                      <a:srgbClr val="087E79"/>
                    </a:solidFill>
                  </a:tcPr>
                </a:tc>
                <a:tc>
                  <a:txBody>
                    <a:bodyPr/>
                    <a:lstStyle/>
                    <a:p>
                      <a:r>
                        <a:rPr sz="2250" b="1">
                          <a:solidFill>
                            <a:srgbClr val="FFFFFF"/>
                          </a:solidFill>
                          <a:latin typeface="Arial"/>
                          <a:ea typeface="Arial"/>
                          <a:cs typeface="Arial"/>
                        </a:rPr>
                        <a:t>Item</a:t>
                      </a:r>
                    </a:p>
                  </a:txBody>
                  <a:tcPr marL="123825" marR="123825" marT="66675" marB="66675" anchor="ctr">
                    <a:solidFill>
                      <a:srgbClr val="087E79"/>
                    </a:solidFill>
                  </a:tcPr>
                </a:tc>
                <a:tc>
                  <a:txBody>
                    <a:bodyPr/>
                    <a:lstStyle/>
                    <a:p>
                      <a:r>
                        <a:rPr sz="2250" b="1">
                          <a:solidFill>
                            <a:srgbClr val="FFFFFF"/>
                          </a:solidFill>
                          <a:latin typeface="Arial"/>
                          <a:ea typeface="Arial"/>
                          <a:cs typeface="Arial"/>
                        </a:rPr>
                        <a:t>Sales (units)</a:t>
                      </a:r>
                    </a:p>
                  </a:txBody>
                  <a:tcPr marL="123825" marR="123825" marT="66675" marB="66675" anchor="ctr">
                    <a:solidFill>
                      <a:srgbClr val="087E79"/>
                    </a:solidFill>
                  </a:tcPr>
                </a:tc>
              </a:tr>
              <a:tr h="600075">
                <a:tc>
                  <a:txBody>
                    <a:bodyPr/>
                    <a:lstStyle/>
                    <a:p>
                      <a:r>
                        <a:rPr sz="2250" b="0">
                          <a:solidFill>
                            <a:srgbClr val="18324A"/>
                          </a:solidFill>
                          <a:latin typeface="Arial"/>
                          <a:ea typeface="Arial"/>
                          <a:cs typeface="Arial"/>
                        </a:rPr>
                        <a:t>2013-01-01</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13</a:t>
                      </a:r>
                    </a:p>
                  </a:txBody>
                  <a:tcPr marL="123825" marR="123825" marT="66675" marB="66675" anchor="ctr">
                    <a:solidFill>
                      <a:srgbClr val="FFFFFF"/>
                    </a:solidFill>
                  </a:tcPr>
                </a:tc>
              </a:tr>
              <a:tr h="600075">
                <a:tc>
                  <a:txBody>
                    <a:bodyPr/>
                    <a:lstStyle/>
                    <a:p>
                      <a:r>
                        <a:rPr sz="2250" b="0">
                          <a:solidFill>
                            <a:srgbClr val="18324A"/>
                          </a:solidFill>
                          <a:latin typeface="Arial"/>
                          <a:ea typeface="Arial"/>
                          <a:cs typeface="Arial"/>
                        </a:rPr>
                        <a:t>2013-01-02</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11</a:t>
                      </a:r>
                    </a:p>
                  </a:txBody>
                  <a:tcPr marL="123825" marR="123825" marT="66675" marB="66675" anchor="ctr">
                    <a:solidFill>
                      <a:srgbClr val="F7F5F0"/>
                    </a:solidFill>
                  </a:tcPr>
                </a:tc>
              </a:tr>
              <a:tr h="600075">
                <a:tc>
                  <a:txBody>
                    <a:bodyPr/>
                    <a:lstStyle/>
                    <a:p>
                      <a:r>
                        <a:rPr sz="2250" b="0">
                          <a:solidFill>
                            <a:srgbClr val="18324A"/>
                          </a:solidFill>
                          <a:latin typeface="Arial"/>
                          <a:ea typeface="Arial"/>
                          <a:cs typeface="Arial"/>
                        </a:rPr>
                        <a:t>2013-01-03</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14</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7E0847A-F254-4D58-9C4A-39B0F99CA61A}"/>
              </a:ext>
            </a:extLst>
          </p:cNvPr>
          <p:cNvSpPr>
            <a:spLocks xmlns:a="http://schemas.openxmlformats.org/drawingml/2006/main" noGrp="1"/>
          </p:cNvSpPr>
          <p:nvPr/>
        </p:nvSpPr>
        <p:spPr>
          <a:xfrm xmlns:a="http://schemas.openxmlformats.org/drawingml/2006/main">
            <a:off x="666750" y="47053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87E79"/>
                </a:solidFill>
                <a:latin typeface="Arial"/>
                <a:ea typeface="Arial"/>
                <a:cs typeface="Arial"/>
              </a:defRPr>
            </a:defPPr>
          </a:lstStyle>
          <a:p xmlns:a="http://schemas.openxmlformats.org/drawingml/2006/main">
            <a:pPr>
              <a:defRPr sz="2625" b="1">
                <a:solidFill>
                  <a:srgbClr val="087E79"/>
                </a:solidFill>
                <a:latin typeface="Arial"/>
                <a:ea typeface="Arial"/>
                <a:cs typeface="Arial"/>
              </a:defRPr>
            </a:pPr>
            <a:r>
              <a:rPr sz="2625" b="1">
                <a:solidFill>
                  <a:srgbClr val="087E79"/>
                </a:solidFill>
                <a:latin typeface="Arial"/>
                <a:ea typeface="Arial"/>
                <a:cs typeface="Arial"/>
              </a:rPr>
              <a:t>13 means units sold on that date.</a:t>
            </a:r>
          </a:p>
        </p:txBody>
      </p:sp>
      <p:sp>
        <p:nvSpPr>
          <p:cNvPr id="7" name="">
            <a:extLst xmlns:a="http://schemas.openxmlformats.org/drawingml/2006/main">
              <a:ext uri="{FF2B5EF4-FFF2-40B4-BE49-F238E27FC236}">
                <a16:creationId xmlns:a16="http://schemas.microsoft.com/office/drawing/2014/main" id="{1F80A76F-E662-4A67-93B9-28A8123E9CF2}"/>
              </a:ext>
            </a:extLst>
          </p:cNvPr>
          <p:cNvSpPr>
            <a:spLocks xmlns:a="http://schemas.openxmlformats.org/drawingml/2006/main" noGrp="1"/>
          </p:cNvSpPr>
          <p:nvPr/>
        </p:nvSpPr>
        <p:spPr>
          <a:xfrm xmlns:a="http://schemas.openxmlformats.org/drawingml/2006/main">
            <a:off x="666750" y="54959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36A78"/>
                </a:solidFill>
                <a:latin typeface="Arial"/>
                <a:ea typeface="Arial"/>
                <a:cs typeface="Arial"/>
              </a:defRPr>
            </a:defPPr>
          </a:lstStyle>
          <a:p xmlns:a="http://schemas.openxmlformats.org/drawingml/2006/main">
            <a:pPr>
              <a:defRPr sz="1950" b="0">
                <a:solidFill>
                  <a:srgbClr val="536A78"/>
                </a:solidFill>
                <a:latin typeface="Arial"/>
                <a:ea typeface="Arial"/>
                <a:cs typeface="Arial"/>
              </a:defRPr>
            </a:pPr>
            <a:r>
              <a:rPr sz="1950" b="0">
                <a:solidFill>
                  <a:srgbClr val="536A78"/>
                </a:solidFill>
                <a:latin typeface="Arial"/>
                <a:ea typeface="Arial"/>
                <a:cs typeface="Arial"/>
              </a:rPr>
              <a:t>Stock levels, prices and supplier details require separate inputs.</a:t>
            </a:r>
          </a:p>
        </p:txBody>
      </p:sp>
    </p:spTree>
    <p:extLst>
      <p:ext uri="{BB962C8B-B14F-4D97-AF65-F5344CB8AC3E}">
        <p14:creationId xmlns:p14="http://schemas.microsoft.com/office/powerpoint/2010/main" val="1498682913"/>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FEBEAB-6E20-4254-B8FB-A3FC0BB5AEDF}"/>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APP TOUR</a:t>
            </a:r>
          </a:p>
        </p:txBody>
      </p:sp>
      <p:sp>
        <p:nvSpPr>
          <p:cNvPr id="2" name="">
            <a:extLst xmlns:a="http://schemas.openxmlformats.org/drawingml/2006/main">
              <a:ext uri="{FF2B5EF4-FFF2-40B4-BE49-F238E27FC236}">
                <a16:creationId xmlns:a16="http://schemas.microsoft.com/office/drawing/2014/main" id="{29845AF1-020F-4E52-83D0-E5318F36F70D}"/>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system at a glance</a:t>
            </a:r>
          </a:p>
        </p:txBody>
      </p:sp>
      <p:sp>
        <p:nvSpPr>
          <p:cNvPr id="3" name="">
            <a:extLst xmlns:a="http://schemas.openxmlformats.org/drawingml/2006/main">
              <a:ext uri="{FF2B5EF4-FFF2-40B4-BE49-F238E27FC236}">
                <a16:creationId xmlns:a16="http://schemas.microsoft.com/office/drawing/2014/main" id="{5BCC6B83-7872-47FB-8C0E-B452C86A0A3D}"/>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D61F2AF4-AE52-4727-A0C9-AB367EAA4859}"/>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8798EA4-A2E2-4A82-9414-3BE3D54D09BF}"/>
              </a:ext>
            </a:extLst>
          </p:cNvPr>
          <p:cNvSpPr>
            <a:spLocks xmlns:a="http://schemas.openxmlformats.org/drawingml/2006/main" noGrp="1"/>
          </p:cNvSpPr>
          <p:nvPr/>
        </p:nvSpPr>
        <p:spPr>
          <a:xfrm xmlns:a="http://schemas.openxmlformats.org/drawingml/2006/main">
            <a:off x="619125" y="2057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629B211-944B-4113-BB8F-C4A8C5171B19}"/>
              </a:ext>
            </a:extLst>
          </p:cNvPr>
          <p:cNvSpPr>
            <a:spLocks xmlns:a="http://schemas.openxmlformats.org/drawingml/2006/main" noGrp="1"/>
          </p:cNvSpPr>
          <p:nvPr/>
        </p:nvSpPr>
        <p:spPr>
          <a:xfrm xmlns:a="http://schemas.openxmlformats.org/drawingml/2006/main">
            <a:off x="1476375" y="2057400"/>
            <a:ext cx="3686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Product selection and recent sales</a:t>
            </a:r>
          </a:p>
        </p:txBody>
      </p:sp>
      <p:sp>
        <p:nvSpPr>
          <p:cNvPr id="7" name="">
            <a:extLst xmlns:a="http://schemas.openxmlformats.org/drawingml/2006/main">
              <a:ext uri="{FF2B5EF4-FFF2-40B4-BE49-F238E27FC236}">
                <a16:creationId xmlns:a16="http://schemas.microsoft.com/office/drawing/2014/main" id="{6110E3F6-99DF-4754-95AE-A0D31F8365DE}"/>
              </a:ext>
            </a:extLst>
          </p:cNvPr>
          <p:cNvSpPr>
            <a:spLocks xmlns:a="http://schemas.openxmlformats.org/drawingml/2006/main" noGrp="1"/>
          </p:cNvSpPr>
          <p:nvPr/>
        </p:nvSpPr>
        <p:spPr>
          <a:xfrm xmlns:a="http://schemas.openxmlformats.org/drawingml/2006/main">
            <a:off x="619125" y="30003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AE7DC4A-85A5-4848-ADBB-F5D3FFF78F29}"/>
              </a:ext>
            </a:extLst>
          </p:cNvPr>
          <p:cNvSpPr>
            <a:spLocks xmlns:a="http://schemas.openxmlformats.org/drawingml/2006/main" noGrp="1"/>
          </p:cNvSpPr>
          <p:nvPr/>
        </p:nvSpPr>
        <p:spPr>
          <a:xfrm xmlns:a="http://schemas.openxmlformats.org/drawingml/2006/main">
            <a:off x="1476375" y="3000375"/>
            <a:ext cx="3686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History and seven-day forecast</a:t>
            </a:r>
          </a:p>
        </p:txBody>
      </p:sp>
      <p:sp>
        <p:nvSpPr>
          <p:cNvPr id="9" name="">
            <a:extLst xmlns:a="http://schemas.openxmlformats.org/drawingml/2006/main">
              <a:ext uri="{FF2B5EF4-FFF2-40B4-BE49-F238E27FC236}">
                <a16:creationId xmlns:a16="http://schemas.microsoft.com/office/drawing/2014/main" id="{55A91E79-4DF1-4B7B-8263-2D46C3C90D6D}"/>
              </a:ext>
            </a:extLst>
          </p:cNvPr>
          <p:cNvSpPr>
            <a:spLocks xmlns:a="http://schemas.openxmlformats.org/drawingml/2006/main" noGrp="1"/>
          </p:cNvSpPr>
          <p:nvPr/>
        </p:nvSpPr>
        <p:spPr>
          <a:xfrm xmlns:a="http://schemas.openxmlformats.org/drawingml/2006/main">
            <a:off x="619125" y="3943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7C110B1-F507-4B66-B2CD-C83593791608}"/>
              </a:ext>
            </a:extLst>
          </p:cNvPr>
          <p:cNvSpPr>
            <a:spLocks xmlns:a="http://schemas.openxmlformats.org/drawingml/2006/main" noGrp="1"/>
          </p:cNvSpPr>
          <p:nvPr/>
        </p:nvSpPr>
        <p:spPr>
          <a:xfrm xmlns:a="http://schemas.openxmlformats.org/drawingml/2006/main">
            <a:off x="1476375" y="3943350"/>
            <a:ext cx="3686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Stock planning and warnings</a:t>
            </a:r>
          </a:p>
        </p:txBody>
      </p:sp>
      <p:sp>
        <p:nvSpPr>
          <p:cNvPr id="11" name="">
            <a:extLst xmlns:a="http://schemas.openxmlformats.org/drawingml/2006/main">
              <a:ext uri="{FF2B5EF4-FFF2-40B4-BE49-F238E27FC236}">
                <a16:creationId xmlns:a16="http://schemas.microsoft.com/office/drawing/2014/main" id="{E6037750-121F-478E-89F9-7BA9831B0E40}"/>
              </a:ext>
            </a:extLst>
          </p:cNvPr>
          <p:cNvSpPr>
            <a:spLocks xmlns:a="http://schemas.openxmlformats.org/drawingml/2006/main" noGrp="1"/>
          </p:cNvSpPr>
          <p:nvPr/>
        </p:nvSpPr>
        <p:spPr>
          <a:xfrm xmlns:a="http://schemas.openxmlformats.org/drawingml/2006/main">
            <a:off x="619125" y="48863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D6C2F4D9-1368-422E-9514-872387A811CF}"/>
              </a:ext>
            </a:extLst>
          </p:cNvPr>
          <p:cNvSpPr>
            <a:spLocks xmlns:a="http://schemas.openxmlformats.org/drawingml/2006/main" noGrp="1"/>
          </p:cNvSpPr>
          <p:nvPr/>
        </p:nvSpPr>
        <p:spPr>
          <a:xfrm xmlns:a="http://schemas.openxmlformats.org/drawingml/2006/main">
            <a:off x="1476375" y="4886325"/>
            <a:ext cx="3686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Questions and model results</a:t>
            </a:r>
          </a:p>
        </p:txBody>
      </p:sp>
      <p:pic>
        <p:nvPicPr>
          <p:cNvPr id="13" name="">
            <a:extLst xmlns:a="http://schemas.openxmlformats.org/drawingml/2006/main">
              <a:ext uri="{FF2B5EF4-FFF2-40B4-BE49-F238E27FC236}">
                <a16:creationId xmlns:a16="http://schemas.microsoft.com/office/drawing/2014/main" id="{50822274-3C81-4D12-83B1-AF5798F1B207}"/>
              </a:ext>
            </a:extLst>
          </p:cNvPr>
          <p:cNvPicPr>
            <a:picLocks xmlns:a="http://schemas.openxmlformats.org/drawingml/2006/main" noChangeAspect="1"/>
          </p:cNvPicPr>
          <p:nvPr/>
        </p:nvPicPr>
        <p:blipFill>
          <a:blip xmlns:r="http://schemas.openxmlformats.org/officeDocument/2006/relationships" xmlns:a="http://schemas.openxmlformats.org/drawingml/2006/main" r:embed="R7b05a8facaaf4d85"/>
          <a:stretch xmlns:a="http://schemas.openxmlformats.org/drawingml/2006/main"/>
        </p:blipFill>
        <p:spPr>
          <a:xfrm xmlns:a="http://schemas.openxmlformats.org/drawingml/2006/main">
            <a:off x="7163579" y="1743075"/>
            <a:ext cx="2722592" cy="4438650"/>
          </a:xfrm>
          <a:prstGeom xmlns:a="http://schemas.openxmlformats.org/drawingml/2006/main" prst="rect">
            <a:avLst/>
          </a:prstGeom>
        </p:spPr>
      </p:pic>
    </p:spTree>
    <p:extLst>
      <p:ext uri="{BB962C8B-B14F-4D97-AF65-F5344CB8AC3E}">
        <p14:creationId xmlns:p14="http://schemas.microsoft.com/office/powerpoint/2010/main" val="122208733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84B685-FB25-4DC3-A3A3-55C6F6054D71}"/>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READING THE DASHBOARD</a:t>
            </a:r>
          </a:p>
        </p:txBody>
      </p:sp>
      <p:sp>
        <p:nvSpPr>
          <p:cNvPr id="2" name="">
            <a:extLst xmlns:a="http://schemas.openxmlformats.org/drawingml/2006/main">
              <a:ext uri="{FF2B5EF4-FFF2-40B4-BE49-F238E27FC236}">
                <a16:creationId xmlns:a16="http://schemas.microsoft.com/office/drawing/2014/main" id="{9148C2B4-F435-4620-816C-F5FCE3CFF1B9}"/>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Product selection and the summary</a:t>
            </a:r>
          </a:p>
        </p:txBody>
      </p:sp>
      <p:sp>
        <p:nvSpPr>
          <p:cNvPr id="3" name="">
            <a:extLst xmlns:a="http://schemas.openxmlformats.org/drawingml/2006/main">
              <a:ext uri="{FF2B5EF4-FFF2-40B4-BE49-F238E27FC236}">
                <a16:creationId xmlns:a16="http://schemas.microsoft.com/office/drawing/2014/main" id="{804CF830-BAFC-436C-8075-E8C41ECF3663}"/>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DD07F3EC-B8F5-46A4-836D-43797AD55D02}"/>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1EECF352-7E6C-45A5-B637-F22F4F74CE5A}"/>
              </a:ext>
            </a:extLst>
          </p:cNvPr>
          <p:cNvPicPr>
            <a:picLocks xmlns:a="http://schemas.openxmlformats.org/drawingml/2006/main" noChangeAspect="1"/>
          </p:cNvPicPr>
          <p:nvPr/>
        </p:nvPicPr>
        <p:blipFill>
          <a:blip xmlns:r="http://schemas.openxmlformats.org/officeDocument/2006/relationships" xmlns:a="http://schemas.openxmlformats.org/drawingml/2006/main" r:embed="R02e0c6248af946b8"/>
          <a:stretch xmlns:a="http://schemas.openxmlformats.org/drawingml/2006/main"/>
        </p:blipFill>
        <p:spPr>
          <a:xfrm xmlns:a="http://schemas.openxmlformats.org/drawingml/2006/main">
            <a:off x="628650" y="2031535"/>
            <a:ext cx="10763250" cy="12804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AD424C-CCF6-4AD8-B55D-C5786B7450C0}"/>
              </a:ext>
            </a:extLst>
          </p:cNvPr>
          <p:cNvSpPr>
            <a:spLocks xmlns:a="http://schemas.openxmlformats.org/drawingml/2006/main" noGrp="1"/>
          </p:cNvSpPr>
          <p:nvPr/>
        </p:nvSpPr>
        <p:spPr>
          <a:xfrm xmlns:a="http://schemas.openxmlformats.org/drawingml/2006/main">
            <a:off x="647700" y="39052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8324A"/>
                </a:solidFill>
                <a:latin typeface="Arial"/>
                <a:ea typeface="Arial"/>
                <a:cs typeface="Arial"/>
              </a:defRPr>
            </a:defPPr>
          </a:lstStyle>
          <a:p xmlns:a="http://schemas.openxmlformats.org/drawingml/2006/main">
            <a:pPr>
              <a:defRPr sz="2175" b="0">
                <a:solidFill>
                  <a:srgbClr val="18324A"/>
                </a:solidFill>
                <a:latin typeface="Arial"/>
                <a:ea typeface="Arial"/>
                <a:cs typeface="Arial"/>
              </a:defRPr>
            </a:pPr>
            <a:r>
              <a:rPr sz="2175" b="0">
                <a:solidFill>
                  <a:srgbClr val="18324A"/>
                </a:solidFill>
                <a:latin typeface="Arial"/>
                <a:ea typeface="Arial"/>
                <a:cs typeface="Arial"/>
              </a:rPr>
              <a:t>Recent sales: the last 28 observed days.</a:t>
            </a:r>
          </a:p>
        </p:txBody>
      </p:sp>
      <p:sp>
        <p:nvSpPr>
          <p:cNvPr id="7" name="">
            <a:extLst xmlns:a="http://schemas.openxmlformats.org/drawingml/2006/main">
              <a:ext uri="{FF2B5EF4-FFF2-40B4-BE49-F238E27FC236}">
                <a16:creationId xmlns:a16="http://schemas.microsoft.com/office/drawing/2014/main" id="{8DB3B1CF-56DC-4191-B2E9-E2F3D3466816}"/>
              </a:ext>
            </a:extLst>
          </p:cNvPr>
          <p:cNvSpPr>
            <a:spLocks xmlns:a="http://schemas.openxmlformats.org/drawingml/2006/main" noGrp="1"/>
          </p:cNvSpPr>
          <p:nvPr/>
        </p:nvSpPr>
        <p:spPr>
          <a:xfrm xmlns:a="http://schemas.openxmlformats.org/drawingml/2006/main">
            <a:off x="647700" y="46196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8324A"/>
                </a:solidFill>
                <a:latin typeface="Arial"/>
                <a:ea typeface="Arial"/>
                <a:cs typeface="Arial"/>
              </a:defRPr>
            </a:defPPr>
          </a:lstStyle>
          <a:p xmlns:a="http://schemas.openxmlformats.org/drawingml/2006/main">
            <a:pPr>
              <a:defRPr sz="2175" b="0">
                <a:solidFill>
                  <a:srgbClr val="18324A"/>
                </a:solidFill>
                <a:latin typeface="Arial"/>
                <a:ea typeface="Arial"/>
                <a:cs typeface="Arial"/>
              </a:defRPr>
            </a:pPr>
            <a:r>
              <a:rPr sz="2175" b="0">
                <a:solidFill>
                  <a:srgbClr val="18324A"/>
                </a:solidFill>
                <a:latin typeface="Arial"/>
                <a:ea typeface="Arial"/>
                <a:cs typeface="Arial"/>
              </a:rPr>
              <a:t>Daily average: recent total divided by 28.</a:t>
            </a:r>
          </a:p>
        </p:txBody>
      </p:sp>
      <p:sp>
        <p:nvSpPr>
          <p:cNvPr id="8" name="">
            <a:extLst xmlns:a="http://schemas.openxmlformats.org/drawingml/2006/main">
              <a:ext uri="{FF2B5EF4-FFF2-40B4-BE49-F238E27FC236}">
                <a16:creationId xmlns:a16="http://schemas.microsoft.com/office/drawing/2014/main" id="{16650E44-E425-4606-BBFF-1FDC21B7D6E1}"/>
              </a:ext>
            </a:extLst>
          </p:cNvPr>
          <p:cNvSpPr>
            <a:spLocks xmlns:a="http://schemas.openxmlformats.org/drawingml/2006/main" noGrp="1"/>
          </p:cNvSpPr>
          <p:nvPr/>
        </p:nvSpPr>
        <p:spPr>
          <a:xfrm xmlns:a="http://schemas.openxmlformats.org/drawingml/2006/main">
            <a:off x="647700" y="533400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8324A"/>
                </a:solidFill>
                <a:latin typeface="Arial"/>
                <a:ea typeface="Arial"/>
                <a:cs typeface="Arial"/>
              </a:defRPr>
            </a:defPPr>
          </a:lstStyle>
          <a:p xmlns:a="http://schemas.openxmlformats.org/drawingml/2006/main">
            <a:pPr>
              <a:defRPr sz="2175" b="0">
                <a:solidFill>
                  <a:srgbClr val="18324A"/>
                </a:solidFill>
                <a:latin typeface="Arial"/>
                <a:ea typeface="Arial"/>
                <a:cs typeface="Arial"/>
              </a:defRPr>
            </a:pPr>
            <a:r>
              <a:rPr sz="2175" b="0">
                <a:solidFill>
                  <a:srgbClr val="18324A"/>
                </a:solidFill>
                <a:latin typeface="Arial"/>
                <a:ea typeface="Arial"/>
                <a:cs typeface="Arial"/>
              </a:rPr>
              <a:t>The Product selector updates the view and resets old context.</a:t>
            </a:r>
          </a:p>
        </p:txBody>
      </p:sp>
    </p:spTree>
    <p:extLst>
      <p:ext uri="{BB962C8B-B14F-4D97-AF65-F5344CB8AC3E}">
        <p14:creationId xmlns:p14="http://schemas.microsoft.com/office/powerpoint/2010/main" val="645435247"/>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599952-234A-4D6F-9E71-928156CA7B9E}"/>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THE CHART</a:t>
            </a:r>
          </a:p>
        </p:txBody>
      </p:sp>
      <p:sp>
        <p:nvSpPr>
          <p:cNvPr id="2" name="">
            <a:extLst xmlns:a="http://schemas.openxmlformats.org/drawingml/2006/main">
              <a:ext uri="{FF2B5EF4-FFF2-40B4-BE49-F238E27FC236}">
                <a16:creationId xmlns:a16="http://schemas.microsoft.com/office/drawing/2014/main" id="{796E34CE-E679-45D2-860F-966735AF6E7D}"/>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History and forecast</a:t>
            </a:r>
          </a:p>
        </p:txBody>
      </p:sp>
      <p:sp>
        <p:nvSpPr>
          <p:cNvPr id="3" name="">
            <a:extLst xmlns:a="http://schemas.openxmlformats.org/drawingml/2006/main">
              <a:ext uri="{FF2B5EF4-FFF2-40B4-BE49-F238E27FC236}">
                <a16:creationId xmlns:a16="http://schemas.microsoft.com/office/drawing/2014/main" id="{CC7BE306-1525-4BDC-A85B-78397E632049}"/>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A58B86BA-6D10-4E5E-9607-665A70266529}"/>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539FDAC8-DF72-4924-90F6-099F17BCA681}"/>
              </a:ext>
            </a:extLst>
          </p:cNvPr>
          <p:cNvPicPr>
            <a:picLocks xmlns:a="http://schemas.openxmlformats.org/drawingml/2006/main" noChangeAspect="1"/>
          </p:cNvPicPr>
          <p:nvPr/>
        </p:nvPicPr>
        <p:blipFill>
          <a:blip xmlns:r="http://schemas.openxmlformats.org/officeDocument/2006/relationships" xmlns:a="http://schemas.openxmlformats.org/drawingml/2006/main" r:embed="R435ba051d54e4efa"/>
          <a:stretch xmlns:a="http://schemas.openxmlformats.org/drawingml/2006/main"/>
        </p:blipFill>
        <p:spPr>
          <a:xfrm xmlns:a="http://schemas.openxmlformats.org/drawingml/2006/main">
            <a:off x="2065355" y="1704975"/>
            <a:ext cx="7966039" cy="3667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2FF4466-091C-484A-8951-3B362ED3F6B3}"/>
              </a:ext>
            </a:extLst>
          </p:cNvPr>
          <p:cNvSpPr>
            <a:spLocks xmlns:a="http://schemas.openxmlformats.org/drawingml/2006/main" noGrp="1"/>
          </p:cNvSpPr>
          <p:nvPr/>
        </p:nvSpPr>
        <p:spPr>
          <a:xfrm xmlns:a="http://schemas.openxmlformats.org/drawingml/2006/main">
            <a:off x="657225" y="5562600"/>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Cutoff: 31 Dec 2017, the last observed day.</a:t>
            </a:r>
          </a:p>
        </p:txBody>
      </p:sp>
      <p:sp>
        <p:nvSpPr>
          <p:cNvPr id="7" name="">
            <a:extLst xmlns:a="http://schemas.openxmlformats.org/drawingml/2006/main">
              <a:ext uri="{FF2B5EF4-FFF2-40B4-BE49-F238E27FC236}">
                <a16:creationId xmlns:a16="http://schemas.microsoft.com/office/drawing/2014/main" id="{9CB94442-CE6C-4CF2-B933-874D63C25BBE}"/>
              </a:ext>
            </a:extLst>
          </p:cNvPr>
          <p:cNvSpPr>
            <a:spLocks xmlns:a="http://schemas.openxmlformats.org/drawingml/2006/main" noGrp="1"/>
          </p:cNvSpPr>
          <p:nvPr/>
        </p:nvSpPr>
        <p:spPr>
          <a:xfrm xmlns:a="http://schemas.openxmlformats.org/drawingml/2006/main">
            <a:off x="657225" y="594360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536A78"/>
                </a:solidFill>
                <a:latin typeface="Arial"/>
                <a:ea typeface="Arial"/>
                <a:cs typeface="Arial"/>
              </a:defRPr>
            </a:defPPr>
          </a:lstStyle>
          <a:p xmlns:a="http://schemas.openxmlformats.org/drawingml/2006/main">
            <a:pPr>
              <a:defRPr sz="1875" b="0">
                <a:solidFill>
                  <a:srgbClr val="536A78"/>
                </a:solidFill>
                <a:latin typeface="Arial"/>
                <a:ea typeface="Arial"/>
                <a:cs typeface="Arial"/>
              </a:defRPr>
            </a:pPr>
            <a:r>
              <a:rPr sz="1875" b="0">
                <a:solidFill>
                  <a:srgbClr val="536A78"/>
                </a:solidFill>
                <a:latin typeface="Arial"/>
                <a:ea typeface="Arial"/>
                <a:cs typeface="Arial"/>
              </a:rPr>
              <a:t>Horizon: seven forecast days, 1–7 Jan 2018.</a:t>
            </a:r>
          </a:p>
        </p:txBody>
      </p:sp>
    </p:spTree>
    <p:extLst>
      <p:ext uri="{BB962C8B-B14F-4D97-AF65-F5344CB8AC3E}">
        <p14:creationId xmlns:p14="http://schemas.microsoft.com/office/powerpoint/2010/main" val="1381324409"/>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74E69F-F131-41BC-8A71-F74DB48206BB}"/>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PRODUCT 1 EXAMPLE</a:t>
            </a:r>
          </a:p>
        </p:txBody>
      </p:sp>
      <p:sp>
        <p:nvSpPr>
          <p:cNvPr id="2" name="">
            <a:extLst xmlns:a="http://schemas.openxmlformats.org/drawingml/2006/main">
              <a:ext uri="{FF2B5EF4-FFF2-40B4-BE49-F238E27FC236}">
                <a16:creationId xmlns:a16="http://schemas.microsoft.com/office/drawing/2014/main" id="{474DDC27-A820-4D5F-9D4B-FEEB0DC72962}"/>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daily forecast in units</a:t>
            </a:r>
          </a:p>
        </p:txBody>
      </p:sp>
      <p:sp>
        <p:nvSpPr>
          <p:cNvPr id="3" name="">
            <a:extLst xmlns:a="http://schemas.openxmlformats.org/drawingml/2006/main">
              <a:ext uri="{FF2B5EF4-FFF2-40B4-BE49-F238E27FC236}">
                <a16:creationId xmlns:a16="http://schemas.microsoft.com/office/drawing/2014/main" id="{C9A8D042-F301-47A4-8F8F-D945B83936CB}"/>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558CC2B-592C-4076-B3F6-4E4EBA1848A7}"/>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01C6CC92-E497-4F2F-8F06-E9D3D01B0C8F}"/>
              </a:ext>
            </a:extLst>
          </p:cNvPr>
          <p:cNvGraphicFramePr/>
          <p:nvPr/>
        </p:nvGraphicFramePr>
        <p:xfrm>
          <a:off xmlns:a="http://schemas.openxmlformats.org/drawingml/2006/main" x="628650" y="1781175"/>
          <a:ext xmlns:a="http://schemas.openxmlformats.org/drawingml/2006/main" cx="6096000" cy="4286250"/>
        </p:xfrm>
        <a:graphic xmlns:a="http://schemas.openxmlformats.org/drawingml/2006/main">
          <a:graphicData uri="http://schemas.openxmlformats.org/drawingml/2006/table">
            <a:tbl>
              <a:tblPr/>
              <a:tblGrid>
                <a:gridCol w="3524250"/>
                <a:gridCol w="2571750"/>
              </a:tblGrid>
              <a:tr h="535781">
                <a:tc>
                  <a:txBody>
                    <a:bodyPr/>
                    <a:lstStyle/>
                    <a:p>
                      <a:r>
                        <a:rPr sz="2025" b="1">
                          <a:solidFill>
                            <a:srgbClr val="FFFFFF"/>
                          </a:solidFill>
                          <a:latin typeface="Arial"/>
                          <a:ea typeface="Arial"/>
                          <a:cs typeface="Arial"/>
                        </a:rPr>
                        <a:t>Date</a:t>
                      </a:r>
                    </a:p>
                  </a:txBody>
                  <a:tcPr marL="123825" marR="123825" marT="66675" marB="66675" anchor="ctr">
                    <a:solidFill>
                      <a:srgbClr val="087E79"/>
                    </a:solidFill>
                  </a:tcPr>
                </a:tc>
                <a:tc>
                  <a:txBody>
                    <a:bodyPr/>
                    <a:lstStyle/>
                    <a:p>
                      <a:r>
                        <a:rPr sz="2025" b="1">
                          <a:solidFill>
                            <a:srgbClr val="FFFFFF"/>
                          </a:solidFill>
                          <a:latin typeface="Arial"/>
                          <a:ea typeface="Arial"/>
                          <a:cs typeface="Arial"/>
                        </a:rPr>
                        <a:t>Forecast units</a:t>
                      </a:r>
                    </a:p>
                  </a:txBody>
                  <a:tcPr marL="123825" marR="123825" marT="66675" marB="66675" anchor="ctr">
                    <a:solidFill>
                      <a:srgbClr val="087E79"/>
                    </a:solidFill>
                  </a:tcPr>
                </a:tc>
              </a:tr>
              <a:tr h="535781">
                <a:tc>
                  <a:txBody>
                    <a:bodyPr/>
                    <a:lstStyle/>
                    <a:p>
                      <a:r>
                        <a:rPr sz="2025" b="0">
                          <a:solidFill>
                            <a:srgbClr val="18324A"/>
                          </a:solidFill>
                          <a:latin typeface="Arial"/>
                          <a:ea typeface="Arial"/>
                          <a:cs typeface="Arial"/>
                        </a:rPr>
                        <a:t>Mon, 01 Jan 2018</a:t>
                      </a:r>
                    </a:p>
                  </a:txBody>
                  <a:tcPr marL="123825" marR="123825" marT="66675" marB="66675" anchor="ctr">
                    <a:solidFill>
                      <a:srgbClr val="FFFFFF"/>
                    </a:solidFill>
                  </a:tcPr>
                </a:tc>
                <a:tc>
                  <a:txBody>
                    <a:bodyPr/>
                    <a:lstStyle/>
                    <a:p>
                      <a:r>
                        <a:rPr sz="2025" b="0">
                          <a:solidFill>
                            <a:srgbClr val="18324A"/>
                          </a:solidFill>
                          <a:latin typeface="Arial"/>
                          <a:ea typeface="Arial"/>
                          <a:cs typeface="Arial"/>
                        </a:rPr>
                        <a:t>14.0</a:t>
                      </a:r>
                    </a:p>
                  </a:txBody>
                  <a:tcPr marL="123825" marR="123825" marT="66675" marB="66675" anchor="ctr">
                    <a:solidFill>
                      <a:srgbClr val="FFFFFF"/>
                    </a:solidFill>
                  </a:tcPr>
                </a:tc>
              </a:tr>
              <a:tr h="535781">
                <a:tc>
                  <a:txBody>
                    <a:bodyPr/>
                    <a:lstStyle/>
                    <a:p>
                      <a:r>
                        <a:rPr sz="2025" b="0">
                          <a:solidFill>
                            <a:srgbClr val="18324A"/>
                          </a:solidFill>
                          <a:latin typeface="Arial"/>
                          <a:ea typeface="Arial"/>
                          <a:cs typeface="Arial"/>
                        </a:rPr>
                        <a:t>Tue, 02 Jan 2018</a:t>
                      </a:r>
                    </a:p>
                  </a:txBody>
                  <a:tcPr marL="123825" marR="123825" marT="66675" marB="66675" anchor="ctr">
                    <a:solidFill>
                      <a:srgbClr val="F7F5F0"/>
                    </a:solidFill>
                  </a:tcPr>
                </a:tc>
                <a:tc>
                  <a:txBody>
                    <a:bodyPr/>
                    <a:lstStyle/>
                    <a:p>
                      <a:r>
                        <a:rPr sz="2025" b="0">
                          <a:solidFill>
                            <a:srgbClr val="18324A"/>
                          </a:solidFill>
                          <a:latin typeface="Arial"/>
                          <a:ea typeface="Arial"/>
                          <a:cs typeface="Arial"/>
                        </a:rPr>
                        <a:t>15.7</a:t>
                      </a:r>
                    </a:p>
                  </a:txBody>
                  <a:tcPr marL="123825" marR="123825" marT="66675" marB="66675" anchor="ctr">
                    <a:solidFill>
                      <a:srgbClr val="F7F5F0"/>
                    </a:solidFill>
                  </a:tcPr>
                </a:tc>
              </a:tr>
              <a:tr h="535781">
                <a:tc>
                  <a:txBody>
                    <a:bodyPr/>
                    <a:lstStyle/>
                    <a:p>
                      <a:r>
                        <a:rPr sz="2025" b="0">
                          <a:solidFill>
                            <a:srgbClr val="18324A"/>
                          </a:solidFill>
                          <a:latin typeface="Arial"/>
                          <a:ea typeface="Arial"/>
                          <a:cs typeface="Arial"/>
                        </a:rPr>
                        <a:t>Wed, 03 Jan 2018</a:t>
                      </a:r>
                    </a:p>
                  </a:txBody>
                  <a:tcPr marL="123825" marR="123825" marT="66675" marB="66675" anchor="ctr">
                    <a:solidFill>
                      <a:srgbClr val="FFFFFF"/>
                    </a:solidFill>
                  </a:tcPr>
                </a:tc>
                <a:tc>
                  <a:txBody>
                    <a:bodyPr/>
                    <a:lstStyle/>
                    <a:p>
                      <a:r>
                        <a:rPr sz="2025" b="0">
                          <a:solidFill>
                            <a:srgbClr val="18324A"/>
                          </a:solidFill>
                          <a:latin typeface="Arial"/>
                          <a:ea typeface="Arial"/>
                          <a:cs typeface="Arial"/>
                        </a:rPr>
                        <a:t>15.4</a:t>
                      </a:r>
                    </a:p>
                  </a:txBody>
                  <a:tcPr marL="123825" marR="123825" marT="66675" marB="66675" anchor="ctr">
                    <a:solidFill>
                      <a:srgbClr val="FFFFFF"/>
                    </a:solidFill>
                  </a:tcPr>
                </a:tc>
              </a:tr>
              <a:tr h="535781">
                <a:tc>
                  <a:txBody>
                    <a:bodyPr/>
                    <a:lstStyle/>
                    <a:p>
                      <a:r>
                        <a:rPr sz="2025" b="0">
                          <a:solidFill>
                            <a:srgbClr val="18324A"/>
                          </a:solidFill>
                          <a:latin typeface="Arial"/>
                          <a:ea typeface="Arial"/>
                          <a:cs typeface="Arial"/>
                        </a:rPr>
                        <a:t>Thu, 04 Jan 2018</a:t>
                      </a:r>
                    </a:p>
                  </a:txBody>
                  <a:tcPr marL="123825" marR="123825" marT="66675" marB="66675" anchor="ctr">
                    <a:solidFill>
                      <a:srgbClr val="F7F5F0"/>
                    </a:solidFill>
                  </a:tcPr>
                </a:tc>
                <a:tc>
                  <a:txBody>
                    <a:bodyPr/>
                    <a:lstStyle/>
                    <a:p>
                      <a:r>
                        <a:rPr sz="2025" b="0">
                          <a:solidFill>
                            <a:srgbClr val="18324A"/>
                          </a:solidFill>
                          <a:latin typeface="Arial"/>
                          <a:ea typeface="Arial"/>
                          <a:cs typeface="Arial"/>
                        </a:rPr>
                        <a:t>15.1</a:t>
                      </a:r>
                    </a:p>
                  </a:txBody>
                  <a:tcPr marL="123825" marR="123825" marT="66675" marB="66675" anchor="ctr">
                    <a:solidFill>
                      <a:srgbClr val="F7F5F0"/>
                    </a:solidFill>
                  </a:tcPr>
                </a:tc>
              </a:tr>
              <a:tr h="535781">
                <a:tc>
                  <a:txBody>
                    <a:bodyPr/>
                    <a:lstStyle/>
                    <a:p>
                      <a:r>
                        <a:rPr sz="2025" b="0">
                          <a:solidFill>
                            <a:srgbClr val="18324A"/>
                          </a:solidFill>
                          <a:latin typeface="Arial"/>
                          <a:ea typeface="Arial"/>
                          <a:cs typeface="Arial"/>
                        </a:rPr>
                        <a:t>Fri, 05 Jan 2018</a:t>
                      </a:r>
                    </a:p>
                  </a:txBody>
                  <a:tcPr marL="123825" marR="123825" marT="66675" marB="66675" anchor="ctr">
                    <a:solidFill>
                      <a:srgbClr val="FFFFFF"/>
                    </a:solidFill>
                  </a:tcPr>
                </a:tc>
                <a:tc>
                  <a:txBody>
                    <a:bodyPr/>
                    <a:lstStyle/>
                    <a:p>
                      <a:r>
                        <a:rPr sz="2025" b="0">
                          <a:solidFill>
                            <a:srgbClr val="18324A"/>
                          </a:solidFill>
                          <a:latin typeface="Arial"/>
                          <a:ea typeface="Arial"/>
                          <a:cs typeface="Arial"/>
                        </a:rPr>
                        <a:t>17.3</a:t>
                      </a:r>
                    </a:p>
                  </a:txBody>
                  <a:tcPr marL="123825" marR="123825" marT="66675" marB="66675" anchor="ctr">
                    <a:solidFill>
                      <a:srgbClr val="FFFFFF"/>
                    </a:solidFill>
                  </a:tcPr>
                </a:tc>
              </a:tr>
              <a:tr h="535781">
                <a:tc>
                  <a:txBody>
                    <a:bodyPr/>
                    <a:lstStyle/>
                    <a:p>
                      <a:r>
                        <a:rPr sz="2025" b="0">
                          <a:solidFill>
                            <a:srgbClr val="18324A"/>
                          </a:solidFill>
                          <a:latin typeface="Arial"/>
                          <a:ea typeface="Arial"/>
                          <a:cs typeface="Arial"/>
                        </a:rPr>
                        <a:t>Sat, 06 Jan 2018</a:t>
                      </a:r>
                    </a:p>
                  </a:txBody>
                  <a:tcPr marL="123825" marR="123825" marT="66675" marB="66675" anchor="ctr">
                    <a:solidFill>
                      <a:srgbClr val="F7F5F0"/>
                    </a:solidFill>
                  </a:tcPr>
                </a:tc>
                <a:tc>
                  <a:txBody>
                    <a:bodyPr/>
                    <a:lstStyle/>
                    <a:p>
                      <a:r>
                        <a:rPr sz="2025" b="0">
                          <a:solidFill>
                            <a:srgbClr val="18324A"/>
                          </a:solidFill>
                          <a:latin typeface="Arial"/>
                          <a:ea typeface="Arial"/>
                          <a:cs typeface="Arial"/>
                        </a:rPr>
                        <a:t>17.7</a:t>
                      </a:r>
                    </a:p>
                  </a:txBody>
                  <a:tcPr marL="123825" marR="123825" marT="66675" marB="66675" anchor="ctr">
                    <a:solidFill>
                      <a:srgbClr val="F7F5F0"/>
                    </a:solidFill>
                  </a:tcPr>
                </a:tc>
              </a:tr>
              <a:tr h="535781">
                <a:tc>
                  <a:txBody>
                    <a:bodyPr/>
                    <a:lstStyle/>
                    <a:p>
                      <a:r>
                        <a:rPr sz="2025" b="0">
                          <a:solidFill>
                            <a:srgbClr val="18324A"/>
                          </a:solidFill>
                          <a:latin typeface="Arial"/>
                          <a:ea typeface="Arial"/>
                          <a:cs typeface="Arial"/>
                        </a:rPr>
                        <a:t>Sun, 07 Jan 2018</a:t>
                      </a:r>
                    </a:p>
                  </a:txBody>
                  <a:tcPr marL="123825" marR="123825" marT="66675" marB="66675" anchor="ctr">
                    <a:solidFill>
                      <a:srgbClr val="FFFFFF"/>
                    </a:solidFill>
                  </a:tcPr>
                </a:tc>
                <a:tc>
                  <a:txBody>
                    <a:bodyPr/>
                    <a:lstStyle/>
                    <a:p>
                      <a:r>
                        <a:rPr sz="2025" b="0">
                          <a:solidFill>
                            <a:srgbClr val="18324A"/>
                          </a:solidFill>
                          <a:latin typeface="Arial"/>
                          <a:ea typeface="Arial"/>
                          <a:cs typeface="Arial"/>
                        </a:rPr>
                        <a:t>19.6</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55BB366-FA42-4EA5-862E-E588AC24E84F}"/>
              </a:ext>
            </a:extLst>
          </p:cNvPr>
          <p:cNvSpPr>
            <a:spLocks xmlns:a="http://schemas.openxmlformats.org/drawingml/2006/main" noGrp="1"/>
          </p:cNvSpPr>
          <p:nvPr/>
        </p:nvSpPr>
        <p:spPr>
          <a:xfrm xmlns:a="http://schemas.openxmlformats.org/drawingml/2006/main">
            <a:off x="7334250" y="2228850"/>
            <a:ext cx="4114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150" b="1">
                <a:solidFill>
                  <a:srgbClr val="087E79"/>
                </a:solidFill>
                <a:latin typeface="Arial"/>
                <a:ea typeface="Arial"/>
                <a:cs typeface="Arial"/>
              </a:defRPr>
            </a:defPPr>
          </a:lstStyle>
          <a:p xmlns:a="http://schemas.openxmlformats.org/drawingml/2006/main">
            <a:pPr>
              <a:defRPr sz="6150" b="1">
                <a:solidFill>
                  <a:srgbClr val="087E79"/>
                </a:solidFill>
                <a:latin typeface="Arial"/>
                <a:ea typeface="Arial"/>
                <a:cs typeface="Arial"/>
              </a:defRPr>
            </a:pPr>
            <a:r>
              <a:rPr sz="6150" b="1">
                <a:solidFill>
                  <a:srgbClr val="087E79"/>
                </a:solidFill>
                <a:latin typeface="Arial"/>
                <a:ea typeface="Arial"/>
                <a:cs typeface="Arial"/>
              </a:rPr>
              <a:t>114.9</a:t>
            </a:r>
          </a:p>
        </p:txBody>
      </p:sp>
      <p:sp>
        <p:nvSpPr>
          <p:cNvPr id="7" name="">
            <a:extLst xmlns:a="http://schemas.openxmlformats.org/drawingml/2006/main">
              <a:ext uri="{FF2B5EF4-FFF2-40B4-BE49-F238E27FC236}">
                <a16:creationId xmlns:a16="http://schemas.microsoft.com/office/drawing/2014/main" id="{330CD0E9-02E4-4B46-8EEE-7FEA81600743}"/>
              </a:ext>
            </a:extLst>
          </p:cNvPr>
          <p:cNvSpPr>
            <a:spLocks xmlns:a="http://schemas.openxmlformats.org/drawingml/2006/main" noGrp="1"/>
          </p:cNvSpPr>
          <p:nvPr/>
        </p:nvSpPr>
        <p:spPr>
          <a:xfrm xmlns:a="http://schemas.openxmlformats.org/drawingml/2006/main">
            <a:off x="7353300" y="3457575"/>
            <a:ext cx="39814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8324A"/>
                </a:solidFill>
                <a:latin typeface="Arial"/>
                <a:ea typeface="Arial"/>
                <a:cs typeface="Arial"/>
              </a:defRPr>
            </a:defPPr>
          </a:lstStyle>
          <a:p xmlns:a="http://schemas.openxmlformats.org/drawingml/2006/main">
            <a:pPr>
              <a:defRPr sz="2250" b="1">
                <a:solidFill>
                  <a:srgbClr val="18324A"/>
                </a:solidFill>
                <a:latin typeface="Arial"/>
                <a:ea typeface="Arial"/>
                <a:cs typeface="Arial"/>
              </a:defRPr>
            </a:pPr>
            <a:r>
              <a:rPr sz="2250" b="1">
                <a:solidFill>
                  <a:srgbClr val="18324A"/>
                </a:solidFill>
                <a:latin typeface="Arial"/>
                <a:ea typeface="Arial"/>
                <a:cs typeface="Arial"/>
              </a:rPr>
              <a:t>forecast units for the week</a:t>
            </a:r>
          </a:p>
        </p:txBody>
      </p:sp>
      <p:sp>
        <p:nvSpPr>
          <p:cNvPr id="8" name="">
            <a:extLst xmlns:a="http://schemas.openxmlformats.org/drawingml/2006/main">
              <a:ext uri="{FF2B5EF4-FFF2-40B4-BE49-F238E27FC236}">
                <a16:creationId xmlns:a16="http://schemas.microsoft.com/office/drawing/2014/main" id="{AFE4B5F5-1321-4188-BC97-3AFE9C191C29}"/>
              </a:ext>
            </a:extLst>
          </p:cNvPr>
          <p:cNvSpPr>
            <a:spLocks xmlns:a="http://schemas.openxmlformats.org/drawingml/2006/main" noGrp="1"/>
          </p:cNvSpPr>
          <p:nvPr/>
        </p:nvSpPr>
        <p:spPr>
          <a:xfrm xmlns:a="http://schemas.openxmlformats.org/drawingml/2006/main">
            <a:off x="7353300" y="4733925"/>
            <a:ext cx="39243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36A78"/>
                </a:solidFill>
                <a:latin typeface="Arial"/>
                <a:ea typeface="Arial"/>
                <a:cs typeface="Arial"/>
              </a:defRPr>
            </a:defPPr>
          </a:lstStyle>
          <a:p xmlns:a="http://schemas.openxmlformats.org/drawingml/2006/main">
            <a:pPr>
              <a:defRPr sz="2025" b="0">
                <a:solidFill>
                  <a:srgbClr val="536A78"/>
                </a:solidFill>
                <a:latin typeface="Arial"/>
                <a:ea typeface="Arial"/>
                <a:cs typeface="Arial"/>
              </a:defRPr>
            </a:pPr>
            <a:r>
              <a:rPr sz="2025" b="0">
                <a:solidFill>
                  <a:srgbClr val="536A78"/>
                </a:solidFill>
                <a:latin typeface="Arial"/>
                <a:ea typeface="Arial"/>
                <a:cs typeface="Arial"/>
              </a:rPr>
              <a:t>Totals use unrounded estimates. Orders round up to whole units.</a:t>
            </a:r>
          </a:p>
        </p:txBody>
      </p:sp>
    </p:spTree>
    <p:extLst>
      <p:ext uri="{BB962C8B-B14F-4D97-AF65-F5344CB8AC3E}">
        <p14:creationId xmlns:p14="http://schemas.microsoft.com/office/powerpoint/2010/main" val="2141999894"/>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BDEC67-C4B3-44FC-AC7C-2CA62983304E}"/>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STOCK PLANNING</a:t>
            </a:r>
          </a:p>
        </p:txBody>
      </p:sp>
      <p:sp>
        <p:nvSpPr>
          <p:cNvPr id="2" name="">
            <a:extLst xmlns:a="http://schemas.openxmlformats.org/drawingml/2006/main">
              <a:ext uri="{FF2B5EF4-FFF2-40B4-BE49-F238E27FC236}">
                <a16:creationId xmlns:a16="http://schemas.microsoft.com/office/drawing/2014/main" id="{445AA569-0410-4F61-9FF4-EB11F8396DC0}"/>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five stock inputs</a:t>
            </a:r>
          </a:p>
        </p:txBody>
      </p:sp>
      <p:sp>
        <p:nvSpPr>
          <p:cNvPr id="3" name="">
            <a:extLst xmlns:a="http://schemas.openxmlformats.org/drawingml/2006/main">
              <a:ext uri="{FF2B5EF4-FFF2-40B4-BE49-F238E27FC236}">
                <a16:creationId xmlns:a16="http://schemas.microsoft.com/office/drawing/2014/main" id="{47A4C0A2-1107-4FB4-8F53-63E4021D5ED5}"/>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C6FD6597-C14B-4FFB-BCD0-77A8214468EF}"/>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F33B14BE-2980-4507-B957-2332D11B5F74}"/>
              </a:ext>
            </a:extLst>
          </p:cNvPr>
          <p:cNvGraphicFramePr/>
          <p:nvPr/>
        </p:nvGraphicFramePr>
        <p:xfrm>
          <a:off xmlns:a="http://schemas.openxmlformats.org/drawingml/2006/main" x="619125" y="1914525"/>
          <a:ext xmlns:a="http://schemas.openxmlformats.org/drawingml/2006/main" cx="10858500" cy="3743325"/>
        </p:xfrm>
        <a:graphic xmlns:a="http://schemas.openxmlformats.org/drawingml/2006/main">
          <a:graphicData uri="http://schemas.openxmlformats.org/drawingml/2006/table">
            <a:tbl>
              <a:tblPr/>
              <a:tblGrid>
                <a:gridCol w="2952750"/>
                <a:gridCol w="5715000"/>
                <a:gridCol w="2190750"/>
              </a:tblGrid>
              <a:tr h="623888">
                <a:tc>
                  <a:txBody>
                    <a:bodyPr/>
                    <a:lstStyle/>
                    <a:p>
                      <a:r>
                        <a:rPr sz="1950" b="1">
                          <a:solidFill>
                            <a:srgbClr val="FFFFFF"/>
                          </a:solidFill>
                          <a:latin typeface="Arial"/>
                          <a:ea typeface="Arial"/>
                          <a:cs typeface="Arial"/>
                        </a:rPr>
                        <a:t>Input</a:t>
                      </a:r>
                    </a:p>
                  </a:txBody>
                  <a:tcPr marL="123825" marR="123825" marT="66675" marB="66675" anchor="ctr">
                    <a:solidFill>
                      <a:srgbClr val="087E79"/>
                    </a:solidFill>
                  </a:tcPr>
                </a:tc>
                <a:tc>
                  <a:txBody>
                    <a:bodyPr/>
                    <a:lstStyle/>
                    <a:p>
                      <a:r>
                        <a:rPr sz="1950" b="1">
                          <a:solidFill>
                            <a:srgbClr val="FFFFFF"/>
                          </a:solidFill>
                          <a:latin typeface="Arial"/>
                          <a:ea typeface="Arial"/>
                          <a:cs typeface="Arial"/>
                        </a:rPr>
                        <a:t>Plain-English meaning</a:t>
                      </a:r>
                    </a:p>
                  </a:txBody>
                  <a:tcPr marL="123825" marR="123825" marT="66675" marB="66675" anchor="ctr">
                    <a:solidFill>
                      <a:srgbClr val="087E79"/>
                    </a:solidFill>
                  </a:tcPr>
                </a:tc>
                <a:tc>
                  <a:txBody>
                    <a:bodyPr/>
                    <a:lstStyle/>
                    <a:p>
                      <a:r>
                        <a:rPr sz="1950" b="1">
                          <a:solidFill>
                            <a:srgbClr val="FFFFFF"/>
                          </a:solidFill>
                          <a:latin typeface="Arial"/>
                          <a:ea typeface="Arial"/>
                          <a:cs typeface="Arial"/>
                        </a:rPr>
                        <a:t>Default</a:t>
                      </a:r>
                    </a:p>
                  </a:txBody>
                  <a:tcPr marL="123825" marR="123825" marT="66675" marB="66675" anchor="ctr">
                    <a:solidFill>
                      <a:srgbClr val="087E79"/>
                    </a:solidFill>
                  </a:tcPr>
                </a:tc>
              </a:tr>
              <a:tr h="623888">
                <a:tc>
                  <a:txBody>
                    <a:bodyPr/>
                    <a:lstStyle/>
                    <a:p>
                      <a:r>
                        <a:rPr sz="1950" b="0">
                          <a:solidFill>
                            <a:srgbClr val="18324A"/>
                          </a:solidFill>
                          <a:latin typeface="Arial"/>
                          <a:ea typeface="Arial"/>
                          <a:cs typeface="Arial"/>
                        </a:rPr>
                        <a:t>Stock available</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Units physically in the shop now</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50 units</a:t>
                      </a:r>
                    </a:p>
                  </a:txBody>
                  <a:tcPr marL="123825" marR="123825" marT="66675" marB="66675" anchor="ctr">
                    <a:solidFill>
                      <a:srgbClr val="FFFFFF"/>
                    </a:solidFill>
                  </a:tcPr>
                </a:tc>
              </a:tr>
              <a:tr h="623888">
                <a:tc>
                  <a:txBody>
                    <a:bodyPr/>
                    <a:lstStyle/>
                    <a:p>
                      <a:r>
                        <a:rPr sz="1950" b="0">
                          <a:solidFill>
                            <a:srgbClr val="18324A"/>
                          </a:solidFill>
                          <a:latin typeface="Arial"/>
                          <a:ea typeface="Arial"/>
                          <a:cs typeface="Arial"/>
                        </a:rPr>
                        <a:t>Outstanding units</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Units already ordered and expected</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0 units</a:t>
                      </a:r>
                    </a:p>
                  </a:txBody>
                  <a:tcPr marL="123825" marR="123825" marT="66675" marB="66675" anchor="ctr">
                    <a:solidFill>
                      <a:srgbClr val="F7F5F0"/>
                    </a:solidFill>
                  </a:tcPr>
                </a:tc>
              </a:tr>
              <a:tr h="623888">
                <a:tc>
                  <a:txBody>
                    <a:bodyPr/>
                    <a:lstStyle/>
                    <a:p>
                      <a:r>
                        <a:rPr sz="1950" b="0">
                          <a:solidFill>
                            <a:srgbClr val="18324A"/>
                          </a:solidFill>
                          <a:latin typeface="Arial"/>
                          <a:ea typeface="Arial"/>
                          <a:cs typeface="Arial"/>
                        </a:rPr>
                        <a:t>Supplier lead time</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Forecast days before the next delivery</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2 days</a:t>
                      </a:r>
                    </a:p>
                  </a:txBody>
                  <a:tcPr marL="123825" marR="123825" marT="66675" marB="66675" anchor="ctr">
                    <a:solidFill>
                      <a:srgbClr val="FFFFFF"/>
                    </a:solidFill>
                  </a:tcPr>
                </a:tc>
              </a:tr>
              <a:tr h="623888">
                <a:tc>
                  <a:txBody>
                    <a:bodyPr/>
                    <a:lstStyle/>
                    <a:p>
                      <a:r>
                        <a:rPr sz="1950" b="0">
                          <a:solidFill>
                            <a:srgbClr val="18324A"/>
                          </a:solidFill>
                          <a:latin typeface="Arial"/>
                          <a:ea typeface="Arial"/>
                          <a:cs typeface="Arial"/>
                        </a:rPr>
                        <a:t>Review interval</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Days between stock reviews</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3 days</a:t>
                      </a:r>
                    </a:p>
                  </a:txBody>
                  <a:tcPr marL="123825" marR="123825" marT="66675" marB="66675" anchor="ctr">
                    <a:solidFill>
                      <a:srgbClr val="F7F5F0"/>
                    </a:solidFill>
                  </a:tcPr>
                </a:tc>
              </a:tr>
              <a:tr h="623888">
                <a:tc>
                  <a:txBody>
                    <a:bodyPr/>
                    <a:lstStyle/>
                    <a:p>
                      <a:r>
                        <a:rPr sz="1950" b="0">
                          <a:solidFill>
                            <a:srgbClr val="18324A"/>
                          </a:solidFill>
                          <a:latin typeface="Arial"/>
                          <a:ea typeface="Arial"/>
                          <a:cs typeface="Arial"/>
                        </a:rPr>
                        <a:t>Buffer stock</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Extra units above forecast demand</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10 units</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282F502-FBD4-427F-9710-822E966FE457}"/>
              </a:ext>
            </a:extLst>
          </p:cNvPr>
          <p:cNvSpPr>
            <a:spLocks xmlns:a="http://schemas.openxmlformats.org/drawingml/2006/main" noGrp="1"/>
          </p:cNvSpPr>
          <p:nvPr/>
        </p:nvSpPr>
        <p:spPr>
          <a:xfrm xmlns:a="http://schemas.openxmlformats.org/drawingml/2006/main">
            <a:off x="657225" y="58483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79"/>
                </a:solidFill>
                <a:latin typeface="Arial"/>
                <a:ea typeface="Arial"/>
                <a:cs typeface="Arial"/>
              </a:defRPr>
            </a:defPPr>
          </a:lstStyle>
          <a:p xmlns:a="http://schemas.openxmlformats.org/drawingml/2006/main">
            <a:pPr>
              <a:defRPr sz="2025" b="1">
                <a:solidFill>
                  <a:srgbClr val="087E79"/>
                </a:solidFill>
                <a:latin typeface="Arial"/>
                <a:ea typeface="Arial"/>
                <a:cs typeface="Arial"/>
              </a:defRPr>
            </a:pPr>
            <a:r>
              <a:rPr sz="2025" b="1">
                <a:solidFill>
                  <a:srgbClr val="087E79"/>
                </a:solidFill>
                <a:latin typeface="Arial"/>
                <a:ea typeface="Arial"/>
                <a:cs typeface="Arial"/>
              </a:rPr>
              <a:t>“Calculate suggested order” applies the entered values.</a:t>
            </a:r>
          </a:p>
        </p:txBody>
      </p:sp>
    </p:spTree>
    <p:extLst>
      <p:ext uri="{BB962C8B-B14F-4D97-AF65-F5344CB8AC3E}">
        <p14:creationId xmlns:p14="http://schemas.microsoft.com/office/powerpoint/2010/main" val="516920934"/>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BAE199-0072-4BE8-92B4-94F78CA4047C}"/>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WHY THE ORDER USES FIVE DAYS</a:t>
            </a:r>
          </a:p>
        </p:txBody>
      </p:sp>
      <p:sp>
        <p:nvSpPr>
          <p:cNvPr id="2" name="">
            <a:extLst xmlns:a="http://schemas.openxmlformats.org/drawingml/2006/main">
              <a:ext uri="{FF2B5EF4-FFF2-40B4-BE49-F238E27FC236}">
                <a16:creationId xmlns:a16="http://schemas.microsoft.com/office/drawing/2014/main" id="{1B788B65-ACE5-41D5-8C7F-E98D59368A76}"/>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Coverage and delivery timing</a:t>
            </a:r>
          </a:p>
        </p:txBody>
      </p:sp>
      <p:sp>
        <p:nvSpPr>
          <p:cNvPr id="3" name="">
            <a:extLst xmlns:a="http://schemas.openxmlformats.org/drawingml/2006/main">
              <a:ext uri="{FF2B5EF4-FFF2-40B4-BE49-F238E27FC236}">
                <a16:creationId xmlns:a16="http://schemas.microsoft.com/office/drawing/2014/main" id="{809F0735-077E-48BD-84B5-B25B2815177A}"/>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992DAA7-9281-4D7E-9E0B-DF0A0DBB9B6F}"/>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385BE5D-586A-46D1-BDBC-B3849744E25D}"/>
              </a:ext>
            </a:extLst>
          </p:cNvPr>
          <p:cNvSpPr>
            <a:spLocks xmlns:a="http://schemas.openxmlformats.org/drawingml/2006/main" noGrp="1"/>
          </p:cNvSpPr>
          <p:nvPr/>
        </p:nvSpPr>
        <p:spPr>
          <a:xfrm xmlns:a="http://schemas.openxmlformats.org/drawingml/2006/main">
            <a:off x="647700" y="1819275"/>
            <a:ext cx="1057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087E79"/>
                </a:solidFill>
                <a:latin typeface="Arial"/>
                <a:ea typeface="Arial"/>
                <a:cs typeface="Arial"/>
              </a:defRPr>
            </a:defPPr>
          </a:lstStyle>
          <a:p xmlns:a="http://schemas.openxmlformats.org/drawingml/2006/main">
            <a:pPr>
              <a:defRPr sz="2925" b="1">
                <a:solidFill>
                  <a:srgbClr val="087E79"/>
                </a:solidFill>
                <a:latin typeface="Arial"/>
                <a:ea typeface="Arial"/>
                <a:cs typeface="Arial"/>
              </a:defRPr>
            </a:pPr>
            <a:r>
              <a:rPr sz="2925" b="1">
                <a:solidFill>
                  <a:srgbClr val="087E79"/>
                </a:solidFill>
                <a:latin typeface="Arial"/>
                <a:ea typeface="Arial"/>
                <a:cs typeface="Arial"/>
              </a:rPr>
              <a:t>2 lead days + 3 review days = 5 coverage days</a:t>
            </a:r>
          </a:p>
        </p:txBody>
      </p:sp>
      <p:graphicFrame>
        <p:nvGraphicFramePr>
          <p:cNvPr id="6" name="">
            <a:extLst xmlns:a="http://schemas.openxmlformats.org/drawingml/2006/main">
              <a:ext uri="{FF2B5EF4-FFF2-40B4-BE49-F238E27FC236}">
                <a16:creationId xmlns:a16="http://schemas.microsoft.com/office/drawing/2014/main" id="{2BB6B7AA-8439-4F3F-A92E-FD9E494A6A25}"/>
              </a:ext>
            </a:extLst>
          </p:cNvPr>
          <p:cNvGraphicFramePr/>
          <p:nvPr/>
        </p:nvGraphicFramePr>
        <p:xfrm>
          <a:off xmlns:a="http://schemas.openxmlformats.org/drawingml/2006/main" x="628650" y="2924175"/>
          <a:ext xmlns:a="http://schemas.openxmlformats.org/drawingml/2006/main" cx="10858500" cy="2133600"/>
        </p:xfrm>
        <a:graphic xmlns:a="http://schemas.openxmlformats.org/drawingml/2006/main">
          <a:graphicData uri="http://schemas.openxmlformats.org/drawingml/2006/table">
            <a:tbl>
              <a:tblPr/>
              <a:tblGrid>
                <a:gridCol w="1428750"/>
                <a:gridCol w="1347107"/>
                <a:gridCol w="1347107"/>
                <a:gridCol w="1347107"/>
                <a:gridCol w="1347107"/>
                <a:gridCol w="1347107"/>
                <a:gridCol w="1347107"/>
                <a:gridCol w="1347107"/>
              </a:tblGrid>
              <a:tr h="711200">
                <a:tc>
                  <a:txBody>
                    <a:bodyPr/>
                    <a:lstStyle/>
                    <a:p>
                      <a:r>
                        <a:rPr sz="1725" b="1">
                          <a:solidFill>
                            <a:srgbClr val="FFFFFF"/>
                          </a:solidFill>
                          <a:latin typeface="Arial"/>
                          <a:ea typeface="Arial"/>
                          <a:cs typeface="Arial"/>
                        </a:rPr>
                        <a:t>Day</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Mon 1</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Tue 2</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Wed 3</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Thu 4</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Fri 5</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Sat 6</a:t>
                      </a:r>
                    </a:p>
                  </a:txBody>
                  <a:tcPr marL="123825" marR="123825" marT="66675" marB="66675" anchor="ctr">
                    <a:solidFill>
                      <a:srgbClr val="087E79"/>
                    </a:solidFill>
                  </a:tcPr>
                </a:tc>
                <a:tc>
                  <a:txBody>
                    <a:bodyPr/>
                    <a:lstStyle/>
                    <a:p>
                      <a:r>
                        <a:rPr sz="1725" b="1">
                          <a:solidFill>
                            <a:srgbClr val="FFFFFF"/>
                          </a:solidFill>
                          <a:latin typeface="Arial"/>
                          <a:ea typeface="Arial"/>
                          <a:cs typeface="Arial"/>
                        </a:rPr>
                        <a:t>Sun 7</a:t>
                      </a:r>
                    </a:p>
                  </a:txBody>
                  <a:tcPr marL="123825" marR="123825" marT="66675" marB="66675" anchor="ctr">
                    <a:solidFill>
                      <a:srgbClr val="087E79"/>
                    </a:solidFill>
                  </a:tcPr>
                </a:tc>
              </a:tr>
              <a:tr h="711200">
                <a:tc>
                  <a:txBody>
                    <a:bodyPr/>
                    <a:lstStyle/>
                    <a:p>
                      <a:r>
                        <a:rPr sz="1725" b="0">
                          <a:solidFill>
                            <a:srgbClr val="18324A"/>
                          </a:solidFill>
                          <a:latin typeface="Arial"/>
                          <a:ea typeface="Arial"/>
                          <a:cs typeface="Arial"/>
                        </a:rPr>
                        <a:t>Forecast</a:t>
                      </a:r>
                    </a:p>
                  </a:txBody>
                  <a:tcPr marL="123825" marR="123825" marT="66675" marB="66675" anchor="ctr">
                    <a:solidFill>
                      <a:srgbClr val="FFFFFF"/>
                    </a:solidFill>
                  </a:tcPr>
                </a:tc>
                <a:tc>
                  <a:txBody>
                    <a:bodyPr/>
                    <a:lstStyle/>
                    <a:p>
                      <a:r>
                        <a:rPr sz="1725" b="0">
                          <a:solidFill>
                            <a:srgbClr val="18324A"/>
                          </a:solidFill>
                          <a:latin typeface="Arial"/>
                          <a:ea typeface="Arial"/>
                          <a:cs typeface="Arial"/>
                        </a:rPr>
                        <a:t>14.0</a:t>
                      </a:r>
                    </a:p>
                  </a:txBody>
                  <a:tcPr marL="123825" marR="123825" marT="66675" marB="66675" anchor="ctr">
                    <a:solidFill>
                      <a:srgbClr val="A9E7D7"/>
                    </a:solidFill>
                  </a:tcPr>
                </a:tc>
                <a:tc>
                  <a:txBody>
                    <a:bodyPr/>
                    <a:lstStyle/>
                    <a:p>
                      <a:r>
                        <a:rPr sz="1725" b="0">
                          <a:solidFill>
                            <a:srgbClr val="18324A"/>
                          </a:solidFill>
                          <a:latin typeface="Arial"/>
                          <a:ea typeface="Arial"/>
                          <a:cs typeface="Arial"/>
                        </a:rPr>
                        <a:t>15.7</a:t>
                      </a:r>
                    </a:p>
                  </a:txBody>
                  <a:tcPr marL="123825" marR="123825" marT="66675" marB="66675" anchor="ctr">
                    <a:solidFill>
                      <a:srgbClr val="A9E7D7"/>
                    </a:solidFill>
                  </a:tcPr>
                </a:tc>
                <a:tc>
                  <a:txBody>
                    <a:bodyPr/>
                    <a:lstStyle/>
                    <a:p>
                      <a:r>
                        <a:rPr sz="1725" b="0">
                          <a:solidFill>
                            <a:srgbClr val="18324A"/>
                          </a:solidFill>
                          <a:latin typeface="Arial"/>
                          <a:ea typeface="Arial"/>
                          <a:cs typeface="Arial"/>
                        </a:rPr>
                        <a:t>15.4</a:t>
                      </a:r>
                    </a:p>
                  </a:txBody>
                  <a:tcPr marL="123825" marR="123825" marT="66675" marB="66675" anchor="ctr">
                    <a:solidFill>
                      <a:srgbClr val="A9E7D7"/>
                    </a:solidFill>
                  </a:tcPr>
                </a:tc>
                <a:tc>
                  <a:txBody>
                    <a:bodyPr/>
                    <a:lstStyle/>
                    <a:p>
                      <a:r>
                        <a:rPr sz="1725" b="0">
                          <a:solidFill>
                            <a:srgbClr val="18324A"/>
                          </a:solidFill>
                          <a:latin typeface="Arial"/>
                          <a:ea typeface="Arial"/>
                          <a:cs typeface="Arial"/>
                        </a:rPr>
                        <a:t>15.1</a:t>
                      </a:r>
                    </a:p>
                  </a:txBody>
                  <a:tcPr marL="123825" marR="123825" marT="66675" marB="66675" anchor="ctr">
                    <a:solidFill>
                      <a:srgbClr val="A9E7D7"/>
                    </a:solidFill>
                  </a:tcPr>
                </a:tc>
                <a:tc>
                  <a:txBody>
                    <a:bodyPr/>
                    <a:lstStyle/>
                    <a:p>
                      <a:r>
                        <a:rPr sz="1725" b="0">
                          <a:solidFill>
                            <a:srgbClr val="18324A"/>
                          </a:solidFill>
                          <a:latin typeface="Arial"/>
                          <a:ea typeface="Arial"/>
                          <a:cs typeface="Arial"/>
                        </a:rPr>
                        <a:t>17.3</a:t>
                      </a:r>
                    </a:p>
                  </a:txBody>
                  <a:tcPr marL="123825" marR="123825" marT="66675" marB="66675" anchor="ctr">
                    <a:solidFill>
                      <a:srgbClr val="A9E7D7"/>
                    </a:solidFill>
                  </a:tcPr>
                </a:tc>
                <a:tc>
                  <a:txBody>
                    <a:bodyPr/>
                    <a:lstStyle/>
                    <a:p>
                      <a:r>
                        <a:rPr sz="1725" b="0">
                          <a:solidFill>
                            <a:srgbClr val="18324A"/>
                          </a:solidFill>
                          <a:latin typeface="Arial"/>
                          <a:ea typeface="Arial"/>
                          <a:cs typeface="Arial"/>
                        </a:rPr>
                        <a:t>17.7</a:t>
                      </a:r>
                    </a:p>
                  </a:txBody>
                  <a:tcPr marL="123825" marR="123825" marT="66675" marB="66675" anchor="ctr">
                    <a:solidFill>
                      <a:srgbClr val="FFFFFF"/>
                    </a:solidFill>
                  </a:tcPr>
                </a:tc>
                <a:tc>
                  <a:txBody>
                    <a:bodyPr/>
                    <a:lstStyle/>
                    <a:p>
                      <a:r>
                        <a:rPr sz="1725" b="0">
                          <a:solidFill>
                            <a:srgbClr val="18324A"/>
                          </a:solidFill>
                          <a:latin typeface="Arial"/>
                          <a:ea typeface="Arial"/>
                          <a:cs typeface="Arial"/>
                        </a:rPr>
                        <a:t>19.6</a:t>
                      </a:r>
                    </a:p>
                  </a:txBody>
                  <a:tcPr marL="123825" marR="123825" marT="66675" marB="66675" anchor="ctr">
                    <a:solidFill>
                      <a:srgbClr val="FFFFFF"/>
                    </a:solidFill>
                  </a:tcPr>
                </a:tc>
              </a:tr>
              <a:tr h="711200">
                <a:tc>
                  <a:txBody>
                    <a:bodyPr/>
                    <a:lstStyle/>
                    <a:p>
                      <a:r>
                        <a:rPr sz="1725" b="0">
                          <a:solidFill>
                            <a:srgbClr val="18324A"/>
                          </a:solidFill>
                          <a:latin typeface="Arial"/>
                          <a:ea typeface="Arial"/>
                          <a:cs typeface="Arial"/>
                        </a:rPr>
                        <a:t>Timing</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Before</a:t>
                      </a:r>
                    </a:p>
                    <a:p>
                      <a:r>
                        <a:rPr sz="1725" b="0">
                          <a:solidFill>
                            <a:srgbClr val="18324A"/>
                          </a:solidFill>
                          <a:latin typeface="Arial"/>
                          <a:ea typeface="Arial"/>
                          <a:cs typeface="Arial"/>
                        </a:rPr>
                        <a:t>delivery</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Before</a:t>
                      </a:r>
                    </a:p>
                    <a:p>
                      <a:r>
                        <a:rPr sz="1725" b="0">
                          <a:solidFill>
                            <a:srgbClr val="18324A"/>
                          </a:solidFill>
                          <a:latin typeface="Arial"/>
                          <a:ea typeface="Arial"/>
                          <a:cs typeface="Arial"/>
                        </a:rPr>
                        <a:t>delivery</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Review</a:t>
                      </a:r>
                    </a:p>
                    <a:p>
                      <a:r>
                        <a:rPr sz="1725" b="0">
                          <a:solidFill>
                            <a:srgbClr val="18324A"/>
                          </a:solidFill>
                          <a:latin typeface="Arial"/>
                          <a:ea typeface="Arial"/>
                          <a:cs typeface="Arial"/>
                        </a:rPr>
                        <a:t>coverage</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Review</a:t>
                      </a:r>
                    </a:p>
                    <a:p>
                      <a:r>
                        <a:rPr sz="1725" b="0">
                          <a:solidFill>
                            <a:srgbClr val="18324A"/>
                          </a:solidFill>
                          <a:latin typeface="Arial"/>
                          <a:ea typeface="Arial"/>
                          <a:cs typeface="Arial"/>
                        </a:rPr>
                        <a:t>coverage</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Review</a:t>
                      </a:r>
                    </a:p>
                    <a:p>
                      <a:r>
                        <a:rPr sz="1725" b="0">
                          <a:solidFill>
                            <a:srgbClr val="18324A"/>
                          </a:solidFill>
                          <a:latin typeface="Arial"/>
                          <a:ea typeface="Arial"/>
                          <a:cs typeface="Arial"/>
                        </a:rPr>
                        <a:t>coverage</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Outside</a:t>
                      </a:r>
                    </a:p>
                    <a:p>
                      <a:r>
                        <a:rPr sz="1725" b="0">
                          <a:solidFill>
                            <a:srgbClr val="18324A"/>
                          </a:solidFill>
                          <a:latin typeface="Arial"/>
                          <a:ea typeface="Arial"/>
                          <a:cs typeface="Arial"/>
                        </a:rPr>
                        <a:t>coverage</a:t>
                      </a:r>
                    </a:p>
                  </a:txBody>
                  <a:tcPr marL="123825" marR="123825" marT="66675" marB="66675" anchor="ctr">
                    <a:solidFill>
                      <a:srgbClr val="F7F5F0"/>
                    </a:solidFill>
                  </a:tcPr>
                </a:tc>
                <a:tc>
                  <a:txBody>
                    <a:bodyPr/>
                    <a:lstStyle/>
                    <a:p>
                      <a:r>
                        <a:rPr sz="1725" b="0">
                          <a:solidFill>
                            <a:srgbClr val="18324A"/>
                          </a:solidFill>
                          <a:latin typeface="Arial"/>
                          <a:ea typeface="Arial"/>
                          <a:cs typeface="Arial"/>
                        </a:rPr>
                        <a:t>Outside</a:t>
                      </a:r>
                    </a:p>
                    <a:p>
                      <a:r>
                        <a:rPr sz="1725" b="0">
                          <a:solidFill>
                            <a:srgbClr val="18324A"/>
                          </a:solidFill>
                          <a:latin typeface="Arial"/>
                          <a:ea typeface="Arial"/>
                          <a:cs typeface="Arial"/>
                        </a:rPr>
                        <a:t>coverage</a:t>
                      </a:r>
                    </a:p>
                  </a:txBody>
                  <a:tcPr marL="123825" marR="123825" marT="66675" marB="66675" anchor="ctr">
                    <a:solidFill>
                      <a:srgbClr val="F7F5F0"/>
                    </a:solidFill>
                  </a:tcPr>
                </a:tc>
              </a:tr>
            </a:tbl>
          </a:graphicData>
        </a:graphic>
      </p:graphicFrame>
      <p:sp>
        <p:nvSpPr>
          <p:cNvPr id="7" name="">
            <a:extLst xmlns:a="http://schemas.openxmlformats.org/drawingml/2006/main">
              <a:ext uri="{FF2B5EF4-FFF2-40B4-BE49-F238E27FC236}">
                <a16:creationId xmlns:a16="http://schemas.microsoft.com/office/drawing/2014/main" id="{1D4B8CCB-8298-402C-99E0-EC9109AD7147}"/>
              </a:ext>
            </a:extLst>
          </p:cNvPr>
          <p:cNvSpPr>
            <a:spLocks xmlns:a="http://schemas.openxmlformats.org/drawingml/2006/main" noGrp="1"/>
          </p:cNvSpPr>
          <p:nvPr/>
        </p:nvSpPr>
        <p:spPr>
          <a:xfrm xmlns:a="http://schemas.openxmlformats.org/drawingml/2006/main">
            <a:off x="657225" y="5429250"/>
            <a:ext cx="1047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8324A"/>
                </a:solidFill>
                <a:latin typeface="Arial"/>
                <a:ea typeface="Arial"/>
                <a:cs typeface="Arial"/>
              </a:defRPr>
            </a:defPPr>
          </a:lstStyle>
          <a:p xmlns:a="http://schemas.openxmlformats.org/drawingml/2006/main">
            <a:pPr>
              <a:defRPr sz="2550" b="1">
                <a:solidFill>
                  <a:srgbClr val="18324A"/>
                </a:solidFill>
                <a:latin typeface="Arial"/>
                <a:ea typeface="Arial"/>
                <a:cs typeface="Arial"/>
              </a:defRPr>
            </a:pPr>
            <a:r>
              <a:rPr sz="2550" b="1">
                <a:solidFill>
                  <a:srgbClr val="18324A"/>
                </a:solidFill>
                <a:latin typeface="Arial"/>
                <a:ea typeface="Arial"/>
                <a:cs typeface="Arial"/>
              </a:rPr>
              <a:t>Five-day demand = 77.52 units</a:t>
            </a:r>
          </a:p>
        </p:txBody>
      </p:sp>
    </p:spTree>
    <p:extLst>
      <p:ext uri="{BB962C8B-B14F-4D97-AF65-F5344CB8AC3E}">
        <p14:creationId xmlns:p14="http://schemas.microsoft.com/office/powerpoint/2010/main" val="1949672233"/>
      </p:ext>
    </p:extLst>
  </p:cSld>
</p:sld>
</file>

<file path=ppt/slides/slide12.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AB1871-3AAF-4AB7-8E7C-FE05A0490792}"/>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WORKED CALCULATION</a:t>
            </a:r>
          </a:p>
        </p:txBody>
      </p:sp>
      <p:sp>
        <p:nvSpPr>
          <p:cNvPr id="2" name="">
            <a:extLst xmlns:a="http://schemas.openxmlformats.org/drawingml/2006/main">
              <a:ext uri="{FF2B5EF4-FFF2-40B4-BE49-F238E27FC236}">
                <a16:creationId xmlns:a16="http://schemas.microsoft.com/office/drawing/2014/main" id="{C2440B39-91BE-4980-ADC5-0647EC3C7B78}"/>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Why the app suggests 38 units</a:t>
            </a:r>
          </a:p>
        </p:txBody>
      </p:sp>
      <p:sp>
        <p:nvSpPr>
          <p:cNvPr id="3" name="">
            <a:extLst xmlns:a="http://schemas.openxmlformats.org/drawingml/2006/main">
              <a:ext uri="{FF2B5EF4-FFF2-40B4-BE49-F238E27FC236}">
                <a16:creationId xmlns:a16="http://schemas.microsoft.com/office/drawing/2014/main" id="{5DD77707-00EB-4980-B36D-A25E71EF9108}"/>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EB04AB96-84DC-4AFD-B941-C480EA225DCA}"/>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61C9E7C-46E0-44D1-B73D-9B9145B6EFFC}"/>
              </a:ext>
            </a:extLst>
          </p:cNvPr>
          <p:cNvSpPr>
            <a:spLocks xmlns:a="http://schemas.openxmlformats.org/drawingml/2006/main" noGrp="1"/>
          </p:cNvSpPr>
          <p:nvPr/>
        </p:nvSpPr>
        <p:spPr>
          <a:xfrm xmlns:a="http://schemas.openxmlformats.org/drawingml/2006/main">
            <a:off x="638175" y="1838325"/>
            <a:ext cx="495300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625" b="1">
                <a:solidFill>
                  <a:srgbClr val="A9E7D7"/>
                </a:solidFill>
                <a:latin typeface="Arial"/>
                <a:ea typeface="Arial"/>
                <a:cs typeface="Arial"/>
              </a:defRPr>
            </a:defPPr>
          </a:lstStyle>
          <a:p xmlns:a="http://schemas.openxmlformats.org/drawingml/2006/main">
            <a:pPr>
              <a:defRPr sz="5625" b="1">
                <a:solidFill>
                  <a:srgbClr val="A9E7D7"/>
                </a:solidFill>
                <a:latin typeface="Arial"/>
                <a:ea typeface="Arial"/>
                <a:cs typeface="Arial"/>
              </a:defRPr>
            </a:pPr>
            <a:r>
              <a:rPr sz="5625" b="1">
                <a:solidFill>
                  <a:srgbClr val="A9E7D7"/>
                </a:solidFill>
                <a:latin typeface="Arial"/>
                <a:ea typeface="Arial"/>
                <a:cs typeface="Arial"/>
              </a:rPr>
              <a:t>77.52</a:t>
            </a:r>
          </a:p>
        </p:txBody>
      </p:sp>
      <p:sp>
        <p:nvSpPr>
          <p:cNvPr id="6" name="">
            <a:extLst xmlns:a="http://schemas.openxmlformats.org/drawingml/2006/main">
              <a:ext uri="{FF2B5EF4-FFF2-40B4-BE49-F238E27FC236}">
                <a16:creationId xmlns:a16="http://schemas.microsoft.com/office/drawing/2014/main" id="{570101B6-4885-43A3-8387-94CEA656886E}"/>
              </a:ext>
            </a:extLst>
          </p:cNvPr>
          <p:cNvSpPr>
            <a:spLocks xmlns:a="http://schemas.openxmlformats.org/drawingml/2006/main" noGrp="1"/>
          </p:cNvSpPr>
          <p:nvPr/>
        </p:nvSpPr>
        <p:spPr>
          <a:xfrm xmlns:a="http://schemas.openxmlformats.org/drawingml/2006/main">
            <a:off x="676275" y="2933700"/>
            <a:ext cx="5019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five-day forecast demand</a:t>
            </a:r>
          </a:p>
        </p:txBody>
      </p:sp>
      <p:sp>
        <p:nvSpPr>
          <p:cNvPr id="7" name="">
            <a:extLst xmlns:a="http://schemas.openxmlformats.org/drawingml/2006/main">
              <a:ext uri="{FF2B5EF4-FFF2-40B4-BE49-F238E27FC236}">
                <a16:creationId xmlns:a16="http://schemas.microsoft.com/office/drawing/2014/main" id="{45D6B107-8235-4452-8331-9A63DBABEB71}"/>
              </a:ext>
            </a:extLst>
          </p:cNvPr>
          <p:cNvSpPr>
            <a:spLocks xmlns:a="http://schemas.openxmlformats.org/drawingml/2006/main" noGrp="1"/>
          </p:cNvSpPr>
          <p:nvPr/>
        </p:nvSpPr>
        <p:spPr>
          <a:xfrm xmlns:a="http://schemas.openxmlformats.org/drawingml/2006/main">
            <a:off x="657225" y="3905250"/>
            <a:ext cx="6715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FFFFF"/>
                </a:solidFill>
                <a:latin typeface="Arial"/>
                <a:ea typeface="Arial"/>
                <a:cs typeface="Arial"/>
              </a:defRPr>
            </a:def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+ 10 buffer = 87.52 target</a:t>
            </a:r>
          </a:p>
        </p:txBody>
      </p:sp>
      <p:sp>
        <p:nvSpPr>
          <p:cNvPr id="8" name="">
            <a:extLst xmlns:a="http://schemas.openxmlformats.org/drawingml/2006/main">
              <a:ext uri="{FF2B5EF4-FFF2-40B4-BE49-F238E27FC236}">
                <a16:creationId xmlns:a16="http://schemas.microsoft.com/office/drawing/2014/main" id="{E323CEDF-F079-42AC-A394-290D9FC7BE5B}"/>
              </a:ext>
            </a:extLst>
          </p:cNvPr>
          <p:cNvSpPr>
            <a:spLocks xmlns:a="http://schemas.openxmlformats.org/drawingml/2006/main" noGrp="1"/>
          </p:cNvSpPr>
          <p:nvPr/>
        </p:nvSpPr>
        <p:spPr>
          <a:xfrm xmlns:a="http://schemas.openxmlformats.org/drawingml/2006/main">
            <a:off x="657225" y="4695825"/>
            <a:ext cx="6800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50 available + 0 outstanding = 50 position</a:t>
            </a:r>
          </a:p>
        </p:txBody>
      </p:sp>
      <p:sp>
        <p:nvSpPr>
          <p:cNvPr id="9" name="">
            <a:extLst xmlns:a="http://schemas.openxmlformats.org/drawingml/2006/main">
              <a:ext uri="{FF2B5EF4-FFF2-40B4-BE49-F238E27FC236}">
                <a16:creationId xmlns:a16="http://schemas.microsoft.com/office/drawing/2014/main" id="{58F93B4F-799E-4440-85BC-B9623520B903}"/>
              </a:ext>
            </a:extLst>
          </p:cNvPr>
          <p:cNvSpPr>
            <a:spLocks xmlns:a="http://schemas.openxmlformats.org/drawingml/2006/main" noGrp="1"/>
          </p:cNvSpPr>
          <p:nvPr/>
        </p:nvSpPr>
        <p:spPr>
          <a:xfrm xmlns:a="http://schemas.openxmlformats.org/drawingml/2006/main">
            <a:off x="8753475" y="2171700"/>
            <a:ext cx="28384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100" b="1">
                <a:solidFill>
                  <a:srgbClr val="A9E7D7"/>
                </a:solidFill>
                <a:latin typeface="Arial"/>
                <a:ea typeface="Arial"/>
                <a:cs typeface="Arial"/>
              </a:defRPr>
            </a:defPPr>
          </a:lstStyle>
          <a:p xmlns:a="http://schemas.openxmlformats.org/drawingml/2006/main">
            <a:pPr>
              <a:defRPr sz="8100" b="1">
                <a:solidFill>
                  <a:srgbClr val="A9E7D7"/>
                </a:solidFill>
                <a:latin typeface="Arial"/>
                <a:ea typeface="Arial"/>
                <a:cs typeface="Arial"/>
              </a:defRPr>
            </a:pPr>
            <a:r>
              <a:rPr sz="8100" b="1">
                <a:solidFill>
                  <a:srgbClr val="A9E7D7"/>
                </a:solidFill>
                <a:latin typeface="Arial"/>
                <a:ea typeface="Arial"/>
                <a:cs typeface="Arial"/>
              </a:rPr>
              <a:t>38</a:t>
            </a:r>
          </a:p>
        </p:txBody>
      </p:sp>
      <p:sp>
        <p:nvSpPr>
          <p:cNvPr id="10" name="">
            <a:extLst xmlns:a="http://schemas.openxmlformats.org/drawingml/2006/main">
              <a:ext uri="{FF2B5EF4-FFF2-40B4-BE49-F238E27FC236}">
                <a16:creationId xmlns:a16="http://schemas.microsoft.com/office/drawing/2014/main" id="{5FFB7A3D-FE2F-4CF9-89EB-DA048ABB7F15}"/>
              </a:ext>
            </a:extLst>
          </p:cNvPr>
          <p:cNvSpPr>
            <a:spLocks xmlns:a="http://schemas.openxmlformats.org/drawingml/2006/main" noGrp="1"/>
          </p:cNvSpPr>
          <p:nvPr/>
        </p:nvSpPr>
        <p:spPr>
          <a:xfrm xmlns:a="http://schemas.openxmlformats.org/drawingml/2006/main">
            <a:off x="8753475" y="3562350"/>
            <a:ext cx="28479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FFFFF"/>
                </a:solidFill>
                <a:latin typeface="Arial"/>
                <a:ea typeface="Arial"/>
                <a:cs typeface="Arial"/>
              </a:defRPr>
            </a:def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units to order</a:t>
            </a:r>
          </a:p>
        </p:txBody>
      </p:sp>
      <p:sp>
        <p:nvSpPr>
          <p:cNvPr id="11" name="">
            <a:extLst xmlns:a="http://schemas.openxmlformats.org/drawingml/2006/main">
              <a:ext uri="{FF2B5EF4-FFF2-40B4-BE49-F238E27FC236}">
                <a16:creationId xmlns:a16="http://schemas.microsoft.com/office/drawing/2014/main" id="{C34B1697-D595-470F-880A-35102611168E}"/>
              </a:ext>
            </a:extLst>
          </p:cNvPr>
          <p:cNvSpPr>
            <a:spLocks xmlns:a="http://schemas.openxmlformats.org/drawingml/2006/main" noGrp="1"/>
          </p:cNvSpPr>
          <p:nvPr/>
        </p:nvSpPr>
        <p:spPr>
          <a:xfrm xmlns:a="http://schemas.openxmlformats.org/drawingml/2006/main">
            <a:off x="8705850" y="4695825"/>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A9E7D7"/>
                </a:solidFill>
                <a:latin typeface="Arial"/>
                <a:ea typeface="Arial"/>
                <a:cs typeface="Arial"/>
              </a:defRPr>
            </a:defPPr>
          </a:lstStyle>
          <a:p xmlns:a="http://schemas.openxmlformats.org/drawingml/2006/main">
            <a:pPr>
              <a:defRPr sz="1950" b="0">
                <a:solidFill>
                  <a:srgbClr val="A9E7D7"/>
                </a:solidFill>
                <a:latin typeface="Arial"/>
                <a:ea typeface="Arial"/>
                <a:cs typeface="Arial"/>
              </a:defRPr>
            </a:pPr>
            <a:r>
              <a:rPr sz="1950" b="0">
                <a:solidFill>
                  <a:srgbClr val="A9E7D7"/>
                </a:solidFill>
                <a:latin typeface="Arial"/>
                <a:ea typeface="Arial"/>
                <a:cs typeface="Arial"/>
              </a:rPr>
              <a:t>87.52 − 50 = 37.52</a:t>
            </a:r>
          </a:p>
        </p:txBody>
      </p:sp>
      <p:sp>
        <p:nvSpPr>
          <p:cNvPr id="12" name="">
            <a:extLst xmlns:a="http://schemas.openxmlformats.org/drawingml/2006/main">
              <a:ext uri="{FF2B5EF4-FFF2-40B4-BE49-F238E27FC236}">
                <a16:creationId xmlns:a16="http://schemas.microsoft.com/office/drawing/2014/main" id="{2318FF47-C02A-4EFB-8B92-2BA4DE686EE0}"/>
              </a:ext>
            </a:extLst>
          </p:cNvPr>
          <p:cNvSpPr>
            <a:spLocks xmlns:a="http://schemas.openxmlformats.org/drawingml/2006/main" noGrp="1"/>
          </p:cNvSpPr>
          <p:nvPr/>
        </p:nvSpPr>
        <p:spPr>
          <a:xfrm xmlns:a="http://schemas.openxmlformats.org/drawingml/2006/main">
            <a:off x="8705850" y="5295900"/>
            <a:ext cx="2847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Rounded up</a:t>
            </a:r>
          </a:p>
        </p:txBody>
      </p:sp>
    </p:spTree>
    <p:extLst>
      <p:ext uri="{BB962C8B-B14F-4D97-AF65-F5344CB8AC3E}">
        <p14:creationId xmlns:p14="http://schemas.microsoft.com/office/powerpoint/2010/main" val="1419013244"/>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7C036C-A328-4A03-BDFB-F123498B6325}"/>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 SECOND PRODUCT 1 SCENARIO</a:t>
            </a:r>
          </a:p>
        </p:txBody>
      </p:sp>
      <p:sp>
        <p:nvSpPr>
          <p:cNvPr id="2" name="">
            <a:extLst xmlns:a="http://schemas.openxmlformats.org/drawingml/2006/main">
              <a:ext uri="{FF2B5EF4-FFF2-40B4-BE49-F238E27FC236}">
                <a16:creationId xmlns:a16="http://schemas.microsoft.com/office/drawing/2014/main" id="{CC437FB7-CCAE-446B-9491-3262D7C3D637}"/>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warning before delivery</a:t>
            </a:r>
          </a:p>
        </p:txBody>
      </p:sp>
      <p:sp>
        <p:nvSpPr>
          <p:cNvPr id="3" name="">
            <a:extLst xmlns:a="http://schemas.openxmlformats.org/drawingml/2006/main">
              <a:ext uri="{FF2B5EF4-FFF2-40B4-BE49-F238E27FC236}">
                <a16:creationId xmlns:a16="http://schemas.microsoft.com/office/drawing/2014/main" id="{10A5A9F8-5B0B-48BE-AFE3-8AB5AD90CD98}"/>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B09DDAA4-AE63-482F-8986-3B292D18D6EE}"/>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D79DBFA8-5F4B-407B-8530-61B6C1902906}"/>
              </a:ext>
            </a:extLst>
          </p:cNvPr>
          <p:cNvGraphicFramePr/>
          <p:nvPr/>
        </p:nvGraphicFramePr>
        <p:xfrm>
          <a:off xmlns:a="http://schemas.openxmlformats.org/drawingml/2006/main" x="619125" y="1952625"/>
          <a:ext xmlns:a="http://schemas.openxmlformats.org/drawingml/2006/main" cx="10858500" cy="2562225"/>
        </p:xfrm>
        <a:graphic xmlns:a="http://schemas.openxmlformats.org/drawingml/2006/main">
          <a:graphicData uri="http://schemas.openxmlformats.org/drawingml/2006/table">
            <a:tbl>
              <a:tblPr/>
              <a:tblGrid>
                <a:gridCol w="8096250"/>
                <a:gridCol w="2762250"/>
              </a:tblGrid>
              <a:tr h="640556">
                <a:tc>
                  <a:txBody>
                    <a:bodyPr/>
                    <a:lstStyle/>
                    <a:p>
                      <a:r>
                        <a:rPr sz="2175" b="1">
                          <a:solidFill>
                            <a:srgbClr val="FFFFFF"/>
                          </a:solidFill>
                          <a:latin typeface="Arial"/>
                          <a:ea typeface="Arial"/>
                          <a:cs typeface="Arial"/>
                        </a:rPr>
                        <a:t>Before the delivery</a:t>
                      </a:r>
                    </a:p>
                  </a:txBody>
                  <a:tcPr marL="123825" marR="123825" marT="66675" marB="66675" anchor="ctr">
                    <a:solidFill>
                      <a:srgbClr val="087E79"/>
                    </a:solidFill>
                  </a:tcPr>
                </a:tc>
                <a:tc>
                  <a:txBody>
                    <a:bodyPr/>
                    <a:lstStyle/>
                    <a:p>
                      <a:r>
                        <a:rPr sz="2175" b="1">
                          <a:solidFill>
                            <a:srgbClr val="FFFFFF"/>
                          </a:solidFill>
                          <a:latin typeface="Arial"/>
                          <a:ea typeface="Arial"/>
                          <a:cs typeface="Arial"/>
                        </a:rPr>
                        <a:t>Units</a:t>
                      </a:r>
                    </a:p>
                  </a:txBody>
                  <a:tcPr marL="123825" marR="123825" marT="66675" marB="66675" anchor="ctr">
                    <a:solidFill>
                      <a:srgbClr val="087E79"/>
                    </a:solidFill>
                  </a:tcPr>
                </a:tc>
              </a:tr>
              <a:tr h="640556">
                <a:tc>
                  <a:txBody>
                    <a:bodyPr/>
                    <a:lstStyle/>
                    <a:p>
                      <a:r>
                        <a:rPr sz="2175" b="0">
                          <a:solidFill>
                            <a:srgbClr val="18324A"/>
                          </a:solidFill>
                          <a:latin typeface="Arial"/>
                          <a:ea typeface="Arial"/>
                          <a:cs typeface="Arial"/>
                        </a:rPr>
                        <a:t>First two days’ forecast demand</a:t>
                      </a:r>
                    </a:p>
                  </a:txBody>
                  <a:tcPr marL="123825" marR="123825" marT="66675" marB="66675" anchor="ctr">
                    <a:solidFill>
                      <a:srgbClr val="FFFFFF"/>
                    </a:solidFill>
                  </a:tcPr>
                </a:tc>
                <a:tc>
                  <a:txBody>
                    <a:bodyPr/>
                    <a:lstStyle/>
                    <a:p>
                      <a:r>
                        <a:rPr sz="2175" b="0">
                          <a:solidFill>
                            <a:srgbClr val="18324A"/>
                          </a:solidFill>
                          <a:latin typeface="Arial"/>
                          <a:ea typeface="Arial"/>
                          <a:cs typeface="Arial"/>
                        </a:rPr>
                        <a:t>29.8</a:t>
                      </a:r>
                    </a:p>
                  </a:txBody>
                  <a:tcPr marL="123825" marR="123825" marT="66675" marB="66675" anchor="ctr">
                    <a:solidFill>
                      <a:srgbClr val="FFFFFF"/>
                    </a:solidFill>
                  </a:tcPr>
                </a:tc>
              </a:tr>
              <a:tr h="640556">
                <a:tc>
                  <a:txBody>
                    <a:bodyPr/>
                    <a:lstStyle/>
                    <a:p>
                      <a:r>
                        <a:rPr sz="2175" b="0">
                          <a:solidFill>
                            <a:srgbClr val="18324A"/>
                          </a:solidFill>
                          <a:latin typeface="Arial"/>
                          <a:ea typeface="Arial"/>
                          <a:cs typeface="Arial"/>
                        </a:rPr>
                        <a:t>Stock physically available</a:t>
                      </a:r>
                    </a:p>
                  </a:txBody>
                  <a:tcPr marL="123825" marR="123825" marT="66675" marB="66675" anchor="ctr">
                    <a:solidFill>
                      <a:srgbClr val="F7F5F0"/>
                    </a:solidFill>
                  </a:tcPr>
                </a:tc>
                <a:tc>
                  <a:txBody>
                    <a:bodyPr/>
                    <a:lstStyle/>
                    <a:p>
                      <a:r>
                        <a:rPr sz="2175" b="0">
                          <a:solidFill>
                            <a:srgbClr val="18324A"/>
                          </a:solidFill>
                          <a:latin typeface="Arial"/>
                          <a:ea typeface="Arial"/>
                          <a:cs typeface="Arial"/>
                        </a:rPr>
                        <a:t>5.0</a:t>
                      </a:r>
                    </a:p>
                  </a:txBody>
                  <a:tcPr marL="123825" marR="123825" marT="66675" marB="66675" anchor="ctr">
                    <a:solidFill>
                      <a:srgbClr val="F7F5F0"/>
                    </a:solidFill>
                  </a:tcPr>
                </a:tc>
              </a:tr>
              <a:tr h="640556">
                <a:tc>
                  <a:txBody>
                    <a:bodyPr/>
                    <a:lstStyle/>
                    <a:p>
                      <a:r>
                        <a:rPr sz="2175" b="0">
                          <a:solidFill>
                            <a:srgbClr val="18324A"/>
                          </a:solidFill>
                          <a:latin typeface="Arial"/>
                          <a:ea typeface="Arial"/>
                          <a:cs typeface="Arial"/>
                        </a:rPr>
                        <a:t>Potential shortage</a:t>
                      </a:r>
                    </a:p>
                  </a:txBody>
                  <a:tcPr marL="123825" marR="123825" marT="66675" marB="66675" anchor="ctr">
                    <a:solidFill>
                      <a:srgbClr val="FFFFFF"/>
                    </a:solidFill>
                  </a:tcPr>
                </a:tc>
                <a:tc>
                  <a:txBody>
                    <a:bodyPr/>
                    <a:lstStyle/>
                    <a:p>
                      <a:r>
                        <a:rPr sz="2175" b="0">
                          <a:solidFill>
                            <a:srgbClr val="18324A"/>
                          </a:solidFill>
                          <a:latin typeface="Arial"/>
                          <a:ea typeface="Arial"/>
                          <a:cs typeface="Arial"/>
                        </a:rPr>
                        <a:t>24.8</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96F0856-04E8-4065-A638-DDB0056BA6E0}"/>
              </a:ext>
            </a:extLst>
          </p:cNvPr>
          <p:cNvSpPr>
            <a:spLocks xmlns:a="http://schemas.openxmlformats.org/drawingml/2006/main" noGrp="1"/>
          </p:cNvSpPr>
          <p:nvPr/>
        </p:nvSpPr>
        <p:spPr>
          <a:xfrm xmlns:a="http://schemas.openxmlformats.org/drawingml/2006/main">
            <a:off x="657225" y="4876800"/>
            <a:ext cx="10477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A45C15"/>
                </a:solidFill>
                <a:latin typeface="Arial"/>
                <a:ea typeface="Arial"/>
                <a:cs typeface="Arial"/>
              </a:defRPr>
            </a:defPPr>
          </a:lstStyle>
          <a:p xmlns:a="http://schemas.openxmlformats.org/drawingml/2006/main">
            <a:pPr>
              <a:defRPr sz="2700" b="1">
                <a:solidFill>
                  <a:srgbClr val="A45C15"/>
                </a:solidFill>
                <a:latin typeface="Arial"/>
                <a:ea typeface="Arial"/>
                <a:cs typeface="Arial"/>
              </a:defRPr>
            </a:pPr>
            <a:r>
              <a:rPr sz="2700" b="1">
                <a:solidFill>
                  <a:srgbClr val="A45C15"/>
                </a:solidFill>
                <a:latin typeface="Arial"/>
                <a:ea typeface="Arial"/>
                <a:cs typeface="Arial"/>
              </a:rPr>
              <a:t>The new order is 83 units.</a:t>
            </a:r>
          </a:p>
        </p:txBody>
      </p:sp>
      <p:sp>
        <p:nvSpPr>
          <p:cNvPr id="7" name="">
            <a:extLst xmlns:a="http://schemas.openxmlformats.org/drawingml/2006/main">
              <a:ext uri="{FF2B5EF4-FFF2-40B4-BE49-F238E27FC236}">
                <a16:creationId xmlns:a16="http://schemas.microsoft.com/office/drawing/2014/main" id="{988890A5-A882-4DF6-878E-C44758E59E32}"/>
              </a:ext>
            </a:extLst>
          </p:cNvPr>
          <p:cNvSpPr>
            <a:spLocks xmlns:a="http://schemas.openxmlformats.org/drawingml/2006/main" noGrp="1"/>
          </p:cNvSpPr>
          <p:nvPr/>
        </p:nvSpPr>
        <p:spPr>
          <a:xfrm xmlns:a="http://schemas.openxmlformats.org/drawingml/2006/main">
            <a:off x="657225" y="5591175"/>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An order arriving later cannot cover earlier sales.</a:t>
            </a:r>
          </a:p>
        </p:txBody>
      </p:sp>
    </p:spTree>
    <p:extLst>
      <p:ext uri="{BB962C8B-B14F-4D97-AF65-F5344CB8AC3E}">
        <p14:creationId xmlns:p14="http://schemas.microsoft.com/office/powerpoint/2010/main" val="1193307342"/>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74652C-5D16-4BE4-A949-B12058D0BBD2}"/>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SAFEGUARDS</a:t>
            </a:r>
          </a:p>
        </p:txBody>
      </p:sp>
      <p:sp>
        <p:nvSpPr>
          <p:cNvPr id="2" name="">
            <a:extLst xmlns:a="http://schemas.openxmlformats.org/drawingml/2006/main">
              <a:ext uri="{FF2B5EF4-FFF2-40B4-BE49-F238E27FC236}">
                <a16:creationId xmlns:a16="http://schemas.microsoft.com/office/drawing/2014/main" id="{40203B11-BCD6-4360-9B8D-DF22DD1DF960}"/>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Checks that protect the calculation</a:t>
            </a:r>
          </a:p>
        </p:txBody>
      </p:sp>
      <p:sp>
        <p:nvSpPr>
          <p:cNvPr id="3" name="">
            <a:extLst xmlns:a="http://schemas.openxmlformats.org/drawingml/2006/main">
              <a:ext uri="{FF2B5EF4-FFF2-40B4-BE49-F238E27FC236}">
                <a16:creationId xmlns:a16="http://schemas.microsoft.com/office/drawing/2014/main" id="{AD4DEE73-2B11-47D3-8E25-43F7288899B2}"/>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896F93F7-F888-4750-A24C-072DDA1F0B1D}"/>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5211B1C-194C-44BE-96AA-0E1E15FDD805}"/>
              </a:ext>
            </a:extLst>
          </p:cNvPr>
          <p:cNvSpPr>
            <a:spLocks xmlns:a="http://schemas.openxmlformats.org/drawingml/2006/main" noGrp="1"/>
          </p:cNvSpPr>
          <p:nvPr/>
        </p:nvSpPr>
        <p:spPr>
          <a:xfrm xmlns:a="http://schemas.openxmlformats.org/drawingml/2006/main">
            <a:off x="6477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BF5D036-CD6F-43E6-B388-E3504C848835}"/>
              </a:ext>
            </a:extLst>
          </p:cNvPr>
          <p:cNvSpPr>
            <a:spLocks xmlns:a="http://schemas.openxmlformats.org/drawingml/2006/main" noGrp="1"/>
          </p:cNvSpPr>
          <p:nvPr/>
        </p:nvSpPr>
        <p:spPr>
          <a:xfrm xmlns:a="http://schemas.openxmlformats.org/drawingml/2006/main">
            <a:off x="1504950" y="19240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Whole, non-negative units and days.</a:t>
            </a:r>
          </a:p>
        </p:txBody>
      </p:sp>
      <p:sp>
        <p:nvSpPr>
          <p:cNvPr id="7" name="">
            <a:extLst xmlns:a="http://schemas.openxmlformats.org/drawingml/2006/main">
              <a:ext uri="{FF2B5EF4-FFF2-40B4-BE49-F238E27FC236}">
                <a16:creationId xmlns:a16="http://schemas.microsoft.com/office/drawing/2014/main" id="{F22505DA-4A39-4D80-9959-962A0BA76C56}"/>
              </a:ext>
            </a:extLst>
          </p:cNvPr>
          <p:cNvSpPr>
            <a:spLocks xmlns:a="http://schemas.openxmlformats.org/drawingml/2006/main" noGrp="1"/>
          </p:cNvSpPr>
          <p:nvPr/>
        </p:nvSpPr>
        <p:spPr>
          <a:xfrm xmlns:a="http://schemas.openxmlformats.org/drawingml/2006/main">
            <a:off x="6477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692A4DA-F3EB-4FE1-BD25-9759AFFA4170}"/>
              </a:ext>
            </a:extLst>
          </p:cNvPr>
          <p:cNvSpPr>
            <a:spLocks xmlns:a="http://schemas.openxmlformats.org/drawingml/2006/main" noGrp="1"/>
          </p:cNvSpPr>
          <p:nvPr/>
        </p:nvSpPr>
        <p:spPr>
          <a:xfrm xmlns:a="http://schemas.openxmlformats.org/drawingml/2006/main">
            <a:off x="1504950" y="29146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Lead time + review interval must be at most 7 days.</a:t>
            </a:r>
          </a:p>
        </p:txBody>
      </p:sp>
      <p:sp>
        <p:nvSpPr>
          <p:cNvPr id="9" name="">
            <a:extLst xmlns:a="http://schemas.openxmlformats.org/drawingml/2006/main">
              <a:ext uri="{FF2B5EF4-FFF2-40B4-BE49-F238E27FC236}">
                <a16:creationId xmlns:a16="http://schemas.microsoft.com/office/drawing/2014/main" id="{F0495FB3-DC03-4119-B66C-85EC305638E0}"/>
              </a:ext>
            </a:extLst>
          </p:cNvPr>
          <p:cNvSpPr>
            <a:spLocks xmlns:a="http://schemas.openxmlformats.org/drawingml/2006/main" noGrp="1"/>
          </p:cNvSpPr>
          <p:nvPr/>
        </p:nvSpPr>
        <p:spPr>
          <a:xfrm xmlns:a="http://schemas.openxmlformats.org/drawingml/2006/main">
            <a:off x="6477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894B758-8DFF-4E2D-9D66-3F58C615C16C}"/>
              </a:ext>
            </a:extLst>
          </p:cNvPr>
          <p:cNvSpPr>
            <a:spLocks xmlns:a="http://schemas.openxmlformats.org/drawingml/2006/main" noGrp="1"/>
          </p:cNvSpPr>
          <p:nvPr/>
        </p:nvSpPr>
        <p:spPr>
          <a:xfrm xmlns:a="http://schemas.openxmlformats.org/drawingml/2006/main">
            <a:off x="1504950" y="39052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Enough stock can give an order of 0 units.</a:t>
            </a:r>
          </a:p>
        </p:txBody>
      </p:sp>
      <p:sp>
        <p:nvSpPr>
          <p:cNvPr id="11" name="">
            <a:extLst xmlns:a="http://schemas.openxmlformats.org/drawingml/2006/main">
              <a:ext uri="{FF2B5EF4-FFF2-40B4-BE49-F238E27FC236}">
                <a16:creationId xmlns:a16="http://schemas.microsoft.com/office/drawing/2014/main" id="{5165D0B4-3A67-4CC1-8C79-D18697BE4A63}"/>
              </a:ext>
            </a:extLst>
          </p:cNvPr>
          <p:cNvSpPr>
            <a:spLocks xmlns:a="http://schemas.openxmlformats.org/drawingml/2006/main" noGrp="1"/>
          </p:cNvSpPr>
          <p:nvPr/>
        </p:nvSpPr>
        <p:spPr>
          <a:xfrm xmlns:a="http://schemas.openxmlformats.org/drawingml/2006/main">
            <a:off x="6477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01181579-A08A-4616-8B35-8581B9271ABC}"/>
              </a:ext>
            </a:extLst>
          </p:cNvPr>
          <p:cNvSpPr>
            <a:spLocks xmlns:a="http://schemas.openxmlformats.org/drawingml/2006/main" noGrp="1"/>
          </p:cNvSpPr>
          <p:nvPr/>
        </p:nvSpPr>
        <p:spPr>
          <a:xfrm xmlns:a="http://schemas.openxmlformats.org/drawingml/2006/main">
            <a:off x="1504950" y="48958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A new product needs its own submitted stock calculation.</a:t>
            </a:r>
          </a:p>
        </p:txBody>
      </p:sp>
    </p:spTree>
    <p:extLst>
      <p:ext uri="{BB962C8B-B14F-4D97-AF65-F5344CB8AC3E}">
        <p14:creationId xmlns:p14="http://schemas.microsoft.com/office/powerpoint/2010/main" val="662332777"/>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457740-3E10-424E-94E2-689CF1EFB956}"/>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THE QUESTION ASSISTANT</a:t>
            </a:r>
          </a:p>
        </p:txBody>
      </p:sp>
      <p:sp>
        <p:nvSpPr>
          <p:cNvPr id="2" name="">
            <a:extLst xmlns:a="http://schemas.openxmlformats.org/drawingml/2006/main">
              <a:ext uri="{FF2B5EF4-FFF2-40B4-BE49-F238E27FC236}">
                <a16:creationId xmlns:a16="http://schemas.microsoft.com/office/drawing/2014/main" id="{6DE8418B-8D96-4376-974E-BC3B148B367F}"/>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Ask StockSense</a:t>
            </a:r>
          </a:p>
        </p:txBody>
      </p:sp>
      <p:sp>
        <p:nvSpPr>
          <p:cNvPr id="3" name="">
            <a:extLst xmlns:a="http://schemas.openxmlformats.org/drawingml/2006/main">
              <a:ext uri="{FF2B5EF4-FFF2-40B4-BE49-F238E27FC236}">
                <a16:creationId xmlns:a16="http://schemas.microsoft.com/office/drawing/2014/main" id="{2B1732A8-64FE-4C2C-ADFF-B721ADA43BF2}"/>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885B419-244A-44C2-AB9B-CAF41D8F5F63}"/>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AB745569-12AB-4746-979A-44E5B4889D78}"/>
              </a:ext>
            </a:extLst>
          </p:cNvPr>
          <p:cNvSpPr>
            <a:spLocks xmlns:a="http://schemas.openxmlformats.org/drawingml/2006/main" noGrp="1"/>
          </p:cNvSpPr>
          <p:nvPr/>
        </p:nvSpPr>
        <p:spPr>
          <a:xfrm xmlns:a="http://schemas.openxmlformats.org/drawingml/2006/main">
            <a:off x="628650" y="2038350"/>
            <a:ext cx="5019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“Compare all products”</a:t>
            </a:r>
          </a:p>
        </p:txBody>
      </p:sp>
      <p:sp>
        <p:nvSpPr>
          <p:cNvPr id="6" name="">
            <a:extLst xmlns:a="http://schemas.openxmlformats.org/drawingml/2006/main">
              <a:ext uri="{FF2B5EF4-FFF2-40B4-BE49-F238E27FC236}">
                <a16:creationId xmlns:a16="http://schemas.microsoft.com/office/drawing/2014/main" id="{0639B2E0-FCDA-47F0-BD47-48977DF27D4B}"/>
              </a:ext>
            </a:extLst>
          </p:cNvPr>
          <p:cNvSpPr>
            <a:spLocks xmlns:a="http://schemas.openxmlformats.org/drawingml/2006/main" noGrp="1"/>
          </p:cNvSpPr>
          <p:nvPr/>
        </p:nvSpPr>
        <p:spPr>
          <a:xfrm xmlns:a="http://schemas.openxmlformats.org/drawingml/2006/main">
            <a:off x="628650" y="3019425"/>
            <a:ext cx="5019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“Which day has the highest forecast?”</a:t>
            </a:r>
          </a:p>
        </p:txBody>
      </p:sp>
      <p:sp>
        <p:nvSpPr>
          <p:cNvPr id="7" name="">
            <a:extLst xmlns:a="http://schemas.openxmlformats.org/drawingml/2006/main">
              <a:ext uri="{FF2B5EF4-FFF2-40B4-BE49-F238E27FC236}">
                <a16:creationId xmlns:a16="http://schemas.microsoft.com/office/drawing/2014/main" id="{3AF90871-FB80-4E16-AC95-E7583FBEB0A8}"/>
              </a:ext>
            </a:extLst>
          </p:cNvPr>
          <p:cNvSpPr>
            <a:spLocks xmlns:a="http://schemas.openxmlformats.org/drawingml/2006/main" noGrp="1"/>
          </p:cNvSpPr>
          <p:nvPr/>
        </p:nvSpPr>
        <p:spPr>
          <a:xfrm xmlns:a="http://schemas.openxmlformats.org/drawingml/2006/main">
            <a:off x="628650" y="4000500"/>
            <a:ext cx="5019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“What does buffer stock mean?”</a:t>
            </a:r>
          </a:p>
        </p:txBody>
      </p:sp>
      <p:sp>
        <p:nvSpPr>
          <p:cNvPr id="8" name="">
            <a:extLst xmlns:a="http://schemas.openxmlformats.org/drawingml/2006/main">
              <a:ext uri="{FF2B5EF4-FFF2-40B4-BE49-F238E27FC236}">
                <a16:creationId xmlns:a16="http://schemas.microsoft.com/office/drawing/2014/main" id="{5434C2C3-DCA6-4462-89E4-8726BF688AE8}"/>
              </a:ext>
            </a:extLst>
          </p:cNvPr>
          <p:cNvSpPr>
            <a:spLocks xmlns:a="http://schemas.openxmlformats.org/drawingml/2006/main" noGrp="1"/>
          </p:cNvSpPr>
          <p:nvPr/>
        </p:nvSpPr>
        <p:spPr>
          <a:xfrm xmlns:a="http://schemas.openxmlformats.org/drawingml/2006/main">
            <a:off x="628650" y="4981575"/>
            <a:ext cx="5019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“Explain my suggested order”</a:t>
            </a:r>
          </a:p>
        </p:txBody>
      </p:sp>
      <p:pic>
        <p:nvPicPr>
          <p:cNvPr id="9" name="">
            <a:extLst xmlns:a="http://schemas.openxmlformats.org/drawingml/2006/main">
              <a:ext uri="{FF2B5EF4-FFF2-40B4-BE49-F238E27FC236}">
                <a16:creationId xmlns:a16="http://schemas.microsoft.com/office/drawing/2014/main" id="{DA0AE925-8CED-4D5B-BE51-22D9E705B20A}"/>
              </a:ext>
            </a:extLst>
          </p:cNvPr>
          <p:cNvPicPr>
            <a:picLocks xmlns:a="http://schemas.openxmlformats.org/drawingml/2006/main" noChangeAspect="1"/>
          </p:cNvPicPr>
          <p:nvPr/>
        </p:nvPicPr>
        <p:blipFill>
          <a:blip xmlns:r="http://schemas.openxmlformats.org/officeDocument/2006/relationships" xmlns:a="http://schemas.openxmlformats.org/drawingml/2006/main" r:embed="R03715af54cd14fa9"/>
          <a:stretch xmlns:a="http://schemas.openxmlformats.org/drawingml/2006/main"/>
        </p:blipFill>
        <p:spPr>
          <a:xfrm xmlns:a="http://schemas.openxmlformats.org/drawingml/2006/main">
            <a:off x="7413052" y="1733550"/>
            <a:ext cx="2737996" cy="4419600"/>
          </a:xfrm>
          <a:prstGeom xmlns:a="http://schemas.openxmlformats.org/drawingml/2006/main" prst="rect">
            <a:avLst/>
          </a:prstGeom>
        </p:spPr>
      </p:pic>
    </p:spTree>
    <p:extLst>
      <p:ext uri="{BB962C8B-B14F-4D97-AF65-F5344CB8AC3E}">
        <p14:creationId xmlns:p14="http://schemas.microsoft.com/office/powerpoint/2010/main" val="1523239540"/>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FE37AB-5764-476F-B32A-C5203FF76EFB}"/>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 CONVERSATION EXAMPLE</a:t>
            </a:r>
          </a:p>
        </p:txBody>
      </p:sp>
      <p:sp>
        <p:nvSpPr>
          <p:cNvPr id="2" name="">
            <a:extLst xmlns:a="http://schemas.openxmlformats.org/drawingml/2006/main">
              <a:ext uri="{FF2B5EF4-FFF2-40B4-BE49-F238E27FC236}">
                <a16:creationId xmlns:a16="http://schemas.microsoft.com/office/drawing/2014/main" id="{E18A38BD-7CFB-4C3A-9F44-4D5811D9E5A3}"/>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Follow-up questions and product focus</a:t>
            </a:r>
          </a:p>
        </p:txBody>
      </p:sp>
      <p:sp>
        <p:nvSpPr>
          <p:cNvPr id="3" name="">
            <a:extLst xmlns:a="http://schemas.openxmlformats.org/drawingml/2006/main">
              <a:ext uri="{FF2B5EF4-FFF2-40B4-BE49-F238E27FC236}">
                <a16:creationId xmlns:a16="http://schemas.microsoft.com/office/drawing/2014/main" id="{97B0A5BE-6287-4B5F-9A57-F73B63D8E8B5}"/>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72137E1E-F1E7-47D2-80D7-DCEDEA7247CA}"/>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C058E58F-8A96-4C9B-AD4B-7CBD4D1D37AF}"/>
              </a:ext>
            </a:extLst>
          </p:cNvPr>
          <p:cNvGraphicFramePr/>
          <p:nvPr/>
        </p:nvGraphicFramePr>
        <p:xfrm>
          <a:off xmlns:a="http://schemas.openxmlformats.org/drawingml/2006/main" x="619125" y="1914525"/>
          <a:ext xmlns:a="http://schemas.openxmlformats.org/drawingml/2006/main" cx="10858500" cy="3219450"/>
        </p:xfrm>
        <a:graphic xmlns:a="http://schemas.openxmlformats.org/drawingml/2006/main">
          <a:graphicData uri="http://schemas.openxmlformats.org/drawingml/2006/table">
            <a:tbl>
              <a:tblPr/>
              <a:tblGrid>
                <a:gridCol w="5514975"/>
                <a:gridCol w="5343525"/>
              </a:tblGrid>
              <a:tr h="643890">
                <a:tc>
                  <a:txBody>
                    <a:bodyPr/>
                    <a:lstStyle/>
                    <a:p>
                      <a:r>
                        <a:rPr sz="2100" b="1">
                          <a:solidFill>
                            <a:srgbClr val="FFFFFF"/>
                          </a:solidFill>
                          <a:latin typeface="Arial"/>
                          <a:ea typeface="Arial"/>
                          <a:cs typeface="Arial"/>
                        </a:rPr>
                        <a:t>Question</a:t>
                      </a:r>
                    </a:p>
                  </a:txBody>
                  <a:tcPr marL="123825" marR="123825" marT="66675" marB="66675" anchor="ctr">
                    <a:solidFill>
                      <a:srgbClr val="087E79"/>
                    </a:solidFill>
                  </a:tcPr>
                </a:tc>
                <a:tc>
                  <a:txBody>
                    <a:bodyPr/>
                    <a:lstStyle/>
                    <a:p>
                      <a:r>
                        <a:rPr sz="2100" b="1">
                          <a:solidFill>
                            <a:srgbClr val="FFFFFF"/>
                          </a:solidFill>
                          <a:latin typeface="Arial"/>
                          <a:ea typeface="Arial"/>
                          <a:cs typeface="Arial"/>
                        </a:rPr>
                        <a:t>What the assistant uses</a:t>
                      </a:r>
                    </a:p>
                  </a:txBody>
                  <a:tcPr marL="123825" marR="123825" marT="66675" marB="66675" anchor="ctr">
                    <a:solidFill>
                      <a:srgbClr val="087E79"/>
                    </a:solidFill>
                  </a:tcPr>
                </a:tc>
              </a:tr>
              <a:tr h="643890">
                <a:tc>
                  <a:txBody>
                    <a:bodyPr/>
                    <a:lstStyle/>
                    <a:p>
                      <a:r>
                        <a:rPr sz="2100" b="0">
                          <a:solidFill>
                            <a:srgbClr val="18324A"/>
                          </a:solidFill>
                          <a:latin typeface="Arial"/>
                          <a:ea typeface="Arial"/>
                          <a:cs typeface="Arial"/>
                        </a:rPr>
                        <a:t>“Forecast for Product 2”</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Product 2: 310.6 forecast units</a:t>
                      </a:r>
                    </a:p>
                  </a:txBody>
                  <a:tcPr marL="123825" marR="123825" marT="66675" marB="66675" anchor="ctr">
                    <a:solidFill>
                      <a:srgbClr val="FFFFFF"/>
                    </a:solidFill>
                  </a:tcPr>
                </a:tc>
              </a:tr>
              <a:tr h="643890">
                <a:tc>
                  <a:txBody>
                    <a:bodyPr/>
                    <a:lstStyle/>
                    <a:p>
                      <a:r>
                        <a:rPr sz="2100" b="0">
                          <a:solidFill>
                            <a:srgbClr val="18324A"/>
                          </a:solidFill>
                          <a:latin typeface="Arial"/>
                          <a:ea typeface="Arial"/>
                          <a:cs typeface="Arial"/>
                        </a:rPr>
                        <a:t>“And Product 3?”</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Product 3: 178.7 forecast units</a:t>
                      </a:r>
                    </a:p>
                  </a:txBody>
                  <a:tcPr marL="123825" marR="123825" marT="66675" marB="66675" anchor="ctr">
                    <a:solidFill>
                      <a:srgbClr val="F7F5F0"/>
                    </a:solidFill>
                  </a:tcPr>
                </a:tc>
              </a:tr>
              <a:tr h="643890">
                <a:tc>
                  <a:txBody>
                    <a:bodyPr/>
                    <a:lstStyle/>
                    <a:p>
                      <a:r>
                        <a:rPr sz="2100" b="0">
                          <a:solidFill>
                            <a:srgbClr val="18324A"/>
                          </a:solidFill>
                          <a:latin typeface="Arial"/>
                          <a:ea typeface="Arial"/>
                          <a:cs typeface="Arial"/>
                        </a:rPr>
                        <a:t>“Show the daily breakdown”</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Product 3: seven dated estimates</a:t>
                      </a:r>
                    </a:p>
                  </a:txBody>
                  <a:tcPr marL="123825" marR="123825" marT="66675" marB="66675" anchor="ctr">
                    <a:solidFill>
                      <a:srgbClr val="FFFFFF"/>
                    </a:solidFill>
                  </a:tcPr>
                </a:tc>
              </a:tr>
              <a:tr h="643890">
                <a:tc>
                  <a:txBody>
                    <a:bodyPr/>
                    <a:lstStyle/>
                    <a:p>
                      <a:r>
                        <a:rPr sz="2100" b="0">
                          <a:solidFill>
                            <a:srgbClr val="18324A"/>
                          </a:solidFill>
                          <a:latin typeface="Arial"/>
                          <a:ea typeface="Arial"/>
                          <a:cs typeface="Arial"/>
                        </a:rPr>
                        <a:t>“Why?” after calculating an order</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The submitted order’s calculation</a:t>
                      </a:r>
                    </a:p>
                  </a:txBody>
                  <a:tcPr marL="123825" marR="123825" marT="66675" marB="6667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3E5B687A-FF30-41B7-B6CC-CFDC7DF6D346}"/>
              </a:ext>
            </a:extLst>
          </p:cNvPr>
          <p:cNvSpPr>
            <a:spLocks xmlns:a="http://schemas.openxmlformats.org/drawingml/2006/main" noGrp="1"/>
          </p:cNvSpPr>
          <p:nvPr/>
        </p:nvSpPr>
        <p:spPr>
          <a:xfrm xmlns:a="http://schemas.openxmlformats.org/drawingml/2006/main">
            <a:off x="657225" y="5543550"/>
            <a:ext cx="1057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087E79"/>
                </a:solidFill>
                <a:latin typeface="Arial"/>
                <a:ea typeface="Arial"/>
                <a:cs typeface="Arial"/>
              </a:defRPr>
            </a:defPPr>
          </a:lstStyle>
          <a:p xmlns:a="http://schemas.openxmlformats.org/drawingml/2006/main">
            <a:pPr>
              <a:defRPr sz="2175" b="1">
                <a:solidFill>
                  <a:srgbClr val="087E79"/>
                </a:solidFill>
                <a:latin typeface="Arial"/>
                <a:ea typeface="Arial"/>
                <a:cs typeface="Arial"/>
              </a:defRPr>
            </a:pPr>
            <a:r>
              <a:rPr sz="2175" b="1">
                <a:solidFill>
                  <a:srgbClr val="087E79"/>
                </a:solidFill>
                <a:latin typeface="Arial"/>
                <a:ea typeface="Arial"/>
                <a:cs typeface="Arial"/>
              </a:rPr>
              <a:t>Clear resets the chat focus. The selector also resets it.</a:t>
            </a:r>
          </a:p>
        </p:txBody>
      </p:sp>
    </p:spTree>
    <p:extLst>
      <p:ext uri="{BB962C8B-B14F-4D97-AF65-F5344CB8AC3E}">
        <p14:creationId xmlns:p14="http://schemas.microsoft.com/office/powerpoint/2010/main" val="271391927"/>
      </p:ext>
    </p:extLst>
  </p:cSld>
</p:sld>
</file>

<file path=ppt/slides/slide17.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BB6F0C-13F4-404C-B19F-844D0656069A}"/>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A DIFFERENT MODEL WITH A DIFFERENT JOB</a:t>
            </a:r>
          </a:p>
        </p:txBody>
      </p:sp>
      <p:sp>
        <p:nvSpPr>
          <p:cNvPr id="2" name="">
            <a:extLst xmlns:a="http://schemas.openxmlformats.org/drawingml/2006/main">
              <a:ext uri="{FF2B5EF4-FFF2-40B4-BE49-F238E27FC236}">
                <a16:creationId xmlns:a16="http://schemas.microsoft.com/office/drawing/2014/main" id="{5C205E2A-0908-41D8-9E54-CC2F25C851B1}"/>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How the chatbot understands a question</a:t>
            </a:r>
          </a:p>
        </p:txBody>
      </p:sp>
      <p:sp>
        <p:nvSpPr>
          <p:cNvPr id="3" name="">
            <a:extLst xmlns:a="http://schemas.openxmlformats.org/drawingml/2006/main">
              <a:ext uri="{FF2B5EF4-FFF2-40B4-BE49-F238E27FC236}">
                <a16:creationId xmlns:a16="http://schemas.microsoft.com/office/drawing/2014/main" id="{7DB872B7-7C36-4773-A9E9-FE329F87297D}"/>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A6D5B24B-907B-463C-A944-937D5910F903}"/>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5742F59-8272-482F-BF2E-F4C9BD6C7AD3}"/>
              </a:ext>
            </a:extLst>
          </p:cNvPr>
          <p:cNvSpPr>
            <a:spLocks xmlns:a="http://schemas.openxmlformats.org/drawingml/2006/main" noGrp="1"/>
          </p:cNvSpPr>
          <p:nvPr/>
        </p:nvSpPr>
        <p:spPr>
          <a:xfrm xmlns:a="http://schemas.openxmlformats.org/drawingml/2006/main">
            <a:off x="6477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A9E7D7"/>
                </a:solidFill>
                <a:latin typeface="Arial"/>
                <a:ea typeface="Arial"/>
                <a:cs typeface="Arial"/>
              </a:defRPr>
            </a:defPPr>
          </a:lstStyle>
          <a:p xmlns:a="http://schemas.openxmlformats.org/drawingml/2006/main">
            <a:pPr>
              <a:defRPr sz="2475" b="1">
                <a:solidFill>
                  <a:srgbClr val="A9E7D7"/>
                </a:solidFill>
                <a:latin typeface="Arial"/>
                <a:ea typeface="Arial"/>
                <a:cs typeface="Arial"/>
              </a:defRPr>
            </a:pPr>
            <a:r>
              <a:rPr sz="2475" b="1">
                <a:solidFill>
                  <a:srgbClr val="A9E7D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FCFA6C4-E4FD-429D-A3CF-8A3E30E951ED}"/>
              </a:ext>
            </a:extLst>
          </p:cNvPr>
          <p:cNvSpPr>
            <a:spLocks xmlns:a="http://schemas.openxmlformats.org/drawingml/2006/main" noGrp="1"/>
          </p:cNvSpPr>
          <p:nvPr/>
        </p:nvSpPr>
        <p:spPr>
          <a:xfrm xmlns:a="http://schemas.openxmlformats.org/drawingml/2006/main">
            <a:off x="1504950" y="19145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Words become numeric features using TF-IDF.</a:t>
            </a:r>
          </a:p>
        </p:txBody>
      </p:sp>
      <p:sp>
        <p:nvSpPr>
          <p:cNvPr id="7" name="">
            <a:extLst xmlns:a="http://schemas.openxmlformats.org/drawingml/2006/main">
              <a:ext uri="{FF2B5EF4-FFF2-40B4-BE49-F238E27FC236}">
                <a16:creationId xmlns:a16="http://schemas.microsoft.com/office/drawing/2014/main" id="{F501DE44-245F-46BF-9383-73A835E0DABA}"/>
              </a:ext>
            </a:extLst>
          </p:cNvPr>
          <p:cNvSpPr>
            <a:spLocks xmlns:a="http://schemas.openxmlformats.org/drawingml/2006/main" noGrp="1"/>
          </p:cNvSpPr>
          <p:nvPr/>
        </p:nvSpPr>
        <p:spPr>
          <a:xfrm xmlns:a="http://schemas.openxmlformats.org/drawingml/2006/main">
            <a:off x="647700" y="2895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A9E7D7"/>
                </a:solidFill>
                <a:latin typeface="Arial"/>
                <a:ea typeface="Arial"/>
                <a:cs typeface="Arial"/>
              </a:defRPr>
            </a:defPPr>
          </a:lstStyle>
          <a:p xmlns:a="http://schemas.openxmlformats.org/drawingml/2006/main">
            <a:pPr>
              <a:defRPr sz="2475" b="1">
                <a:solidFill>
                  <a:srgbClr val="A9E7D7"/>
                </a:solidFill>
                <a:latin typeface="Arial"/>
                <a:ea typeface="Arial"/>
                <a:cs typeface="Arial"/>
              </a:defRPr>
            </a:pPr>
            <a:r>
              <a:rPr sz="2475" b="1">
                <a:solidFill>
                  <a:srgbClr val="A9E7D7"/>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84DAF76-9955-4BBE-887A-4E66221956C7}"/>
              </a:ext>
            </a:extLst>
          </p:cNvPr>
          <p:cNvSpPr>
            <a:spLocks xmlns:a="http://schemas.openxmlformats.org/drawingml/2006/main" noGrp="1"/>
          </p:cNvSpPr>
          <p:nvPr/>
        </p:nvSpPr>
        <p:spPr>
          <a:xfrm xmlns:a="http://schemas.openxmlformats.org/drawingml/2006/main">
            <a:off x="1504950" y="28956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Logistic regression predicts the request type.</a:t>
            </a:r>
          </a:p>
        </p:txBody>
      </p:sp>
      <p:sp>
        <p:nvSpPr>
          <p:cNvPr id="9" name="">
            <a:extLst xmlns:a="http://schemas.openxmlformats.org/drawingml/2006/main">
              <a:ext uri="{FF2B5EF4-FFF2-40B4-BE49-F238E27FC236}">
                <a16:creationId xmlns:a16="http://schemas.microsoft.com/office/drawing/2014/main" id="{E5A8144B-1ADD-4084-A939-CA32E8AEBD5C}"/>
              </a:ext>
            </a:extLst>
          </p:cNvPr>
          <p:cNvSpPr>
            <a:spLocks xmlns:a="http://schemas.openxmlformats.org/drawingml/2006/main" noGrp="1"/>
          </p:cNvSpPr>
          <p:nvPr/>
        </p:nvSpPr>
        <p:spPr>
          <a:xfrm xmlns:a="http://schemas.openxmlformats.org/drawingml/2006/main">
            <a:off x="647700" y="3876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A9E7D7"/>
                </a:solidFill>
                <a:latin typeface="Arial"/>
                <a:ea typeface="Arial"/>
                <a:cs typeface="Arial"/>
              </a:defRPr>
            </a:defPPr>
          </a:lstStyle>
          <a:p xmlns:a="http://schemas.openxmlformats.org/drawingml/2006/main">
            <a:pPr>
              <a:defRPr sz="2475" b="1">
                <a:solidFill>
                  <a:srgbClr val="A9E7D7"/>
                </a:solidFill>
                <a:latin typeface="Arial"/>
                <a:ea typeface="Arial"/>
                <a:cs typeface="Arial"/>
              </a:defRPr>
            </a:pPr>
            <a:r>
              <a:rPr sz="2475" b="1">
                <a:solidFill>
                  <a:srgbClr val="A9E7D7"/>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0C5B41B-A09B-428E-BC9E-117FA1B4AF48}"/>
              </a:ext>
            </a:extLst>
          </p:cNvPr>
          <p:cNvSpPr>
            <a:spLocks xmlns:a="http://schemas.openxmlformats.org/drawingml/2006/main" noGrp="1"/>
          </p:cNvSpPr>
          <p:nvPr/>
        </p:nvSpPr>
        <p:spPr>
          <a:xfrm xmlns:a="http://schemas.openxmlformats.org/drawingml/2006/main">
            <a:off x="1504950" y="387667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Product rules and follow-ups identify the relevant data.</a:t>
            </a:r>
          </a:p>
        </p:txBody>
      </p:sp>
      <p:sp>
        <p:nvSpPr>
          <p:cNvPr id="11" name="">
            <a:extLst xmlns:a="http://schemas.openxmlformats.org/drawingml/2006/main">
              <a:ext uri="{FF2B5EF4-FFF2-40B4-BE49-F238E27FC236}">
                <a16:creationId xmlns:a16="http://schemas.microsoft.com/office/drawing/2014/main" id="{55CAA548-B174-4A30-B447-394DBB1EEFC2}"/>
              </a:ext>
            </a:extLst>
          </p:cNvPr>
          <p:cNvSpPr>
            <a:spLocks xmlns:a="http://schemas.openxmlformats.org/drawingml/2006/main" noGrp="1"/>
          </p:cNvSpPr>
          <p:nvPr/>
        </p:nvSpPr>
        <p:spPr>
          <a:xfrm xmlns:a="http://schemas.openxmlformats.org/drawingml/2006/main">
            <a:off x="647700" y="48577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1">
                <a:solidFill>
                  <a:srgbClr val="A9E7D7"/>
                </a:solidFill>
                <a:latin typeface="Arial"/>
                <a:ea typeface="Arial"/>
                <a:cs typeface="Arial"/>
              </a:defRPr>
            </a:defPPr>
          </a:lstStyle>
          <a:p xmlns:a="http://schemas.openxmlformats.org/drawingml/2006/main">
            <a:pPr>
              <a:defRPr sz="2475" b="1">
                <a:solidFill>
                  <a:srgbClr val="A9E7D7"/>
                </a:solidFill>
                <a:latin typeface="Arial"/>
                <a:ea typeface="Arial"/>
                <a:cs typeface="Arial"/>
              </a:defRPr>
            </a:pPr>
            <a:r>
              <a:rPr sz="2475" b="1">
                <a:solidFill>
                  <a:srgbClr val="A9E7D7"/>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8D7271E-2416-45EA-8E6C-0AA67599A636}"/>
              </a:ext>
            </a:extLst>
          </p:cNvPr>
          <p:cNvSpPr>
            <a:spLocks xmlns:a="http://schemas.openxmlformats.org/drawingml/2006/main" noGrp="1"/>
          </p:cNvSpPr>
          <p:nvPr/>
        </p:nvSpPr>
        <p:spPr>
          <a:xfrm xmlns:a="http://schemas.openxmlformats.org/drawingml/2006/main">
            <a:off x="1504950" y="48577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The answer uses actual forecast and stock results.</a:t>
            </a:r>
          </a:p>
        </p:txBody>
      </p:sp>
    </p:spTree>
    <p:extLst>
      <p:ext uri="{BB962C8B-B14F-4D97-AF65-F5344CB8AC3E}">
        <p14:creationId xmlns:p14="http://schemas.microsoft.com/office/powerpoint/2010/main" val="1786249089"/>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024503-5FCF-4B78-BB27-96EDF6E151E9}"/>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WHAT THE ASSISTANT CAN EXPLAIN</a:t>
            </a:r>
          </a:p>
        </p:txBody>
      </p:sp>
      <p:sp>
        <p:nvSpPr>
          <p:cNvPr id="2" name="">
            <a:extLst xmlns:a="http://schemas.openxmlformats.org/drawingml/2006/main">
              <a:ext uri="{FF2B5EF4-FFF2-40B4-BE49-F238E27FC236}">
                <a16:creationId xmlns:a16="http://schemas.microsoft.com/office/drawing/2014/main" id="{24631977-5372-4FB0-9035-CEFB72776C5D}"/>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Useful answers and clear limits</a:t>
            </a:r>
          </a:p>
        </p:txBody>
      </p:sp>
      <p:sp>
        <p:nvSpPr>
          <p:cNvPr id="3" name="">
            <a:extLst xmlns:a="http://schemas.openxmlformats.org/drawingml/2006/main">
              <a:ext uri="{FF2B5EF4-FFF2-40B4-BE49-F238E27FC236}">
                <a16:creationId xmlns:a16="http://schemas.microsoft.com/office/drawing/2014/main" id="{ECDB7E0F-5992-4189-865A-63CC04343CF8}"/>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0B88077A-0957-4485-A61B-50055B09F607}"/>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7ED78323-01EC-4F08-8652-7438FEABB6B4}"/>
              </a:ext>
            </a:extLst>
          </p:cNvPr>
          <p:cNvGraphicFramePr/>
          <p:nvPr/>
        </p:nvGraphicFramePr>
        <p:xfrm>
          <a:off xmlns:a="http://schemas.openxmlformats.org/drawingml/2006/main" x="619125" y="1809750"/>
          <a:ext xmlns:a="http://schemas.openxmlformats.org/drawingml/2006/main" cx="10858500" cy="3705225"/>
        </p:xfrm>
        <a:graphic xmlns:a="http://schemas.openxmlformats.org/drawingml/2006/main">
          <a:graphicData uri="http://schemas.openxmlformats.org/drawingml/2006/table">
            <a:tbl>
              <a:tblPr/>
              <a:tblGrid>
                <a:gridCol w="3619500"/>
                <a:gridCol w="7239000"/>
              </a:tblGrid>
              <a:tr h="617538">
                <a:tc>
                  <a:txBody>
                    <a:bodyPr/>
                    <a:lstStyle/>
                    <a:p>
                      <a:r>
                        <a:rPr sz="1950" b="1">
                          <a:solidFill>
                            <a:srgbClr val="FFFFFF"/>
                          </a:solidFill>
                          <a:latin typeface="Arial"/>
                          <a:ea typeface="Arial"/>
                          <a:cs typeface="Arial"/>
                        </a:rPr>
                        <a:t>Request</a:t>
                      </a:r>
                    </a:p>
                  </a:txBody>
                  <a:tcPr marL="123825" marR="123825" marT="66675" marB="66675" anchor="ctr">
                    <a:solidFill>
                      <a:srgbClr val="087E79"/>
                    </a:solidFill>
                  </a:tcPr>
                </a:tc>
                <a:tc>
                  <a:txBody>
                    <a:bodyPr/>
                    <a:lstStyle/>
                    <a:p>
                      <a:r>
                        <a:rPr sz="1950" b="1">
                          <a:solidFill>
                            <a:srgbClr val="FFFFFF"/>
                          </a:solidFill>
                          <a:latin typeface="Arial"/>
                          <a:ea typeface="Arial"/>
                          <a:cs typeface="Arial"/>
                        </a:rPr>
                        <a:t>Where the answer comes from</a:t>
                      </a:r>
                    </a:p>
                  </a:txBody>
                  <a:tcPr marL="123825" marR="123825" marT="66675" marB="66675" anchor="ctr">
                    <a:solidFill>
                      <a:srgbClr val="087E79"/>
                    </a:solidFill>
                  </a:tcPr>
                </a:tc>
              </a:tr>
              <a:tr h="617538">
                <a:tc>
                  <a:txBody>
                    <a:bodyPr/>
                    <a:lstStyle/>
                    <a:p>
                      <a:r>
                        <a:rPr sz="1950" b="0">
                          <a:solidFill>
                            <a:srgbClr val="18324A"/>
                          </a:solidFill>
                          <a:latin typeface="Arial"/>
                          <a:ea typeface="Arial"/>
                          <a:cs typeface="Arial"/>
                        </a:rPr>
                        <a:t>Forecast or busiest day</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The item’s seven forecast values</a:t>
                      </a:r>
                    </a:p>
                  </a:txBody>
                  <a:tcPr marL="123825" marR="123825" marT="66675" marB="66675" anchor="ctr">
                    <a:solidFill>
                      <a:srgbClr val="FFFFFF"/>
                    </a:solidFill>
                  </a:tcPr>
                </a:tc>
              </a:tr>
              <a:tr h="617538">
                <a:tc>
                  <a:txBody>
                    <a:bodyPr/>
                    <a:lstStyle/>
                    <a:p>
                      <a:r>
                        <a:rPr sz="1950" b="0">
                          <a:solidFill>
                            <a:srgbClr val="18324A"/>
                          </a:solidFill>
                          <a:latin typeface="Arial"/>
                          <a:ea typeface="Arial"/>
                          <a:cs typeface="Arial"/>
                        </a:rPr>
                        <a:t>Recent sales</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The item’s observed sales history</a:t>
                      </a:r>
                    </a:p>
                  </a:txBody>
                  <a:tcPr marL="123825" marR="123825" marT="66675" marB="66675" anchor="ctr">
                    <a:solidFill>
                      <a:srgbClr val="F7F5F0"/>
                    </a:solidFill>
                  </a:tcPr>
                </a:tc>
              </a:tr>
              <a:tr h="617538">
                <a:tc>
                  <a:txBody>
                    <a:bodyPr/>
                    <a:lstStyle/>
                    <a:p>
                      <a:r>
                        <a:rPr sz="1950" b="0">
                          <a:solidFill>
                            <a:srgbClr val="18324A"/>
                          </a:solidFill>
                          <a:latin typeface="Arial"/>
                          <a:ea typeface="Arial"/>
                          <a:cs typeface="Arial"/>
                        </a:rPr>
                        <a:t>Order and “why?”</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Its submitted stock plan</a:t>
                      </a:r>
                    </a:p>
                  </a:txBody>
                  <a:tcPr marL="123825" marR="123825" marT="66675" marB="66675" anchor="ctr">
                    <a:solidFill>
                      <a:srgbClr val="FFFFFF"/>
                    </a:solidFill>
                  </a:tcPr>
                </a:tc>
              </a:tr>
              <a:tr h="617538">
                <a:tc>
                  <a:txBody>
                    <a:bodyPr/>
                    <a:lstStyle/>
                    <a:p>
                      <a:r>
                        <a:rPr sz="1950" b="0">
                          <a:solidFill>
                            <a:srgbClr val="18324A"/>
                          </a:solidFill>
                          <a:latin typeface="Arial"/>
                          <a:ea typeface="Arial"/>
                          <a:cs typeface="Arial"/>
                        </a:rPr>
                        <a:t>Model results</a:t>
                      </a:r>
                    </a:p>
                  </a:txBody>
                  <a:tcPr marL="123825" marR="123825" marT="66675" marB="66675" anchor="ctr">
                    <a:solidFill>
                      <a:srgbClr val="F7F5F0"/>
                    </a:solidFill>
                  </a:tcPr>
                </a:tc>
                <a:tc>
                  <a:txBody>
                    <a:bodyPr/>
                    <a:lstStyle/>
                    <a:p>
                      <a:r>
                        <a:rPr sz="1950" b="0">
                          <a:solidFill>
                            <a:srgbClr val="18324A"/>
                          </a:solidFill>
                          <a:latin typeface="Arial"/>
                          <a:ea typeface="Arial"/>
                          <a:cs typeface="Arial"/>
                        </a:rPr>
                        <a:t>Saved validation and final-test metrics</a:t>
                      </a:r>
                    </a:p>
                  </a:txBody>
                  <a:tcPr marL="123825" marR="123825" marT="66675" marB="66675" anchor="ctr">
                    <a:solidFill>
                      <a:srgbClr val="F7F5F0"/>
                    </a:solidFill>
                  </a:tcPr>
                </a:tc>
              </a:tr>
              <a:tr h="617538">
                <a:tc>
                  <a:txBody>
                    <a:bodyPr/>
                    <a:lstStyle/>
                    <a:p>
                      <a:r>
                        <a:rPr sz="1950" b="0">
                          <a:solidFill>
                            <a:srgbClr val="18324A"/>
                          </a:solidFill>
                          <a:latin typeface="Arial"/>
                          <a:ea typeface="Arial"/>
                          <a:cs typeface="Arial"/>
                        </a:rPr>
                        <a:t>A definition or help</a:t>
                      </a:r>
                    </a:p>
                  </a:txBody>
                  <a:tcPr marL="123825" marR="123825" marT="66675" marB="66675" anchor="ctr">
                    <a:solidFill>
                      <a:srgbClr val="FFFFFF"/>
                    </a:solidFill>
                  </a:tcPr>
                </a:tc>
                <a:tc>
                  <a:txBody>
                    <a:bodyPr/>
                    <a:lstStyle/>
                    <a:p>
                      <a:r>
                        <a:rPr sz="1950" b="0">
                          <a:solidFill>
                            <a:srgbClr val="18324A"/>
                          </a:solidFill>
                          <a:latin typeface="Arial"/>
                          <a:ea typeface="Arial"/>
                          <a:cs typeface="Arial"/>
                        </a:rPr>
                        <a:t>Supported explanations and example questions</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FCD2F19-09CE-4C3C-B4C1-7CFE0126C6E1}"/>
              </a:ext>
            </a:extLst>
          </p:cNvPr>
          <p:cNvSpPr>
            <a:spLocks xmlns:a="http://schemas.openxmlformats.org/drawingml/2006/main" noGrp="1"/>
          </p:cNvSpPr>
          <p:nvPr/>
        </p:nvSpPr>
        <p:spPr>
          <a:xfrm xmlns:a="http://schemas.openxmlformats.org/drawingml/2006/main">
            <a:off x="657225" y="57912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87E79"/>
                </a:solidFill>
                <a:latin typeface="Arial"/>
                <a:ea typeface="Arial"/>
                <a:cs typeface="Arial"/>
              </a:defRPr>
            </a:defPPr>
          </a:lstStyle>
          <a:p xmlns:a="http://schemas.openxmlformats.org/drawingml/2006/main">
            <a:pPr>
              <a:defRPr sz="2100" b="1">
                <a:solidFill>
                  <a:srgbClr val="087E79"/>
                </a:solidFill>
                <a:latin typeface="Arial"/>
                <a:ea typeface="Arial"/>
                <a:cs typeface="Arial"/>
              </a:defRPr>
            </a:pPr>
            <a:r>
              <a:rPr sz="2100" b="1">
                <a:solidFill>
                  <a:srgbClr val="087E79"/>
                </a:solidFill>
                <a:latin typeface="Arial"/>
                <a:ea typeface="Arial"/>
                <a:cs typeface="Arial"/>
              </a:rPr>
              <a:t>Intent confidence concerns the question category.</a:t>
            </a:r>
          </a:p>
        </p:txBody>
      </p:sp>
    </p:spTree>
    <p:extLst>
      <p:ext uri="{BB962C8B-B14F-4D97-AF65-F5344CB8AC3E}">
        <p14:creationId xmlns:p14="http://schemas.microsoft.com/office/powerpoint/2010/main" val="1080161395"/>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9F5B72-BF39-44FE-99CA-12B2BDF2FA8C}"/>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MODEL OVERVIEW</a:t>
            </a:r>
          </a:p>
        </p:txBody>
      </p:sp>
      <p:sp>
        <p:nvSpPr>
          <p:cNvPr id="2" name="">
            <a:extLst xmlns:a="http://schemas.openxmlformats.org/drawingml/2006/main">
              <a:ext uri="{FF2B5EF4-FFF2-40B4-BE49-F238E27FC236}">
                <a16:creationId xmlns:a16="http://schemas.microsoft.com/office/drawing/2014/main" id="{44751F36-CC64-4F79-A7F2-EB84111CFDCC}"/>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three forecasting methods</a:t>
            </a:r>
          </a:p>
        </p:txBody>
      </p:sp>
      <p:sp>
        <p:nvSpPr>
          <p:cNvPr id="3" name="">
            <a:extLst xmlns:a="http://schemas.openxmlformats.org/drawingml/2006/main">
              <a:ext uri="{FF2B5EF4-FFF2-40B4-BE49-F238E27FC236}">
                <a16:creationId xmlns:a16="http://schemas.microsoft.com/office/drawing/2014/main" id="{BF2B0B18-9E7A-4987-9B06-81357EA2BD05}"/>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878F11F2-C2A9-499F-AA84-02A393A6CCF5}"/>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E277245C-A173-46A4-BCB9-EF6FC0B5CD5F}"/>
              </a:ext>
            </a:extLst>
          </p:cNvPr>
          <p:cNvGraphicFramePr/>
          <p:nvPr/>
        </p:nvGraphicFramePr>
        <p:xfrm>
          <a:off xmlns:a="http://schemas.openxmlformats.org/drawingml/2006/main" x="619125" y="1990725"/>
          <a:ext xmlns:a="http://schemas.openxmlformats.org/drawingml/2006/main" cx="10858500" cy="2800350"/>
        </p:xfrm>
        <a:graphic xmlns:a="http://schemas.openxmlformats.org/drawingml/2006/main">
          <a:graphicData uri="http://schemas.openxmlformats.org/drawingml/2006/table">
            <a:tbl>
              <a:tblPr/>
              <a:tblGrid>
                <a:gridCol w="2952750"/>
                <a:gridCol w="5238750"/>
                <a:gridCol w="2667000"/>
              </a:tblGrid>
              <a:tr h="700088">
                <a:tc>
                  <a:txBody>
                    <a:bodyPr/>
                    <a:lstStyle/>
                    <a:p>
                      <a:r>
                        <a:rPr sz="2100" b="1">
                          <a:solidFill>
                            <a:srgbClr val="FFFFFF"/>
                          </a:solidFill>
                          <a:latin typeface="Arial"/>
                          <a:ea typeface="Arial"/>
                          <a:cs typeface="Arial"/>
                        </a:rPr>
                        <a:t>Method</a:t>
                      </a:r>
                    </a:p>
                  </a:txBody>
                  <a:tcPr marL="123825" marR="123825" marT="66675" marB="66675" anchor="ctr">
                    <a:solidFill>
                      <a:srgbClr val="087E79"/>
                    </a:solidFill>
                  </a:tcPr>
                </a:tc>
                <a:tc>
                  <a:txBody>
                    <a:bodyPr/>
                    <a:lstStyle/>
                    <a:p>
                      <a:r>
                        <a:rPr sz="2100" b="1">
                          <a:solidFill>
                            <a:srgbClr val="FFFFFF"/>
                          </a:solidFill>
                          <a:latin typeface="Arial"/>
                          <a:ea typeface="Arial"/>
                          <a:cs typeface="Arial"/>
                        </a:rPr>
                        <a:t>How it forecasts</a:t>
                      </a:r>
                    </a:p>
                  </a:txBody>
                  <a:tcPr marL="123825" marR="123825" marT="66675" marB="66675" anchor="ctr">
                    <a:solidFill>
                      <a:srgbClr val="087E79"/>
                    </a:solidFill>
                  </a:tcPr>
                </a:tc>
                <a:tc>
                  <a:txBody>
                    <a:bodyPr/>
                    <a:lstStyle/>
                    <a:p>
                      <a:r>
                        <a:rPr sz="2100" b="1">
                          <a:solidFill>
                            <a:srgbClr val="FFFFFF"/>
                          </a:solidFill>
                          <a:latin typeface="Arial"/>
                          <a:ea typeface="Arial"/>
                          <a:cs typeface="Arial"/>
                        </a:rPr>
                        <a:t>Role</a:t>
                      </a:r>
                    </a:p>
                  </a:txBody>
                  <a:tcPr marL="123825" marR="123825" marT="66675" marB="66675" anchor="ctr">
                    <a:solidFill>
                      <a:srgbClr val="087E79"/>
                    </a:solidFill>
                  </a:tcPr>
                </a:tc>
              </a:tr>
              <a:tr h="700088">
                <a:tc>
                  <a:txBody>
                    <a:bodyPr/>
                    <a:lstStyle/>
                    <a:p>
                      <a:r>
                        <a:rPr sz="2100" b="0">
                          <a:solidFill>
                            <a:srgbClr val="18324A"/>
                          </a:solidFill>
                          <a:latin typeface="Arial"/>
                          <a:ea typeface="Arial"/>
                          <a:cs typeface="Arial"/>
                        </a:rPr>
                        <a:t>Weekly seasonal naive</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Copies the same weekday from last week</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Simple benchmark</a:t>
                      </a:r>
                    </a:p>
                  </a:txBody>
                  <a:tcPr marL="123825" marR="123825" marT="66675" marB="66675" anchor="ctr">
                    <a:solidFill>
                      <a:srgbClr val="FFFFFF"/>
                    </a:solidFill>
                  </a:tcPr>
                </a:tc>
              </a:tr>
              <a:tr h="700088">
                <a:tc>
                  <a:txBody>
                    <a:bodyPr/>
                    <a:lstStyle/>
                    <a:p>
                      <a:r>
                        <a:rPr sz="2100" b="0">
                          <a:solidFill>
                            <a:srgbClr val="18324A"/>
                          </a:solidFill>
                          <a:latin typeface="Arial"/>
                          <a:ea typeface="Arial"/>
                          <a:cs typeface="Arial"/>
                        </a:rPr>
                        <a:t>Random forest</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Averages predictions from many trees</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Selected forecast</a:t>
                      </a:r>
                    </a:p>
                  </a:txBody>
                  <a:tcPr marL="123825" marR="123825" marT="66675" marB="66675" anchor="ctr">
                    <a:solidFill>
                      <a:srgbClr val="F7F5F0"/>
                    </a:solidFill>
                  </a:tcPr>
                </a:tc>
              </a:tr>
              <a:tr h="700088">
                <a:tc>
                  <a:txBody>
                    <a:bodyPr/>
                    <a:lstStyle/>
                    <a:p>
                      <a:r>
                        <a:rPr sz="2100" b="0">
                          <a:solidFill>
                            <a:srgbClr val="18324A"/>
                          </a:solidFill>
                          <a:latin typeface="Arial"/>
                          <a:ea typeface="Arial"/>
                          <a:cs typeface="Arial"/>
                        </a:rPr>
                        <a:t>Small LSTM</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Learns from a sequence of daily sales</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Comparison model</a:t>
                      </a:r>
                    </a:p>
                  </a:txBody>
                  <a:tcPr marL="123825" marR="123825"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FE159A-A6CF-4C4D-9E6E-53B6A30CDFF9}"/>
              </a:ext>
            </a:extLst>
          </p:cNvPr>
          <p:cNvSpPr>
            <a:spLocks xmlns:a="http://schemas.openxmlformats.org/drawingml/2006/main" noGrp="1"/>
          </p:cNvSpPr>
          <p:nvPr/>
        </p:nvSpPr>
        <p:spPr>
          <a:xfrm xmlns:a="http://schemas.openxmlformats.org/drawingml/2006/main">
            <a:off x="657225" y="52387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The chatbot classifies questions. These methods forecast units.</a:t>
            </a:r>
          </a:p>
        </p:txBody>
      </p:sp>
    </p:spTree>
    <p:extLst>
      <p:ext uri="{BB962C8B-B14F-4D97-AF65-F5344CB8AC3E}">
        <p14:creationId xmlns:p14="http://schemas.microsoft.com/office/powerpoint/2010/main" val="1161406173"/>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A25B9B-9084-4A84-A181-CBA29021A42D}"/>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THE BENCHMARK</a:t>
            </a:r>
          </a:p>
        </p:txBody>
      </p:sp>
      <p:sp>
        <p:nvSpPr>
          <p:cNvPr id="2" name="">
            <a:extLst xmlns:a="http://schemas.openxmlformats.org/drawingml/2006/main">
              <a:ext uri="{FF2B5EF4-FFF2-40B4-BE49-F238E27FC236}">
                <a16:creationId xmlns:a16="http://schemas.microsoft.com/office/drawing/2014/main" id="{AD7BC4B2-7E3D-41DD-9E38-0CB779C87A84}"/>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Weekly seasonal naive</a:t>
            </a:r>
          </a:p>
        </p:txBody>
      </p:sp>
      <p:sp>
        <p:nvSpPr>
          <p:cNvPr id="3" name="">
            <a:extLst xmlns:a="http://schemas.openxmlformats.org/drawingml/2006/main">
              <a:ext uri="{FF2B5EF4-FFF2-40B4-BE49-F238E27FC236}">
                <a16:creationId xmlns:a16="http://schemas.microsoft.com/office/drawing/2014/main" id="{F06631B3-0D7B-4A63-ABB1-FA00927B8020}"/>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42ED6BC4-877D-46EF-B74E-53E5934EF3F5}"/>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20</a:t>
            </a:r>
          </a:p>
        </p:txBody>
      </p:sp>
      <p:graphicFrame>
        <p:nvGraphicFramePr>
          <p:cNvPr id="5" name="">
            <a:extLst xmlns:a="http://schemas.openxmlformats.org/drawingml/2006/main">
              <a:ext uri="{FF2B5EF4-FFF2-40B4-BE49-F238E27FC236}">
                <a16:creationId xmlns:a16="http://schemas.microsoft.com/office/drawing/2014/main" id="{834D5E62-3767-4BE2-BF63-F273595164C1}"/>
              </a:ext>
            </a:extLst>
          </p:cNvPr>
          <p:cNvGraphicFramePr/>
          <p:nvPr/>
        </p:nvGraphicFramePr>
        <p:xfrm>
          <a:off xmlns:a="http://schemas.openxmlformats.org/drawingml/2006/main" x="619125" y="2000250"/>
          <a:ext xmlns:a="http://schemas.openxmlformats.org/drawingml/2006/main" cx="10858500" cy="3048000"/>
        </p:xfrm>
        <a:graphic xmlns:a="http://schemas.openxmlformats.org/drawingml/2006/main">
          <a:graphicData uri="http://schemas.openxmlformats.org/drawingml/2006/table">
            <a:tbl>
              <a:tblPr/>
              <a:tblGrid>
                <a:gridCol w="3143250"/>
                <a:gridCol w="3857625"/>
                <a:gridCol w="3857625"/>
              </a:tblGrid>
              <a:tr h="609600">
                <a:tc>
                  <a:txBody>
                    <a:bodyPr/>
                    <a:lstStyle/>
                    <a:p>
                      <a:r>
                        <a:rPr sz="2250" b="1">
                          <a:solidFill>
                            <a:srgbClr val="FFFFFF"/>
                          </a:solidFill>
                          <a:latin typeface="Arial"/>
                          <a:ea typeface="Arial"/>
                          <a:cs typeface="Arial"/>
                        </a:rPr>
                        <a:t>Day</a:t>
                      </a:r>
                    </a:p>
                  </a:txBody>
                  <a:tcPr marL="123825" marR="123825" marT="66675" marB="66675" anchor="ctr">
                    <a:solidFill>
                      <a:srgbClr val="087E79"/>
                    </a:solidFill>
                  </a:tcPr>
                </a:tc>
                <a:tc>
                  <a:txBody>
                    <a:bodyPr/>
                    <a:lstStyle/>
                    <a:p>
                      <a:r>
                        <a:rPr sz="2250" b="1">
                          <a:solidFill>
                            <a:srgbClr val="FFFFFF"/>
                          </a:solidFill>
                          <a:latin typeface="Arial"/>
                          <a:ea typeface="Arial"/>
                          <a:cs typeface="Arial"/>
                        </a:rPr>
                        <a:t>Last week observed</a:t>
                      </a:r>
                    </a:p>
                  </a:txBody>
                  <a:tcPr marL="123825" marR="123825" marT="66675" marB="66675" anchor="ctr">
                    <a:solidFill>
                      <a:srgbClr val="087E79"/>
                    </a:solidFill>
                  </a:tcPr>
                </a:tc>
                <a:tc>
                  <a:txBody>
                    <a:bodyPr/>
                    <a:lstStyle/>
                    <a:p>
                      <a:r>
                        <a:rPr sz="2250" b="1">
                          <a:solidFill>
                            <a:srgbClr val="FFFFFF"/>
                          </a:solidFill>
                          <a:latin typeface="Arial"/>
                          <a:ea typeface="Arial"/>
                          <a:cs typeface="Arial"/>
                        </a:rPr>
                        <a:t>Next week forecast</a:t>
                      </a:r>
                    </a:p>
                  </a:txBody>
                  <a:tcPr marL="123825" marR="123825" marT="66675" marB="66675" anchor="ctr">
                    <a:solidFill>
                      <a:srgbClr val="087E79"/>
                    </a:solidFill>
                  </a:tcPr>
                </a:tc>
              </a:tr>
              <a:tr h="609600">
                <a:tc>
                  <a:txBody>
                    <a:bodyPr/>
                    <a:lstStyle/>
                    <a:p>
                      <a:r>
                        <a:rPr sz="2250" b="0">
                          <a:solidFill>
                            <a:srgbClr val="18324A"/>
                          </a:solidFill>
                          <a:latin typeface="Arial"/>
                          <a:ea typeface="Arial"/>
                          <a:cs typeface="Arial"/>
                        </a:rPr>
                        <a:t>Monday</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10 units</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10 units</a:t>
                      </a:r>
                    </a:p>
                  </a:txBody>
                  <a:tcPr marL="123825" marR="123825" marT="66675" marB="66675" anchor="ctr">
                    <a:solidFill>
                      <a:srgbClr val="FFFFFF"/>
                    </a:solidFill>
                  </a:tcPr>
                </a:tc>
              </a:tr>
              <a:tr h="609600">
                <a:tc>
                  <a:txBody>
                    <a:bodyPr/>
                    <a:lstStyle/>
                    <a:p>
                      <a:r>
                        <a:rPr sz="2250" b="0">
                          <a:solidFill>
                            <a:srgbClr val="18324A"/>
                          </a:solidFill>
                          <a:latin typeface="Arial"/>
                          <a:ea typeface="Arial"/>
                          <a:cs typeface="Arial"/>
                        </a:rPr>
                        <a:t>Tuesday</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12 units</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12 units</a:t>
                      </a:r>
                    </a:p>
                  </a:txBody>
                  <a:tcPr marL="123825" marR="123825" marT="66675" marB="66675" anchor="ctr">
                    <a:solidFill>
                      <a:srgbClr val="F7F5F0"/>
                    </a:solidFill>
                  </a:tcPr>
                </a:tc>
              </a:tr>
              <a:tr h="609600">
                <a:tc>
                  <a:txBody>
                    <a:bodyPr/>
                    <a:lstStyle/>
                    <a:p>
                      <a:r>
                        <a:rPr sz="2250" b="0">
                          <a:solidFill>
                            <a:srgbClr val="18324A"/>
                          </a:solidFill>
                          <a:latin typeface="Arial"/>
                          <a:ea typeface="Arial"/>
                          <a:cs typeface="Arial"/>
                        </a:rPr>
                        <a:t>Wednesday</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9 units</a:t>
                      </a:r>
                    </a:p>
                  </a:txBody>
                  <a:tcPr marL="123825" marR="123825" marT="66675" marB="66675" anchor="ctr">
                    <a:solidFill>
                      <a:srgbClr val="FFFFFF"/>
                    </a:solidFill>
                  </a:tcPr>
                </a:tc>
                <a:tc>
                  <a:txBody>
                    <a:bodyPr/>
                    <a:lstStyle/>
                    <a:p>
                      <a:r>
                        <a:rPr sz="2250" b="0">
                          <a:solidFill>
                            <a:srgbClr val="18324A"/>
                          </a:solidFill>
                          <a:latin typeface="Arial"/>
                          <a:ea typeface="Arial"/>
                          <a:cs typeface="Arial"/>
                        </a:rPr>
                        <a:t>9 units</a:t>
                      </a:r>
                    </a:p>
                  </a:txBody>
                  <a:tcPr marL="123825" marR="123825" marT="66675" marB="66675" anchor="ctr">
                    <a:solidFill>
                      <a:srgbClr val="FFFFFF"/>
                    </a:solidFill>
                  </a:tcPr>
                </a:tc>
              </a:tr>
              <a:tr h="609600">
                <a:tc>
                  <a:txBody>
                    <a:bodyPr/>
                    <a:lstStyle/>
                    <a:p>
                      <a:r>
                        <a:rPr sz="2250" b="0">
                          <a:solidFill>
                            <a:srgbClr val="18324A"/>
                          </a:solidFill>
                          <a:latin typeface="Arial"/>
                          <a:ea typeface="Arial"/>
                          <a:cs typeface="Arial"/>
                        </a:rPr>
                        <a:t>Thursday</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11 units</a:t>
                      </a:r>
                    </a:p>
                  </a:txBody>
                  <a:tcPr marL="123825" marR="123825" marT="66675" marB="66675" anchor="ctr">
                    <a:solidFill>
                      <a:srgbClr val="F7F5F0"/>
                    </a:solidFill>
                  </a:tcPr>
                </a:tc>
                <a:tc>
                  <a:txBody>
                    <a:bodyPr/>
                    <a:lstStyle/>
                    <a:p>
                      <a:r>
                        <a:rPr sz="2250" b="0">
                          <a:solidFill>
                            <a:srgbClr val="18324A"/>
                          </a:solidFill>
                          <a:latin typeface="Arial"/>
                          <a:ea typeface="Arial"/>
                          <a:cs typeface="Arial"/>
                        </a:rPr>
                        <a:t>11 units</a:t>
                      </a:r>
                    </a:p>
                  </a:txBody>
                  <a:tcPr marL="123825" marR="123825" marT="66675" marB="6667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F13FC99A-D953-455B-80A2-7CC1D5FF5C04}"/>
              </a:ext>
            </a:extLst>
          </p:cNvPr>
          <p:cNvSpPr>
            <a:spLocks xmlns:a="http://schemas.openxmlformats.org/drawingml/2006/main" noGrp="1"/>
          </p:cNvSpPr>
          <p:nvPr/>
        </p:nvSpPr>
        <p:spPr>
          <a:xfrm xmlns:a="http://schemas.openxmlformats.org/drawingml/2006/main">
            <a:off x="657225" y="53816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36A78"/>
                </a:solidFill>
                <a:latin typeface="Arial"/>
                <a:ea typeface="Arial"/>
                <a:cs typeface="Arial"/>
              </a:defRPr>
            </a:defPPr>
          </a:lstStyle>
          <a:p xmlns:a="http://schemas.openxmlformats.org/drawingml/2006/main">
            <a:pPr>
              <a:defRPr sz="2100" b="0">
                <a:solidFill>
                  <a:srgbClr val="536A78"/>
                </a:solidFill>
                <a:latin typeface="Arial"/>
                <a:ea typeface="Arial"/>
                <a:cs typeface="Arial"/>
              </a:defRPr>
            </a:pPr>
            <a:r>
              <a:rPr sz="2100" b="0">
                <a:solidFill>
                  <a:srgbClr val="536A78"/>
                </a:solidFill>
                <a:latin typeface="Arial"/>
                <a:ea typeface="Arial"/>
                <a:cs typeface="Arial"/>
              </a:rPr>
              <a:t>Illustration: the same rule repeats for all seven weekdays.</a:t>
            </a:r>
          </a:p>
        </p:txBody>
      </p:sp>
    </p:spTree>
    <p:extLst>
      <p:ext uri="{BB962C8B-B14F-4D97-AF65-F5344CB8AC3E}">
        <p14:creationId xmlns:p14="http://schemas.microsoft.com/office/powerpoint/2010/main" val="675468121"/>
      </p:ext>
    </p:extLst>
  </p:cSld>
</p:sld>
</file>

<file path=ppt/slides/slide21.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561AA2-EFA6-4FF5-9B43-FD60A68111D9}"/>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THE SELECTED METHOD</a:t>
            </a:r>
          </a:p>
        </p:txBody>
      </p:sp>
      <p:sp>
        <p:nvSpPr>
          <p:cNvPr id="2" name="">
            <a:extLst xmlns:a="http://schemas.openxmlformats.org/drawingml/2006/main">
              <a:ext uri="{FF2B5EF4-FFF2-40B4-BE49-F238E27FC236}">
                <a16:creationId xmlns:a16="http://schemas.microsoft.com/office/drawing/2014/main" id="{8E7649BC-6EA5-414E-9BB1-511A1550CE92}"/>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Random forest</a:t>
            </a:r>
          </a:p>
        </p:txBody>
      </p:sp>
      <p:sp>
        <p:nvSpPr>
          <p:cNvPr id="3" name="">
            <a:extLst xmlns:a="http://schemas.openxmlformats.org/drawingml/2006/main">
              <a:ext uri="{FF2B5EF4-FFF2-40B4-BE49-F238E27FC236}">
                <a16:creationId xmlns:a16="http://schemas.microsoft.com/office/drawing/2014/main" id="{0BCFEDC6-6451-4A53-A5EE-2F3F6C658284}"/>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D2F65ABB-571A-4708-B925-D67C4FBD9B4F}"/>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7EA345E4-BAB6-436E-A11B-9666C6C4EEAA}"/>
              </a:ext>
            </a:extLst>
          </p:cNvPr>
          <p:cNvSpPr>
            <a:spLocks xmlns:a="http://schemas.openxmlformats.org/drawingml/2006/main" noGrp="1"/>
          </p:cNvSpPr>
          <p:nvPr/>
        </p:nvSpPr>
        <p:spPr>
          <a:xfrm xmlns:a="http://schemas.openxmlformats.org/drawingml/2006/main">
            <a:off x="647700" y="1819275"/>
            <a:ext cx="10572750"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0" b="1">
                <a:solidFill>
                  <a:srgbClr val="A9E7D7"/>
                </a:solidFill>
                <a:latin typeface="Arial"/>
                <a:ea typeface="Arial"/>
                <a:cs typeface="Arial"/>
              </a:defRPr>
            </a:defPPr>
          </a:lstStyle>
          <a:p xmlns:a="http://schemas.openxmlformats.org/drawingml/2006/main">
            <a:pPr>
              <a:defRPr sz="7500" b="1">
                <a:solidFill>
                  <a:srgbClr val="A9E7D7"/>
                </a:solidFill>
                <a:latin typeface="Arial"/>
                <a:ea typeface="Arial"/>
                <a:cs typeface="Arial"/>
              </a:defRPr>
            </a:pPr>
            <a:r>
              <a:rPr sz="7500" b="1">
                <a:solidFill>
                  <a:srgbClr val="A9E7D7"/>
                </a:solidFill>
                <a:latin typeface="Arial"/>
                <a:ea typeface="Arial"/>
                <a:cs typeface="Arial"/>
              </a:rPr>
              <a:t>100</a:t>
            </a:r>
          </a:p>
        </p:txBody>
      </p:sp>
      <p:sp>
        <p:nvSpPr>
          <p:cNvPr id="6" name="">
            <a:extLst xmlns:a="http://schemas.openxmlformats.org/drawingml/2006/main">
              <a:ext uri="{FF2B5EF4-FFF2-40B4-BE49-F238E27FC236}">
                <a16:creationId xmlns:a16="http://schemas.microsoft.com/office/drawing/2014/main" id="{227FF975-AF2D-4723-B3C0-D36422533A5C}"/>
              </a:ext>
            </a:extLst>
          </p:cNvPr>
          <p:cNvSpPr>
            <a:spLocks xmlns:a="http://schemas.openxmlformats.org/drawingml/2006/main" noGrp="1"/>
          </p:cNvSpPr>
          <p:nvPr/>
        </p:nvSpPr>
        <p:spPr>
          <a:xfrm xmlns:a="http://schemas.openxmlformats.org/drawingml/2006/main">
            <a:off x="685800" y="3133725"/>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FFFFFF"/>
                </a:solidFill>
                <a:latin typeface="Arial"/>
                <a:ea typeface="Arial"/>
                <a:cs typeface="Arial"/>
              </a:defRPr>
            </a:def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decision trees per product</a:t>
            </a:r>
          </a:p>
        </p:txBody>
      </p:sp>
      <p:sp>
        <p:nvSpPr>
          <p:cNvPr id="7" name="">
            <a:extLst xmlns:a="http://schemas.openxmlformats.org/drawingml/2006/main">
              <a:ext uri="{FF2B5EF4-FFF2-40B4-BE49-F238E27FC236}">
                <a16:creationId xmlns:a16="http://schemas.microsoft.com/office/drawing/2014/main" id="{BAA47854-A88F-42AE-A340-220F12F26F34}"/>
              </a:ext>
            </a:extLst>
          </p:cNvPr>
          <p:cNvSpPr>
            <a:spLocks xmlns:a="http://schemas.openxmlformats.org/drawingml/2006/main" noGrp="1"/>
          </p:cNvSpPr>
          <p:nvPr/>
        </p:nvSpPr>
        <p:spPr>
          <a:xfrm xmlns:a="http://schemas.openxmlformats.org/drawingml/2006/main">
            <a:off x="685800" y="4095750"/>
            <a:ext cx="1047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Inputs: 28 past sales values, recent averages and known calendar dates.</a:t>
            </a:r>
          </a:p>
        </p:txBody>
      </p:sp>
      <p:sp>
        <p:nvSpPr>
          <p:cNvPr id="8" name="">
            <a:extLst xmlns:a="http://schemas.openxmlformats.org/drawingml/2006/main">
              <a:ext uri="{FF2B5EF4-FFF2-40B4-BE49-F238E27FC236}">
                <a16:creationId xmlns:a16="http://schemas.microsoft.com/office/drawing/2014/main" id="{31F37843-6861-4ABF-B186-ED7187E252FE}"/>
              </a:ext>
            </a:extLst>
          </p:cNvPr>
          <p:cNvSpPr>
            <a:spLocks xmlns:a="http://schemas.openxmlformats.org/drawingml/2006/main" noGrp="1"/>
          </p:cNvSpPr>
          <p:nvPr/>
        </p:nvSpPr>
        <p:spPr>
          <a:xfrm xmlns:a="http://schemas.openxmlformats.org/drawingml/2006/main">
            <a:off x="685800" y="53911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A9E7D7"/>
                </a:solidFill>
                <a:latin typeface="Arial"/>
                <a:ea typeface="Arial"/>
                <a:cs typeface="Arial"/>
              </a:defRPr>
            </a:defPPr>
          </a:lstStyle>
          <a:p xmlns:a="http://schemas.openxmlformats.org/drawingml/2006/main">
            <a:pPr>
              <a:defRPr sz="2400" b="0">
                <a:solidFill>
                  <a:srgbClr val="A9E7D7"/>
                </a:solidFill>
                <a:latin typeface="Arial"/>
                <a:ea typeface="Arial"/>
                <a:cs typeface="Arial"/>
              </a:defRPr>
            </a:pPr>
            <a:r>
              <a:rPr sz="2400" b="0">
                <a:solidFill>
                  <a:srgbClr val="A9E7D7"/>
                </a:solidFill>
                <a:latin typeface="Arial"/>
                <a:ea typeface="Arial"/>
                <a:cs typeface="Arial"/>
              </a:rPr>
              <a:t>The forest predicts all seven daily values together.</a:t>
            </a:r>
          </a:p>
        </p:txBody>
      </p:sp>
    </p:spTree>
    <p:extLst>
      <p:ext uri="{BB962C8B-B14F-4D97-AF65-F5344CB8AC3E}">
        <p14:creationId xmlns:p14="http://schemas.microsoft.com/office/powerpoint/2010/main" val="75607763"/>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F2CF7D-6E6F-4483-AA07-A37D645F64C4}"/>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THE DEEP-LEARNING COMPARISON</a:t>
            </a:r>
          </a:p>
        </p:txBody>
      </p:sp>
      <p:sp>
        <p:nvSpPr>
          <p:cNvPr id="2" name="">
            <a:extLst xmlns:a="http://schemas.openxmlformats.org/drawingml/2006/main">
              <a:ext uri="{FF2B5EF4-FFF2-40B4-BE49-F238E27FC236}">
                <a16:creationId xmlns:a16="http://schemas.microsoft.com/office/drawing/2014/main" id="{264374A3-A69D-41BC-A439-D0CB5DBEADA8}"/>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LSTM: Long Short-Term Memory</a:t>
            </a:r>
          </a:p>
        </p:txBody>
      </p:sp>
      <p:sp>
        <p:nvSpPr>
          <p:cNvPr id="3" name="">
            <a:extLst xmlns:a="http://schemas.openxmlformats.org/drawingml/2006/main">
              <a:ext uri="{FF2B5EF4-FFF2-40B4-BE49-F238E27FC236}">
                <a16:creationId xmlns:a16="http://schemas.microsoft.com/office/drawing/2014/main" id="{0FB98B4E-3F49-4094-BF49-5A9D96E4F9E7}"/>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3193E8DE-E0AE-403F-A5DF-6A645518C333}"/>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22F21512-1881-43F1-ADA8-D69F32706BC5}"/>
              </a:ext>
            </a:extLst>
          </p:cNvPr>
          <p:cNvSpPr>
            <a:spLocks xmlns:a="http://schemas.openxmlformats.org/drawingml/2006/main" noGrp="1"/>
          </p:cNvSpPr>
          <p:nvPr/>
        </p:nvSpPr>
        <p:spPr>
          <a:xfrm xmlns:a="http://schemas.openxmlformats.org/drawingml/2006/main">
            <a:off x="666750" y="2000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77EADA1F-0EE6-4743-9577-A63DECDAFC5C}"/>
              </a:ext>
            </a:extLst>
          </p:cNvPr>
          <p:cNvSpPr>
            <a:spLocks xmlns:a="http://schemas.openxmlformats.org/drawingml/2006/main" noGrp="1"/>
          </p:cNvSpPr>
          <p:nvPr/>
        </p:nvSpPr>
        <p:spPr>
          <a:xfrm xmlns:a="http://schemas.openxmlformats.org/drawingml/2006/main">
            <a:off x="4667250" y="20002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7BA003EA-972F-4DA1-8403-AD212CD8FB0C}"/>
              </a:ext>
            </a:extLst>
          </p:cNvPr>
          <p:cNvSpPr>
            <a:spLocks xmlns:a="http://schemas.openxmlformats.org/drawingml/2006/main" noGrp="1"/>
          </p:cNvSpPr>
          <p:nvPr/>
        </p:nvSpPr>
        <p:spPr>
          <a:xfrm xmlns:a="http://schemas.openxmlformats.org/drawingml/2006/main">
            <a:off x="8953500" y="2000250"/>
            <a:ext cx="2524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725" b="1">
                <a:solidFill>
                  <a:srgbClr val="087E79"/>
                </a:solidFill>
                <a:latin typeface="Arial"/>
                <a:ea typeface="Arial"/>
                <a:cs typeface="Arial"/>
              </a:defRPr>
            </a:defPPr>
          </a:lstStyle>
          <a:p xmlns:a="http://schemas.openxmlformats.org/drawingml/2006/main">
            <a:pPr>
              <a:defRPr sz="7725" b="1">
                <a:solidFill>
                  <a:srgbClr val="087E79"/>
                </a:solidFill>
                <a:latin typeface="Arial"/>
                <a:ea typeface="Arial"/>
                <a:cs typeface="Arial"/>
              </a:defRPr>
            </a:pPr>
            <a:r>
              <a:rPr sz="7725" b="1">
                <a:solidFill>
                  <a:srgbClr val="087E79"/>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B806B584-2158-4AAC-A2D0-BC5B76BE3EAD}"/>
              </a:ext>
            </a:extLst>
          </p:cNvPr>
          <p:cNvSpPr>
            <a:spLocks xmlns:a="http://schemas.openxmlformats.org/drawingml/2006/main" noGrp="1"/>
          </p:cNvSpPr>
          <p:nvPr/>
        </p:nvSpPr>
        <p:spPr>
          <a:xfrm xmlns:a="http://schemas.openxmlformats.org/drawingml/2006/main">
            <a:off x="676275" y="3457575"/>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8324A"/>
                </a:solidFill>
                <a:latin typeface="Arial"/>
                <a:ea typeface="Arial"/>
                <a:cs typeface="Arial"/>
              </a:defRPr>
            </a:defPPr>
          </a:lstStyle>
          <a:p xmlns:a="http://schemas.openxmlformats.org/drawingml/2006/main">
            <a:pPr>
              <a:defRPr sz="2325" b="1">
                <a:solidFill>
                  <a:srgbClr val="18324A"/>
                </a:solidFill>
                <a:latin typeface="Arial"/>
                <a:ea typeface="Arial"/>
                <a:cs typeface="Arial"/>
              </a:defRPr>
            </a:pPr>
            <a:r>
              <a:rPr sz="2325" b="1">
                <a:solidFill>
                  <a:srgbClr val="18324A"/>
                </a:solidFill>
                <a:latin typeface="Arial"/>
                <a:ea typeface="Arial"/>
                <a:cs typeface="Arial"/>
              </a:rPr>
              <a:t>past daily values</a:t>
            </a:r>
          </a:p>
        </p:txBody>
      </p:sp>
      <p:sp>
        <p:nvSpPr>
          <p:cNvPr id="9" name="">
            <a:extLst xmlns:a="http://schemas.openxmlformats.org/drawingml/2006/main">
              <a:ext uri="{FF2B5EF4-FFF2-40B4-BE49-F238E27FC236}">
                <a16:creationId xmlns:a16="http://schemas.microsoft.com/office/drawing/2014/main" id="{6E94CE3B-D192-446C-B3A2-44A2957DE3ED}"/>
              </a:ext>
            </a:extLst>
          </p:cNvPr>
          <p:cNvSpPr>
            <a:spLocks xmlns:a="http://schemas.openxmlformats.org/drawingml/2006/main" noGrp="1"/>
          </p:cNvSpPr>
          <p:nvPr/>
        </p:nvSpPr>
        <p:spPr>
          <a:xfrm xmlns:a="http://schemas.openxmlformats.org/drawingml/2006/main">
            <a:off x="4676775" y="3457575"/>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8324A"/>
                </a:solidFill>
                <a:latin typeface="Arial"/>
                <a:ea typeface="Arial"/>
                <a:cs typeface="Arial"/>
              </a:defRPr>
            </a:defPPr>
          </a:lstStyle>
          <a:p xmlns:a="http://schemas.openxmlformats.org/drawingml/2006/main">
            <a:pPr>
              <a:defRPr sz="2325" b="1">
                <a:solidFill>
                  <a:srgbClr val="18324A"/>
                </a:solidFill>
                <a:latin typeface="Arial"/>
                <a:ea typeface="Arial"/>
                <a:cs typeface="Arial"/>
              </a:defRPr>
            </a:pPr>
            <a:r>
              <a:rPr sz="2325" b="1">
                <a:solidFill>
                  <a:srgbClr val="18324A"/>
                </a:solidFill>
                <a:latin typeface="Arial"/>
                <a:ea typeface="Arial"/>
                <a:cs typeface="Arial"/>
              </a:rPr>
              <a:t>LSTM memory units</a:t>
            </a:r>
          </a:p>
        </p:txBody>
      </p:sp>
      <p:sp>
        <p:nvSpPr>
          <p:cNvPr id="10" name="">
            <a:extLst xmlns:a="http://schemas.openxmlformats.org/drawingml/2006/main">
              <a:ext uri="{FF2B5EF4-FFF2-40B4-BE49-F238E27FC236}">
                <a16:creationId xmlns:a16="http://schemas.microsoft.com/office/drawing/2014/main" id="{98705538-B6F3-4D40-AAF3-2722298A9B54}"/>
              </a:ext>
            </a:extLst>
          </p:cNvPr>
          <p:cNvSpPr>
            <a:spLocks xmlns:a="http://schemas.openxmlformats.org/drawingml/2006/main" noGrp="1"/>
          </p:cNvSpPr>
          <p:nvPr/>
        </p:nvSpPr>
        <p:spPr>
          <a:xfrm xmlns:a="http://schemas.openxmlformats.org/drawingml/2006/main">
            <a:off x="8963025" y="3457575"/>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8324A"/>
                </a:solidFill>
                <a:latin typeface="Arial"/>
                <a:ea typeface="Arial"/>
                <a:cs typeface="Arial"/>
              </a:defRPr>
            </a:defPPr>
          </a:lstStyle>
          <a:p xmlns:a="http://schemas.openxmlformats.org/drawingml/2006/main">
            <a:pPr>
              <a:defRPr sz="2325" b="1">
                <a:solidFill>
                  <a:srgbClr val="18324A"/>
                </a:solidFill>
                <a:latin typeface="Arial"/>
                <a:ea typeface="Arial"/>
                <a:cs typeface="Arial"/>
              </a:defRPr>
            </a:pPr>
            <a:r>
              <a:rPr sz="2325" b="1">
                <a:solidFill>
                  <a:srgbClr val="18324A"/>
                </a:solidFill>
                <a:latin typeface="Arial"/>
                <a:ea typeface="Arial"/>
                <a:cs typeface="Arial"/>
              </a:rPr>
              <a:t>daily outputs</a:t>
            </a:r>
          </a:p>
        </p:txBody>
      </p:sp>
      <p:sp>
        <p:nvSpPr>
          <p:cNvPr id="11" name="">
            <a:extLst xmlns:a="http://schemas.openxmlformats.org/drawingml/2006/main">
              <a:ext uri="{FF2B5EF4-FFF2-40B4-BE49-F238E27FC236}">
                <a16:creationId xmlns:a16="http://schemas.microsoft.com/office/drawing/2014/main" id="{DFDB0DCB-2637-45AC-984C-FF22C96232F5}"/>
              </a:ext>
            </a:extLst>
          </p:cNvPr>
          <p:cNvSpPr>
            <a:spLocks xmlns:a="http://schemas.openxmlformats.org/drawingml/2006/main" noGrp="1"/>
          </p:cNvSpPr>
          <p:nvPr/>
        </p:nvSpPr>
        <p:spPr>
          <a:xfrm xmlns:a="http://schemas.openxmlformats.org/drawingml/2006/main">
            <a:off x="666750" y="4695825"/>
            <a:ext cx="1047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8324A"/>
                </a:solidFill>
                <a:latin typeface="Arial"/>
                <a:ea typeface="Arial"/>
                <a:cs typeface="Arial"/>
              </a:defRPr>
            </a:defPPr>
          </a:lstStyle>
          <a:p xmlns:a="http://schemas.openxmlformats.org/drawingml/2006/main">
            <a:pPr>
              <a:defRPr sz="2550" b="1">
                <a:solidFill>
                  <a:srgbClr val="18324A"/>
                </a:solidFill>
                <a:latin typeface="Arial"/>
                <a:ea typeface="Arial"/>
                <a:cs typeface="Arial"/>
              </a:defRPr>
            </a:pPr>
            <a:r>
              <a:rPr sz="2550" b="1">
                <a:solidFill>
                  <a:srgbClr val="18324A"/>
                </a:solidFill>
                <a:latin typeface="Arial"/>
                <a:ea typeface="Arial"/>
                <a:cs typeface="Arial"/>
              </a:rPr>
              <a:t>One small neural network per product</a:t>
            </a:r>
          </a:p>
        </p:txBody>
      </p:sp>
      <p:sp>
        <p:nvSpPr>
          <p:cNvPr id="12" name="">
            <a:extLst xmlns:a="http://schemas.openxmlformats.org/drawingml/2006/main">
              <a:ext uri="{FF2B5EF4-FFF2-40B4-BE49-F238E27FC236}">
                <a16:creationId xmlns:a16="http://schemas.microsoft.com/office/drawing/2014/main" id="{1789AEA1-44C5-49ED-9ED8-996E414B0B1B}"/>
              </a:ext>
            </a:extLst>
          </p:cNvPr>
          <p:cNvSpPr>
            <a:spLocks xmlns:a="http://schemas.openxmlformats.org/drawingml/2006/main" noGrp="1"/>
          </p:cNvSpPr>
          <p:nvPr/>
        </p:nvSpPr>
        <p:spPr>
          <a:xfrm xmlns:a="http://schemas.openxmlformats.org/drawingml/2006/main">
            <a:off x="666750" y="5476875"/>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536A78"/>
                </a:solidFill>
                <a:latin typeface="Arial"/>
                <a:ea typeface="Arial"/>
                <a:cs typeface="Arial"/>
              </a:defRPr>
            </a:defPPr>
          </a:lstStyle>
          <a:p xmlns:a="http://schemas.openxmlformats.org/drawingml/2006/main">
            <a:pPr>
              <a:defRPr sz="2175" b="0">
                <a:solidFill>
                  <a:srgbClr val="536A78"/>
                </a:solidFill>
                <a:latin typeface="Arial"/>
                <a:ea typeface="Arial"/>
                <a:cs typeface="Arial"/>
              </a:defRPr>
            </a:pPr>
            <a:r>
              <a:rPr sz="2175" b="0">
                <a:solidFill>
                  <a:srgbClr val="536A78"/>
                </a:solidFill>
                <a:latin typeface="Arial"/>
                <a:ea typeface="Arial"/>
                <a:cs typeface="Arial"/>
              </a:rPr>
              <a:t>Sales values only. Training scales the values before learning.</a:t>
            </a:r>
          </a:p>
        </p:txBody>
      </p:sp>
    </p:spTree>
    <p:extLst>
      <p:ext uri="{BB962C8B-B14F-4D97-AF65-F5344CB8AC3E}">
        <p14:creationId xmlns:p14="http://schemas.microsoft.com/office/powerpoint/2010/main" val="1230285514"/>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2FABC5-D598-4CFF-A8DE-E04B12D0951C}"/>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 FAIR TIME-BASED COMPARISON</a:t>
            </a:r>
          </a:p>
        </p:txBody>
      </p:sp>
      <p:sp>
        <p:nvSpPr>
          <p:cNvPr id="2" name="">
            <a:extLst xmlns:a="http://schemas.openxmlformats.org/drawingml/2006/main">
              <a:ext uri="{FF2B5EF4-FFF2-40B4-BE49-F238E27FC236}">
                <a16:creationId xmlns:a16="http://schemas.microsoft.com/office/drawing/2014/main" id="{7DF945BE-9E27-41AA-8D09-EAF223DFEEC7}"/>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Training, validation and final testing</a:t>
            </a:r>
          </a:p>
        </p:txBody>
      </p:sp>
      <p:sp>
        <p:nvSpPr>
          <p:cNvPr id="3" name="">
            <a:extLst xmlns:a="http://schemas.openxmlformats.org/drawingml/2006/main">
              <a:ext uri="{FF2B5EF4-FFF2-40B4-BE49-F238E27FC236}">
                <a16:creationId xmlns:a16="http://schemas.microsoft.com/office/drawing/2014/main" id="{E178E2A1-3FEA-48C3-B020-698297890413}"/>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D3449778-8075-442E-BD69-C384E3FB4403}"/>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87054D88-F65B-4EA5-AD2E-66CDAB0CC3D4}"/>
              </a:ext>
            </a:extLst>
          </p:cNvPr>
          <p:cNvGraphicFramePr/>
          <p:nvPr/>
        </p:nvGraphicFramePr>
        <p:xfrm>
          <a:off xmlns:a="http://schemas.openxmlformats.org/drawingml/2006/main" x="619125" y="1924050"/>
          <a:ext xmlns:a="http://schemas.openxmlformats.org/drawingml/2006/main" cx="10858500" cy="3190875"/>
        </p:xfrm>
        <a:graphic xmlns:a="http://schemas.openxmlformats.org/drawingml/2006/main">
          <a:graphicData uri="http://schemas.openxmlformats.org/drawingml/2006/table">
            <a:tbl>
              <a:tblPr/>
              <a:tblGrid>
                <a:gridCol w="3048000"/>
                <a:gridCol w="7810500"/>
              </a:tblGrid>
              <a:tr h="638175">
                <a:tc>
                  <a:txBody>
                    <a:bodyPr/>
                    <a:lstStyle/>
                    <a:p>
                      <a:r>
                        <a:rPr sz="2100" b="1">
                          <a:solidFill>
                            <a:srgbClr val="FFFFFF"/>
                          </a:solidFill>
                          <a:latin typeface="Arial"/>
                          <a:ea typeface="Arial"/>
                          <a:cs typeface="Arial"/>
                        </a:rPr>
                        <a:t>Period</a:t>
                      </a:r>
                    </a:p>
                  </a:txBody>
                  <a:tcPr marL="123825" marR="123825" marT="66675" marB="66675" anchor="ctr">
                    <a:solidFill>
                      <a:srgbClr val="087E79"/>
                    </a:solidFill>
                  </a:tcPr>
                </a:tc>
                <a:tc>
                  <a:txBody>
                    <a:bodyPr/>
                    <a:lstStyle/>
                    <a:p>
                      <a:r>
                        <a:rPr sz="2100" b="1">
                          <a:solidFill>
                            <a:srgbClr val="FFFFFF"/>
                          </a:solidFill>
                          <a:latin typeface="Arial"/>
                          <a:ea typeface="Arial"/>
                          <a:cs typeface="Arial"/>
                        </a:rPr>
                        <a:t>Purpose</a:t>
                      </a:r>
                    </a:p>
                  </a:txBody>
                  <a:tcPr marL="123825" marR="123825" marT="66675" marB="66675" anchor="ctr">
                    <a:solidFill>
                      <a:srgbClr val="087E79"/>
                    </a:solidFill>
                  </a:tcPr>
                </a:tc>
              </a:tr>
              <a:tr h="638175">
                <a:tc>
                  <a:txBody>
                    <a:bodyPr/>
                    <a:lstStyle/>
                    <a:p>
                      <a:r>
                        <a:rPr sz="2100" b="0">
                          <a:solidFill>
                            <a:srgbClr val="18324A"/>
                          </a:solidFill>
                          <a:latin typeface="Arial"/>
                          <a:ea typeface="Arial"/>
                          <a:cs typeface="Arial"/>
                        </a:rPr>
                        <a:t>2013–2015</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Initial model fitting</a:t>
                      </a:r>
                    </a:p>
                  </a:txBody>
                  <a:tcPr marL="123825" marR="123825" marT="66675" marB="66675" anchor="ctr">
                    <a:solidFill>
                      <a:srgbClr val="FFFFFF"/>
                    </a:solidFill>
                  </a:tcPr>
                </a:tc>
              </a:tr>
              <a:tr h="638175">
                <a:tc>
                  <a:txBody>
                    <a:bodyPr/>
                    <a:lstStyle/>
                    <a:p>
                      <a:r>
                        <a:rPr sz="2100" b="0">
                          <a:solidFill>
                            <a:srgbClr val="18324A"/>
                          </a:solidFill>
                          <a:latin typeface="Arial"/>
                          <a:ea typeface="Arial"/>
                          <a:cs typeface="Arial"/>
                        </a:rPr>
                        <a:t>2016</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Validation selects the method and settings</a:t>
                      </a:r>
                    </a:p>
                  </a:txBody>
                  <a:tcPr marL="123825" marR="123825" marT="66675" marB="66675" anchor="ctr">
                    <a:solidFill>
                      <a:srgbClr val="F7F5F0"/>
                    </a:solidFill>
                  </a:tcPr>
                </a:tc>
              </a:tr>
              <a:tr h="638175">
                <a:tc>
                  <a:txBody>
                    <a:bodyPr/>
                    <a:lstStyle/>
                    <a:p>
                      <a:r>
                        <a:rPr sz="2100" b="0">
                          <a:solidFill>
                            <a:srgbClr val="18324A"/>
                          </a:solidFill>
                          <a:latin typeface="Arial"/>
                          <a:ea typeface="Arial"/>
                          <a:cs typeface="Arial"/>
                        </a:rPr>
                        <a:t>Through 2016</a:t>
                      </a:r>
                    </a:p>
                  </a:txBody>
                  <a:tcPr marL="123825" marR="123825" marT="66675" marB="66675" anchor="ctr">
                    <a:solidFill>
                      <a:srgbClr val="FFFFFF"/>
                    </a:solidFill>
                  </a:tcPr>
                </a:tc>
                <a:tc>
                  <a:txBody>
                    <a:bodyPr/>
                    <a:lstStyle/>
                    <a:p>
                      <a:r>
                        <a:rPr sz="2100" b="0">
                          <a:solidFill>
                            <a:srgbClr val="18324A"/>
                          </a:solidFill>
                          <a:latin typeface="Arial"/>
                          <a:ea typeface="Arial"/>
                          <a:cs typeface="Arial"/>
                        </a:rPr>
                        <a:t>Refit with the selected settings</a:t>
                      </a:r>
                    </a:p>
                  </a:txBody>
                  <a:tcPr marL="123825" marR="123825" marT="66675" marB="66675" anchor="ctr">
                    <a:solidFill>
                      <a:srgbClr val="FFFFFF"/>
                    </a:solidFill>
                  </a:tcPr>
                </a:tc>
              </a:tr>
              <a:tr h="638175">
                <a:tc>
                  <a:txBody>
                    <a:bodyPr/>
                    <a:lstStyle/>
                    <a:p>
                      <a:r>
                        <a:rPr sz="2100" b="0">
                          <a:solidFill>
                            <a:srgbClr val="18324A"/>
                          </a:solidFill>
                          <a:latin typeface="Arial"/>
                          <a:ea typeface="Arial"/>
                          <a:cs typeface="Arial"/>
                        </a:rPr>
                        <a:t>2017</a:t>
                      </a:r>
                    </a:p>
                  </a:txBody>
                  <a:tcPr marL="123825" marR="123825" marT="66675" marB="66675" anchor="ctr">
                    <a:solidFill>
                      <a:srgbClr val="F7F5F0"/>
                    </a:solidFill>
                  </a:tcPr>
                </a:tc>
                <a:tc>
                  <a:txBody>
                    <a:bodyPr/>
                    <a:lstStyle/>
                    <a:p>
                      <a:r>
                        <a:rPr sz="2100" b="0">
                          <a:solidFill>
                            <a:srgbClr val="18324A"/>
                          </a:solidFill>
                          <a:latin typeface="Arial"/>
                          <a:ea typeface="Arial"/>
                          <a:cs typeface="Arial"/>
                        </a:rPr>
                        <a:t>Final test of the frozen choices</a:t>
                      </a:r>
                    </a:p>
                  </a:txBody>
                  <a:tcPr marL="123825" marR="123825" marT="66675" marB="6667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3EE2DF48-3364-48C2-B009-861C40755358}"/>
              </a:ext>
            </a:extLst>
          </p:cNvPr>
          <p:cNvSpPr>
            <a:spLocks xmlns:a="http://schemas.openxmlformats.org/drawingml/2006/main" noGrp="1"/>
          </p:cNvSpPr>
          <p:nvPr/>
        </p:nvSpPr>
        <p:spPr>
          <a:xfrm xmlns:a="http://schemas.openxmlformats.org/drawingml/2006/main">
            <a:off x="657225" y="5562600"/>
            <a:ext cx="1057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087E79"/>
                </a:solidFill>
                <a:latin typeface="Arial"/>
                <a:ea typeface="Arial"/>
                <a:cs typeface="Arial"/>
              </a:defRPr>
            </a:defPPr>
          </a:lstStyle>
          <a:p xmlns:a="http://schemas.openxmlformats.org/drawingml/2006/main">
            <a:pPr>
              <a:defRPr sz="2175" b="1">
                <a:solidFill>
                  <a:srgbClr val="087E79"/>
                </a:solidFill>
                <a:latin typeface="Arial"/>
                <a:ea typeface="Arial"/>
                <a:cs typeface="Arial"/>
              </a:defRPr>
            </a:pPr>
            <a:r>
              <a:rPr sz="2175" b="1">
                <a:solidFill>
                  <a:srgbClr val="087E79"/>
                </a:solidFill>
                <a:latin typeface="Arial"/>
                <a:ea typeface="Arial"/>
                <a:cs typeface="Arial"/>
              </a:rPr>
              <a:t>52 complete weeks per product in each evaluation year</a:t>
            </a:r>
          </a:p>
        </p:txBody>
      </p:sp>
    </p:spTree>
    <p:extLst>
      <p:ext uri="{BB962C8B-B14F-4D97-AF65-F5344CB8AC3E}">
        <p14:creationId xmlns:p14="http://schemas.microsoft.com/office/powerpoint/2010/main" val="1937933179"/>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6BC34A-BE95-410E-947B-38E2D10B4648}"/>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AN ERROR METRIC</a:t>
            </a:r>
          </a:p>
        </p:txBody>
      </p:sp>
      <p:sp>
        <p:nvSpPr>
          <p:cNvPr id="2" name="">
            <a:extLst xmlns:a="http://schemas.openxmlformats.org/drawingml/2006/main">
              <a:ext uri="{FF2B5EF4-FFF2-40B4-BE49-F238E27FC236}">
                <a16:creationId xmlns:a16="http://schemas.microsoft.com/office/drawing/2014/main" id="{FE2806B4-BD80-42A0-A0D7-0FF89D9ABD41}"/>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MAE: average forecast mistake</a:t>
            </a:r>
          </a:p>
        </p:txBody>
      </p:sp>
      <p:sp>
        <p:nvSpPr>
          <p:cNvPr id="3" name="">
            <a:extLst xmlns:a="http://schemas.openxmlformats.org/drawingml/2006/main">
              <a:ext uri="{FF2B5EF4-FFF2-40B4-BE49-F238E27FC236}">
                <a16:creationId xmlns:a16="http://schemas.microsoft.com/office/drawing/2014/main" id="{D413221F-9C70-4803-9D1F-EDDA3524B30D}"/>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D6C62416-0D8D-4C07-8212-C7B19A607A97}"/>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11C0D782-15E5-474D-BD05-2305C175899D}"/>
              </a:ext>
            </a:extLst>
          </p:cNvPr>
          <p:cNvGraphicFramePr/>
          <p:nvPr/>
        </p:nvGraphicFramePr>
        <p:xfrm>
          <a:off xmlns:a="http://schemas.openxmlformats.org/drawingml/2006/main" x="619125" y="2000250"/>
          <a:ext xmlns:a="http://schemas.openxmlformats.org/drawingml/2006/main" cx="10858500" cy="2286000"/>
        </p:xfrm>
        <a:graphic xmlns:a="http://schemas.openxmlformats.org/drawingml/2006/main">
          <a:graphicData uri="http://schemas.openxmlformats.org/drawingml/2006/table">
            <a:tbl>
              <a:tblPr/>
              <a:tblGrid>
                <a:gridCol w="2952750"/>
                <a:gridCol w="2524125"/>
                <a:gridCol w="2524125"/>
                <a:gridCol w="2857500"/>
              </a:tblGrid>
              <a:tr h="762000">
                <a:tc>
                  <a:txBody>
                    <a:bodyPr/>
                    <a:lstStyle/>
                    <a:p>
                      <a:r>
                        <a:rPr sz="2325" b="1">
                          <a:solidFill>
                            <a:srgbClr val="FFFFFF"/>
                          </a:solidFill>
                          <a:latin typeface="Arial"/>
                          <a:ea typeface="Arial"/>
                          <a:cs typeface="Arial"/>
                        </a:rPr>
                        <a:t>Day</a:t>
                      </a:r>
                    </a:p>
                  </a:txBody>
                  <a:tcPr marL="123825" marR="123825" marT="66675" marB="66675" anchor="ctr">
                    <a:solidFill>
                      <a:srgbClr val="087E79"/>
                    </a:solidFill>
                  </a:tcPr>
                </a:tc>
                <a:tc>
                  <a:txBody>
                    <a:bodyPr/>
                    <a:lstStyle/>
                    <a:p>
                      <a:r>
                        <a:rPr sz="2325" b="1">
                          <a:solidFill>
                            <a:srgbClr val="FFFFFF"/>
                          </a:solidFill>
                          <a:latin typeface="Arial"/>
                          <a:ea typeface="Arial"/>
                          <a:cs typeface="Arial"/>
                        </a:rPr>
                        <a:t>Observed</a:t>
                      </a:r>
                    </a:p>
                  </a:txBody>
                  <a:tcPr marL="123825" marR="123825" marT="66675" marB="66675" anchor="ctr">
                    <a:solidFill>
                      <a:srgbClr val="087E79"/>
                    </a:solidFill>
                  </a:tcPr>
                </a:tc>
                <a:tc>
                  <a:txBody>
                    <a:bodyPr/>
                    <a:lstStyle/>
                    <a:p>
                      <a:r>
                        <a:rPr sz="2325" b="1">
                          <a:solidFill>
                            <a:srgbClr val="FFFFFF"/>
                          </a:solidFill>
                          <a:latin typeface="Arial"/>
                          <a:ea typeface="Arial"/>
                          <a:cs typeface="Arial"/>
                        </a:rPr>
                        <a:t>Forecast</a:t>
                      </a:r>
                    </a:p>
                  </a:txBody>
                  <a:tcPr marL="123825" marR="123825" marT="66675" marB="66675" anchor="ctr">
                    <a:solidFill>
                      <a:srgbClr val="087E79"/>
                    </a:solidFill>
                  </a:tcPr>
                </a:tc>
                <a:tc>
                  <a:txBody>
                    <a:bodyPr/>
                    <a:lstStyle/>
                    <a:p>
                      <a:r>
                        <a:rPr sz="2325" b="1">
                          <a:solidFill>
                            <a:srgbClr val="FFFFFF"/>
                          </a:solidFill>
                          <a:latin typeface="Arial"/>
                          <a:ea typeface="Arial"/>
                          <a:cs typeface="Arial"/>
                        </a:rPr>
                        <a:t>Absolute error</a:t>
                      </a:r>
                    </a:p>
                  </a:txBody>
                  <a:tcPr marL="123825" marR="123825" marT="66675" marB="66675" anchor="ctr">
                    <a:solidFill>
                      <a:srgbClr val="087E79"/>
                    </a:solidFill>
                  </a:tcPr>
                </a:tc>
              </a:tr>
              <a:tr h="762000">
                <a:tc>
                  <a:txBody>
                    <a:bodyPr/>
                    <a:lstStyle/>
                    <a:p>
                      <a:r>
                        <a:rPr sz="2325" b="0">
                          <a:solidFill>
                            <a:srgbClr val="18324A"/>
                          </a:solidFill>
                          <a:latin typeface="Arial"/>
                          <a:ea typeface="Arial"/>
                          <a:cs typeface="Arial"/>
                        </a:rPr>
                        <a:t>Day 1</a:t>
                      </a:r>
                    </a:p>
                  </a:txBody>
                  <a:tcPr marL="123825" marR="123825" marT="66675" marB="66675" anchor="ctr">
                    <a:solidFill>
                      <a:srgbClr val="FFFFFF"/>
                    </a:solidFill>
                  </a:tcPr>
                </a:tc>
                <a:tc>
                  <a:txBody>
                    <a:bodyPr/>
                    <a:lstStyle/>
                    <a:p>
                      <a:r>
                        <a:rPr sz="2325" b="0">
                          <a:solidFill>
                            <a:srgbClr val="18324A"/>
                          </a:solidFill>
                          <a:latin typeface="Arial"/>
                          <a:ea typeface="Arial"/>
                          <a:cs typeface="Arial"/>
                        </a:rPr>
                        <a:t>10</a:t>
                      </a:r>
                    </a:p>
                  </a:txBody>
                  <a:tcPr marL="123825" marR="123825" marT="66675" marB="66675" anchor="ctr">
                    <a:solidFill>
                      <a:srgbClr val="FFFFFF"/>
                    </a:solidFill>
                  </a:tcPr>
                </a:tc>
                <a:tc>
                  <a:txBody>
                    <a:bodyPr/>
                    <a:lstStyle/>
                    <a:p>
                      <a:r>
                        <a:rPr sz="2325" b="0">
                          <a:solidFill>
                            <a:srgbClr val="18324A"/>
                          </a:solidFill>
                          <a:latin typeface="Arial"/>
                          <a:ea typeface="Arial"/>
                          <a:cs typeface="Arial"/>
                        </a:rPr>
                        <a:t>12</a:t>
                      </a:r>
                    </a:p>
                  </a:txBody>
                  <a:tcPr marL="123825" marR="123825" marT="66675" marB="66675" anchor="ctr">
                    <a:solidFill>
                      <a:srgbClr val="FFFFFF"/>
                    </a:solidFill>
                  </a:tcPr>
                </a:tc>
                <a:tc>
                  <a:txBody>
                    <a:bodyPr/>
                    <a:lstStyle/>
                    <a:p>
                      <a:r>
                        <a:rPr sz="2325" b="0">
                          <a:solidFill>
                            <a:srgbClr val="18324A"/>
                          </a:solidFill>
                          <a:latin typeface="Arial"/>
                          <a:ea typeface="Arial"/>
                          <a:cs typeface="Arial"/>
                        </a:rPr>
                        <a:t>2</a:t>
                      </a:r>
                    </a:p>
                  </a:txBody>
                  <a:tcPr marL="123825" marR="123825" marT="66675" marB="66675" anchor="ctr">
                    <a:solidFill>
                      <a:srgbClr val="FFFFFF"/>
                    </a:solidFill>
                  </a:tcPr>
                </a:tc>
              </a:tr>
              <a:tr h="762000">
                <a:tc>
                  <a:txBody>
                    <a:bodyPr/>
                    <a:lstStyle/>
                    <a:p>
                      <a:r>
                        <a:rPr sz="2325" b="0">
                          <a:solidFill>
                            <a:srgbClr val="18324A"/>
                          </a:solidFill>
                          <a:latin typeface="Arial"/>
                          <a:ea typeface="Arial"/>
                          <a:cs typeface="Arial"/>
                        </a:rPr>
                        <a:t>Day 2</a:t>
                      </a:r>
                    </a:p>
                  </a:txBody>
                  <a:tcPr marL="123825" marR="123825" marT="66675" marB="66675" anchor="ctr">
                    <a:solidFill>
                      <a:srgbClr val="F7F5F0"/>
                    </a:solidFill>
                  </a:tcPr>
                </a:tc>
                <a:tc>
                  <a:txBody>
                    <a:bodyPr/>
                    <a:lstStyle/>
                    <a:p>
                      <a:r>
                        <a:rPr sz="2325" b="0">
                          <a:solidFill>
                            <a:srgbClr val="18324A"/>
                          </a:solidFill>
                          <a:latin typeface="Arial"/>
                          <a:ea typeface="Arial"/>
                          <a:cs typeface="Arial"/>
                        </a:rPr>
                        <a:t>20</a:t>
                      </a:r>
                    </a:p>
                  </a:txBody>
                  <a:tcPr marL="123825" marR="123825" marT="66675" marB="66675" anchor="ctr">
                    <a:solidFill>
                      <a:srgbClr val="F7F5F0"/>
                    </a:solidFill>
                  </a:tcPr>
                </a:tc>
                <a:tc>
                  <a:txBody>
                    <a:bodyPr/>
                    <a:lstStyle/>
                    <a:p>
                      <a:r>
                        <a:rPr sz="2325" b="0">
                          <a:solidFill>
                            <a:srgbClr val="18324A"/>
                          </a:solidFill>
                          <a:latin typeface="Arial"/>
                          <a:ea typeface="Arial"/>
                          <a:cs typeface="Arial"/>
                        </a:rPr>
                        <a:t>17</a:t>
                      </a:r>
                    </a:p>
                  </a:txBody>
                  <a:tcPr marL="123825" marR="123825" marT="66675" marB="66675" anchor="ctr">
                    <a:solidFill>
                      <a:srgbClr val="F7F5F0"/>
                    </a:solidFill>
                  </a:tcPr>
                </a:tc>
                <a:tc>
                  <a:txBody>
                    <a:bodyPr/>
                    <a:lstStyle/>
                    <a:p>
                      <a:r>
                        <a:rPr sz="2325" b="0">
                          <a:solidFill>
                            <a:srgbClr val="18324A"/>
                          </a:solidFill>
                          <a:latin typeface="Arial"/>
                          <a:ea typeface="Arial"/>
                          <a:cs typeface="Arial"/>
                        </a:rPr>
                        <a:t>3</a:t>
                      </a:r>
                    </a:p>
                  </a:txBody>
                  <a:tcPr marL="123825" marR="123825" marT="66675" marB="6667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E3F85007-F0B3-4C67-9AEA-72353CA519FB}"/>
              </a:ext>
            </a:extLst>
          </p:cNvPr>
          <p:cNvSpPr>
            <a:spLocks xmlns:a="http://schemas.openxmlformats.org/drawingml/2006/main" noGrp="1"/>
          </p:cNvSpPr>
          <p:nvPr/>
        </p:nvSpPr>
        <p:spPr>
          <a:xfrm xmlns:a="http://schemas.openxmlformats.org/drawingml/2006/main">
            <a:off x="657225" y="4714875"/>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75" b="1">
                <a:solidFill>
                  <a:srgbClr val="087E79"/>
                </a:solidFill>
                <a:latin typeface="Arial"/>
                <a:ea typeface="Arial"/>
                <a:cs typeface="Arial"/>
              </a:defRPr>
            </a:defPPr>
          </a:lstStyle>
          <a:p xmlns:a="http://schemas.openxmlformats.org/drawingml/2006/main">
            <a:pPr>
              <a:defRPr sz="3975" b="1">
                <a:solidFill>
                  <a:srgbClr val="087E79"/>
                </a:solidFill>
                <a:latin typeface="Arial"/>
                <a:ea typeface="Arial"/>
                <a:cs typeface="Arial"/>
              </a:defRPr>
            </a:pPr>
            <a:r>
              <a:rPr sz="3975" b="1">
                <a:solidFill>
                  <a:srgbClr val="087E79"/>
                </a:solidFill>
                <a:latin typeface="Arial"/>
                <a:ea typeface="Arial"/>
                <a:cs typeface="Arial"/>
              </a:rPr>
              <a:t>(2 + 3) ÷ 2 = 2.5 units</a:t>
            </a:r>
          </a:p>
        </p:txBody>
      </p:sp>
      <p:sp>
        <p:nvSpPr>
          <p:cNvPr id="7" name="">
            <a:extLst xmlns:a="http://schemas.openxmlformats.org/drawingml/2006/main">
              <a:ext uri="{FF2B5EF4-FFF2-40B4-BE49-F238E27FC236}">
                <a16:creationId xmlns:a16="http://schemas.microsoft.com/office/drawing/2014/main" id="{A0AF7929-8E2B-4E1B-8656-9E2750248CE3}"/>
              </a:ext>
            </a:extLst>
          </p:cNvPr>
          <p:cNvSpPr>
            <a:spLocks xmlns:a="http://schemas.openxmlformats.org/drawingml/2006/main" noGrp="1"/>
          </p:cNvSpPr>
          <p:nvPr/>
        </p:nvSpPr>
        <p:spPr>
          <a:xfrm xmlns:a="http://schemas.openxmlformats.org/drawingml/2006/main">
            <a:off x="676275" y="5715000"/>
            <a:ext cx="10477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536A78"/>
                </a:solidFill>
                <a:latin typeface="Arial"/>
                <a:ea typeface="Arial"/>
                <a:cs typeface="Arial"/>
              </a:defRPr>
            </a:defPPr>
          </a:lstStyle>
          <a:p xmlns:a="http://schemas.openxmlformats.org/drawingml/2006/main">
            <a:pPr>
              <a:defRPr sz="2025" b="0">
                <a:solidFill>
                  <a:srgbClr val="536A78"/>
                </a:solidFill>
                <a:latin typeface="Arial"/>
                <a:ea typeface="Arial"/>
                <a:cs typeface="Arial"/>
              </a:defRPr>
            </a:pPr>
            <a:r>
              <a:rPr sz="2025" b="0">
                <a:solidFill>
                  <a:srgbClr val="536A78"/>
                </a:solidFill>
                <a:latin typeface="Arial"/>
                <a:ea typeface="Arial"/>
                <a:cs typeface="Arial"/>
              </a:rPr>
              <a:t>Illustration. Smaller error is better.</a:t>
            </a:r>
          </a:p>
        </p:txBody>
      </p:sp>
    </p:spTree>
    <p:extLst>
      <p:ext uri="{BB962C8B-B14F-4D97-AF65-F5344CB8AC3E}">
        <p14:creationId xmlns:p14="http://schemas.microsoft.com/office/powerpoint/2010/main" val="1023685647"/>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A466A3-1D0C-4CE7-BEF7-ECA84BBB5E0D}"/>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WHY ERROR MEASURES CAN DIFFER</a:t>
            </a:r>
          </a:p>
        </p:txBody>
      </p:sp>
      <p:sp>
        <p:nvSpPr>
          <p:cNvPr id="2" name="">
            <a:extLst xmlns:a="http://schemas.openxmlformats.org/drawingml/2006/main">
              <a:ext uri="{FF2B5EF4-FFF2-40B4-BE49-F238E27FC236}">
                <a16:creationId xmlns:a16="http://schemas.microsoft.com/office/drawing/2014/main" id="{56C89507-CEF7-46AD-96A8-AA42EA47510D}"/>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RMSE and weekly-total MAE</a:t>
            </a:r>
          </a:p>
        </p:txBody>
      </p:sp>
      <p:sp>
        <p:nvSpPr>
          <p:cNvPr id="3" name="">
            <a:extLst xmlns:a="http://schemas.openxmlformats.org/drawingml/2006/main">
              <a:ext uri="{FF2B5EF4-FFF2-40B4-BE49-F238E27FC236}">
                <a16:creationId xmlns:a16="http://schemas.microsoft.com/office/drawing/2014/main" id="{908B0107-DAE8-4EEE-ADF8-52CEEA7DE163}"/>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0300D395-E9D6-49BB-B202-2A813CA16F75}"/>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E5F8CBC8-52D3-4DC5-81CE-397ED8DDBB72}"/>
              </a:ext>
            </a:extLst>
          </p:cNvPr>
          <p:cNvSpPr>
            <a:spLocks xmlns:a="http://schemas.openxmlformats.org/drawingml/2006/main" noGrp="1"/>
          </p:cNvSpPr>
          <p:nvPr/>
        </p:nvSpPr>
        <p:spPr>
          <a:xfrm xmlns:a="http://schemas.openxmlformats.org/drawingml/2006/main">
            <a:off x="657225" y="1971675"/>
            <a:ext cx="48672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Root Mean Squared Error</a:t>
            </a:r>
          </a:p>
        </p:txBody>
      </p:sp>
      <p:sp>
        <p:nvSpPr>
          <p:cNvPr id="6" name="">
            <a:extLst xmlns:a="http://schemas.openxmlformats.org/drawingml/2006/main">
              <a:ext uri="{FF2B5EF4-FFF2-40B4-BE49-F238E27FC236}">
                <a16:creationId xmlns:a16="http://schemas.microsoft.com/office/drawing/2014/main" id="{E8409E9C-43F2-43B1-96C4-C09D1483DAD6}"/>
              </a:ext>
            </a:extLst>
          </p:cNvPr>
          <p:cNvSpPr>
            <a:spLocks xmlns:a="http://schemas.openxmlformats.org/drawingml/2006/main" noGrp="1"/>
          </p:cNvSpPr>
          <p:nvPr/>
        </p:nvSpPr>
        <p:spPr>
          <a:xfrm xmlns:a="http://schemas.openxmlformats.org/drawingml/2006/main">
            <a:off x="666750" y="2886075"/>
            <a:ext cx="46291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324A"/>
                </a:solidFill>
                <a:latin typeface="Arial"/>
                <a:ea typeface="Arial"/>
                <a:cs typeface="Arial"/>
              </a:defRPr>
            </a:defPPr>
          </a:lstStyle>
          <a:p xmlns:a="http://schemas.openxmlformats.org/drawingml/2006/main">
            <a:pPr>
              <a:defRPr sz="2325" b="0">
                <a:solidFill>
                  <a:srgbClr val="18324A"/>
                </a:solidFill>
                <a:latin typeface="Arial"/>
                <a:ea typeface="Arial"/>
                <a:cs typeface="Arial"/>
              </a:defRPr>
            </a:pPr>
            <a:r>
              <a:rPr sz="2325" b="0">
                <a:solidFill>
                  <a:srgbClr val="18324A"/>
                </a:solidFill>
                <a:latin typeface="Arial"/>
                <a:ea typeface="Arial"/>
                <a:cs typeface="Arial"/>
              </a:rPr>
              <a:t>Larger mistakes receive more weight.</a:t>
            </a:r>
          </a:p>
        </p:txBody>
      </p:sp>
      <p:sp>
        <p:nvSpPr>
          <p:cNvPr id="7" name="">
            <a:extLst xmlns:a="http://schemas.openxmlformats.org/drawingml/2006/main">
              <a:ext uri="{FF2B5EF4-FFF2-40B4-BE49-F238E27FC236}">
                <a16:creationId xmlns:a16="http://schemas.microsoft.com/office/drawing/2014/main" id="{B42CCD06-92D3-4DFB-83FE-06E4CE6EF27A}"/>
              </a:ext>
            </a:extLst>
          </p:cNvPr>
          <p:cNvSpPr>
            <a:spLocks xmlns:a="http://schemas.openxmlformats.org/drawingml/2006/main" noGrp="1"/>
          </p:cNvSpPr>
          <p:nvPr/>
        </p:nvSpPr>
        <p:spPr>
          <a:xfrm xmlns:a="http://schemas.openxmlformats.org/drawingml/2006/main">
            <a:off x="666750" y="4000500"/>
            <a:ext cx="4686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8324A"/>
                </a:solidFill>
                <a:latin typeface="Arial"/>
                <a:ea typeface="Arial"/>
                <a:cs typeface="Arial"/>
              </a:defRPr>
            </a:defPPr>
          </a:lstStyle>
          <a:p xmlns:a="http://schemas.openxmlformats.org/drawingml/2006/main">
            <a:pPr>
              <a:defRPr sz="2175" b="1">
                <a:solidFill>
                  <a:srgbClr val="18324A"/>
                </a:solidFill>
                <a:latin typeface="Arial"/>
                <a:ea typeface="Arial"/>
                <a:cs typeface="Arial"/>
              </a:defRPr>
            </a:pPr>
            <a:r>
              <a:rPr sz="2175" b="1">
                <a:solidFill>
                  <a:srgbClr val="18324A"/>
                </a:solidFill>
                <a:latin typeface="Arial"/>
                <a:ea typeface="Arial"/>
                <a:cs typeface="Arial"/>
              </a:rPr>
              <a:t>Previous slide’s example: 2.55 units</a:t>
            </a:r>
          </a:p>
        </p:txBody>
      </p:sp>
      <p:sp>
        <p:nvSpPr>
          <p:cNvPr id="8" name="">
            <a:extLst xmlns:a="http://schemas.openxmlformats.org/drawingml/2006/main">
              <a:ext uri="{FF2B5EF4-FFF2-40B4-BE49-F238E27FC236}">
                <a16:creationId xmlns:a16="http://schemas.microsoft.com/office/drawing/2014/main" id="{E09BD332-3EC7-4395-BC96-EF62AEEBE075}"/>
              </a:ext>
            </a:extLst>
          </p:cNvPr>
          <p:cNvSpPr>
            <a:spLocks xmlns:a="http://schemas.openxmlformats.org/drawingml/2006/main" noGrp="1"/>
          </p:cNvSpPr>
          <p:nvPr/>
        </p:nvSpPr>
        <p:spPr>
          <a:xfrm xmlns:a="http://schemas.openxmlformats.org/drawingml/2006/main">
            <a:off x="666750" y="5238750"/>
            <a:ext cx="47244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087E79"/>
                </a:solidFill>
                <a:latin typeface="Arial"/>
                <a:ea typeface="Arial"/>
                <a:cs typeface="Arial"/>
              </a:defRPr>
            </a:defPPr>
          </a:lstStyle>
          <a:p xmlns:a="http://schemas.openxmlformats.org/drawingml/2006/main">
            <a:pPr>
              <a:defRPr sz="2025" b="0">
                <a:solidFill>
                  <a:srgbClr val="087E79"/>
                </a:solidFill>
                <a:latin typeface="Arial"/>
                <a:ea typeface="Arial"/>
                <a:cs typeface="Arial"/>
              </a:defRPr>
            </a:pPr>
            <a:r>
              <a:rPr sz="2025" b="0">
                <a:solidFill>
                  <a:srgbClr val="087E79"/>
                </a:solidFill>
                <a:latin typeface="Arial"/>
                <a:ea typeface="Arial"/>
                <a:cs typeface="Arial"/>
              </a:rPr>
              <a:t>Weekly-total MAE compares seven-day totals.</a:t>
            </a:r>
          </a:p>
        </p:txBody>
      </p:sp>
      <p:graphicFrame>
        <p:nvGraphicFramePr>
          <p:cNvPr id="9" name="">
            <a:extLst xmlns:a="http://schemas.openxmlformats.org/drawingml/2006/main">
              <a:ext uri="{FF2B5EF4-FFF2-40B4-BE49-F238E27FC236}">
                <a16:creationId xmlns:a16="http://schemas.microsoft.com/office/drawing/2014/main" id="{BF22D9B6-BF8B-43E4-8862-C46CA387C3A1}"/>
              </a:ext>
            </a:extLst>
          </p:cNvPr>
          <p:cNvGraphicFramePr/>
          <p:nvPr/>
        </p:nvGraphicFramePr>
        <p:xfrm>
          <a:off xmlns:a="http://schemas.openxmlformats.org/drawingml/2006/main" x="5991225" y="1990725"/>
          <a:ext xmlns:a="http://schemas.openxmlformats.org/drawingml/2006/main" cx="5476875" cy="3000375"/>
        </p:xfrm>
        <a:graphic xmlns:a="http://schemas.openxmlformats.org/drawingml/2006/main">
          <a:graphicData uri="http://schemas.openxmlformats.org/drawingml/2006/table">
            <a:tbl>
              <a:tblPr/>
              <a:tblGrid>
                <a:gridCol w="2619375"/>
                <a:gridCol w="1428750"/>
                <a:gridCol w="1428750"/>
              </a:tblGrid>
              <a:tr h="750094">
                <a:tc>
                  <a:txBody>
                    <a:bodyPr/>
                    <a:lstStyle/>
                    <a:p>
                      <a:r>
                        <a:rPr sz="1875" b="1">
                          <a:solidFill>
                            <a:srgbClr val="FFFFFF"/>
                          </a:solidFill>
                          <a:latin typeface="Arial"/>
                          <a:ea typeface="Arial"/>
                          <a:cs typeface="Arial"/>
                        </a:rPr>
                        <a:t>Two-day illustration</a:t>
                      </a:r>
                    </a:p>
                  </a:txBody>
                  <a:tcPr marL="123825" marR="123825" marT="66675" marB="66675" anchor="ctr">
                    <a:solidFill>
                      <a:srgbClr val="087E79"/>
                    </a:solidFill>
                  </a:tcPr>
                </a:tc>
                <a:tc>
                  <a:txBody>
                    <a:bodyPr/>
                    <a:lstStyle/>
                    <a:p>
                      <a:r>
                        <a:rPr sz="1875" b="1">
                          <a:solidFill>
                            <a:srgbClr val="FFFFFF"/>
                          </a:solidFill>
                          <a:latin typeface="Arial"/>
                          <a:ea typeface="Arial"/>
                          <a:cs typeface="Arial"/>
                        </a:rPr>
                        <a:t>Actual</a:t>
                      </a:r>
                    </a:p>
                  </a:txBody>
                  <a:tcPr marL="123825" marR="123825" marT="66675" marB="66675" anchor="ctr">
                    <a:solidFill>
                      <a:srgbClr val="087E79"/>
                    </a:solidFill>
                  </a:tcPr>
                </a:tc>
                <a:tc>
                  <a:txBody>
                    <a:bodyPr/>
                    <a:lstStyle/>
                    <a:p>
                      <a:r>
                        <a:rPr sz="1875" b="1">
                          <a:solidFill>
                            <a:srgbClr val="FFFFFF"/>
                          </a:solidFill>
                          <a:latin typeface="Arial"/>
                          <a:ea typeface="Arial"/>
                          <a:cs typeface="Arial"/>
                        </a:rPr>
                        <a:t>Forecast</a:t>
                      </a:r>
                    </a:p>
                  </a:txBody>
                  <a:tcPr marL="123825" marR="123825" marT="66675" marB="66675" anchor="ctr">
                    <a:solidFill>
                      <a:srgbClr val="087E79"/>
                    </a:solidFill>
                  </a:tcPr>
                </a:tc>
              </a:tr>
              <a:tr h="750094">
                <a:tc>
                  <a:txBody>
                    <a:bodyPr/>
                    <a:lstStyle/>
                    <a:p>
                      <a:r>
                        <a:rPr sz="1875" b="0">
                          <a:solidFill>
                            <a:srgbClr val="18324A"/>
                          </a:solidFill>
                          <a:latin typeface="Arial"/>
                          <a:ea typeface="Arial"/>
                          <a:cs typeface="Arial"/>
                        </a:rPr>
                        <a:t>Day 1</a:t>
                      </a:r>
                    </a:p>
                  </a:txBody>
                  <a:tcPr marL="123825" marR="123825" marT="66675" marB="66675" anchor="ctr">
                    <a:solidFill>
                      <a:srgbClr val="FFFFFF"/>
                    </a:solidFill>
                  </a:tcPr>
                </a:tc>
                <a:tc>
                  <a:txBody>
                    <a:bodyPr/>
                    <a:lstStyle/>
                    <a:p>
                      <a:r>
                        <a:rPr sz="1875" b="0">
                          <a:solidFill>
                            <a:srgbClr val="18324A"/>
                          </a:solidFill>
                          <a:latin typeface="Arial"/>
                          <a:ea typeface="Arial"/>
                          <a:cs typeface="Arial"/>
                        </a:rPr>
                        <a:t>10</a:t>
                      </a:r>
                    </a:p>
                  </a:txBody>
                  <a:tcPr marL="123825" marR="123825" marT="66675" marB="66675" anchor="ctr">
                    <a:solidFill>
                      <a:srgbClr val="FFFFFF"/>
                    </a:solidFill>
                  </a:tcPr>
                </a:tc>
                <a:tc>
                  <a:txBody>
                    <a:bodyPr/>
                    <a:lstStyle/>
                    <a:p>
                      <a:r>
                        <a:rPr sz="1875" b="0">
                          <a:solidFill>
                            <a:srgbClr val="18324A"/>
                          </a:solidFill>
                          <a:latin typeface="Arial"/>
                          <a:ea typeface="Arial"/>
                          <a:cs typeface="Arial"/>
                        </a:rPr>
                        <a:t>12</a:t>
                      </a:r>
                    </a:p>
                  </a:txBody>
                  <a:tcPr marL="123825" marR="123825" marT="66675" marB="66675" anchor="ctr">
                    <a:solidFill>
                      <a:srgbClr val="FFFFFF"/>
                    </a:solidFill>
                  </a:tcPr>
                </a:tc>
              </a:tr>
              <a:tr h="750094">
                <a:tc>
                  <a:txBody>
                    <a:bodyPr/>
                    <a:lstStyle/>
                    <a:p>
                      <a:r>
                        <a:rPr sz="1875" b="0">
                          <a:solidFill>
                            <a:srgbClr val="18324A"/>
                          </a:solidFill>
                          <a:latin typeface="Arial"/>
                          <a:ea typeface="Arial"/>
                          <a:cs typeface="Arial"/>
                        </a:rPr>
                        <a:t>Day 2</a:t>
                      </a:r>
                    </a:p>
                  </a:txBody>
                  <a:tcPr marL="123825" marR="123825" marT="66675" marB="66675" anchor="ctr">
                    <a:solidFill>
                      <a:srgbClr val="F7F5F0"/>
                    </a:solidFill>
                  </a:tcPr>
                </a:tc>
                <a:tc>
                  <a:txBody>
                    <a:bodyPr/>
                    <a:lstStyle/>
                    <a:p>
                      <a:r>
                        <a:rPr sz="1875" b="0">
                          <a:solidFill>
                            <a:srgbClr val="18324A"/>
                          </a:solidFill>
                          <a:latin typeface="Arial"/>
                          <a:ea typeface="Arial"/>
                          <a:cs typeface="Arial"/>
                        </a:rPr>
                        <a:t>20</a:t>
                      </a:r>
                    </a:p>
                  </a:txBody>
                  <a:tcPr marL="123825" marR="123825" marT="66675" marB="66675" anchor="ctr">
                    <a:solidFill>
                      <a:srgbClr val="F7F5F0"/>
                    </a:solidFill>
                  </a:tcPr>
                </a:tc>
                <a:tc>
                  <a:txBody>
                    <a:bodyPr/>
                    <a:lstStyle/>
                    <a:p>
                      <a:r>
                        <a:rPr sz="1875" b="0">
                          <a:solidFill>
                            <a:srgbClr val="18324A"/>
                          </a:solidFill>
                          <a:latin typeface="Arial"/>
                          <a:ea typeface="Arial"/>
                          <a:cs typeface="Arial"/>
                        </a:rPr>
                        <a:t>18</a:t>
                      </a:r>
                    </a:p>
                  </a:txBody>
                  <a:tcPr marL="123825" marR="123825" marT="66675" marB="66675" anchor="ctr">
                    <a:solidFill>
                      <a:srgbClr val="F7F5F0"/>
                    </a:solidFill>
                  </a:tcPr>
                </a:tc>
              </a:tr>
              <a:tr h="750094">
                <a:tc>
                  <a:txBody>
                    <a:bodyPr/>
                    <a:lstStyle/>
                    <a:p>
                      <a:r>
                        <a:rPr sz="1875" b="0">
                          <a:solidFill>
                            <a:srgbClr val="18324A"/>
                          </a:solidFill>
                          <a:latin typeface="Arial"/>
                          <a:ea typeface="Arial"/>
                          <a:cs typeface="Arial"/>
                        </a:rPr>
                        <a:t>Total</a:t>
                      </a:r>
                    </a:p>
                  </a:txBody>
                  <a:tcPr marL="123825" marR="123825" marT="66675" marB="66675" anchor="ctr">
                    <a:solidFill>
                      <a:srgbClr val="FFFFFF"/>
                    </a:solidFill>
                  </a:tcPr>
                </a:tc>
                <a:tc>
                  <a:txBody>
                    <a:bodyPr/>
                    <a:lstStyle/>
                    <a:p>
                      <a:r>
                        <a:rPr sz="1875" b="0">
                          <a:solidFill>
                            <a:srgbClr val="18324A"/>
                          </a:solidFill>
                          <a:latin typeface="Arial"/>
                          <a:ea typeface="Arial"/>
                          <a:cs typeface="Arial"/>
                        </a:rPr>
                        <a:t>30</a:t>
                      </a:r>
                    </a:p>
                  </a:txBody>
                  <a:tcPr marL="123825" marR="123825" marT="66675" marB="66675" anchor="ctr">
                    <a:solidFill>
                      <a:srgbClr val="FFFFFF"/>
                    </a:solidFill>
                  </a:tcPr>
                </a:tc>
                <a:tc>
                  <a:txBody>
                    <a:bodyPr/>
                    <a:lstStyle/>
                    <a:p>
                      <a:r>
                        <a:rPr sz="1875" b="0">
                          <a:solidFill>
                            <a:srgbClr val="18324A"/>
                          </a:solidFill>
                          <a:latin typeface="Arial"/>
                          <a:ea typeface="Arial"/>
                          <a:cs typeface="Arial"/>
                        </a:rPr>
                        <a:t>30</a:t>
                      </a:r>
                    </a:p>
                  </a:txBody>
                  <a:tcPr marL="123825" marR="123825" marT="66675" marB="66675"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9C9203D-EFF6-48FD-B3EA-9F3D67C4B793}"/>
              </a:ext>
            </a:extLst>
          </p:cNvPr>
          <p:cNvSpPr>
            <a:spLocks xmlns:a="http://schemas.openxmlformats.org/drawingml/2006/main" noGrp="1"/>
          </p:cNvSpPr>
          <p:nvPr/>
        </p:nvSpPr>
        <p:spPr>
          <a:xfrm xmlns:a="http://schemas.openxmlformats.org/drawingml/2006/main">
            <a:off x="6019800" y="5305425"/>
            <a:ext cx="538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79"/>
                </a:solidFill>
                <a:latin typeface="Arial"/>
                <a:ea typeface="Arial"/>
                <a:cs typeface="Arial"/>
              </a:defRPr>
            </a:defPPr>
          </a:lstStyle>
          <a:p xmlns:a="http://schemas.openxmlformats.org/drawingml/2006/main">
            <a:pPr>
              <a:defRPr sz="2025" b="1">
                <a:solidFill>
                  <a:srgbClr val="087E79"/>
                </a:solidFill>
                <a:latin typeface="Arial"/>
                <a:ea typeface="Arial"/>
                <a:cs typeface="Arial"/>
              </a:defRPr>
            </a:pPr>
            <a:r>
              <a:rPr sz="2025" b="1">
                <a:solidFill>
                  <a:srgbClr val="087E79"/>
                </a:solidFill>
                <a:latin typeface="Arial"/>
                <a:ea typeface="Arial"/>
                <a:cs typeface="Arial"/>
              </a:rPr>
              <a:t>Daily MAE = 2 units. Total error = 0.</a:t>
            </a:r>
          </a:p>
        </p:txBody>
      </p:sp>
    </p:spTree>
    <p:extLst>
      <p:ext uri="{BB962C8B-B14F-4D97-AF65-F5344CB8AC3E}">
        <p14:creationId xmlns:p14="http://schemas.microsoft.com/office/powerpoint/2010/main" val="1476417580"/>
      </p:ext>
    </p:extLst>
  </p:cSld>
</p:sld>
</file>

<file path=ppt/slides/slide2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F939CE-AE7B-4E38-8B46-B517920D7415}"/>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FROZEN 2017 EVALUATION</a:t>
            </a:r>
          </a:p>
        </p:txBody>
      </p:sp>
      <p:sp>
        <p:nvSpPr>
          <p:cNvPr id="2" name="">
            <a:extLst xmlns:a="http://schemas.openxmlformats.org/drawingml/2006/main">
              <a:ext uri="{FF2B5EF4-FFF2-40B4-BE49-F238E27FC236}">
                <a16:creationId xmlns:a16="http://schemas.microsoft.com/office/drawing/2014/main" id="{7F4DDDE1-31FB-40D1-87F8-23E5006090D1}"/>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Random forest’s daily test error</a:t>
            </a:r>
          </a:p>
        </p:txBody>
      </p:sp>
      <p:sp>
        <p:nvSpPr>
          <p:cNvPr id="3" name="">
            <a:extLst xmlns:a="http://schemas.openxmlformats.org/drawingml/2006/main">
              <a:ext uri="{FF2B5EF4-FFF2-40B4-BE49-F238E27FC236}">
                <a16:creationId xmlns:a16="http://schemas.microsoft.com/office/drawing/2014/main" id="{225D0846-521A-47B0-98FC-06BFCC98C7B7}"/>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6DE4C306-3B8C-4CE5-AC3D-FE7FC1E290FF}"/>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26</a:t>
            </a:r>
          </a:p>
        </p:txBody>
      </p:sp>
      <p:graphicFrame>
        <p:nvGraphicFramePr>
          <p:cNvPr id="5" name="Chart">
            <a:extLst xmlns:a="http://schemas.openxmlformats.org/drawingml/2006/main">
              <a:ext uri="{FF2B5EF4-FFF2-40B4-BE49-F238E27FC236}">
                <a16:creationId xmlns:a16="http://schemas.microsoft.com/office/drawing/2014/main" id="{FF64B2A7-3F8E-4EC5-A878-2379608A4306}"/>
              </a:ext>
            </a:extLst>
          </p:cNvPr>
          <p:cNvGraphicFramePr/>
          <p:nvPr/>
        </p:nvGraphicFramePr>
        <p:xfrm>
          <a:off xmlns:a="http://schemas.openxmlformats.org/drawingml/2006/main" x="628650" y="1838325"/>
          <a:ext xmlns:a="http://schemas.openxmlformats.org/drawingml/2006/main" cx="10763250" cy="3476625"/>
        </p:xfrm>
        <a:graphic xmlns:a="http://schemas.openxmlformats.org/drawingml/2006/main">
          <a:graphicData uri="http://schemas.openxmlformats.org/drawingml/2006/chart">
            <c:chart xmlns:r="http://schemas.openxmlformats.org/officeDocument/2006/relationships" xmlns:c="http://schemas.openxmlformats.org/drawingml/2006/chart" r:id="R7051518f305741d5"/>
          </a:graphicData>
        </a:graphic>
      </p:graphicFrame>
      <p:sp>
        <p:nvSpPr>
          <p:cNvPr id="6" name="">
            <a:extLst xmlns:a="http://schemas.openxmlformats.org/drawingml/2006/main">
              <a:ext uri="{FF2B5EF4-FFF2-40B4-BE49-F238E27FC236}">
                <a16:creationId xmlns:a16="http://schemas.microsoft.com/office/drawing/2014/main" id="{C958F4C3-47DE-4D67-B9B7-B7FC66C467D7}"/>
              </a:ext>
            </a:extLst>
          </p:cNvPr>
          <p:cNvSpPr>
            <a:spLocks xmlns:a="http://schemas.openxmlformats.org/drawingml/2006/main" noGrp="1"/>
          </p:cNvSpPr>
          <p:nvPr/>
        </p:nvSpPr>
        <p:spPr>
          <a:xfrm xmlns:a="http://schemas.openxmlformats.org/drawingml/2006/main">
            <a:off x="657225" y="55816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87E79"/>
                </a:solidFill>
                <a:latin typeface="Arial"/>
                <a:ea typeface="Arial"/>
                <a:cs typeface="Arial"/>
              </a:defRPr>
            </a:defPPr>
          </a:lstStyle>
          <a:p xmlns:a="http://schemas.openxmlformats.org/drawingml/2006/main">
            <a:pPr>
              <a:defRPr sz="2625" b="1">
                <a:solidFill>
                  <a:srgbClr val="087E79"/>
                </a:solidFill>
                <a:latin typeface="Arial"/>
                <a:ea typeface="Arial"/>
                <a:cs typeface="Arial"/>
              </a:defRPr>
            </a:pPr>
            <a:r>
              <a:rPr sz="2625" b="1">
                <a:solidFill>
                  <a:srgbClr val="087E79"/>
                </a:solidFill>
                <a:latin typeface="Arial"/>
                <a:ea typeface="Arial"/>
                <a:cs typeface="Arial"/>
              </a:rPr>
              <a:t>23.3% lower daily MAE than the benchmark</a:t>
            </a:r>
          </a:p>
        </p:txBody>
      </p:sp>
    </p:spTree>
    <p:extLst>
      <p:ext uri="{BB962C8B-B14F-4D97-AF65-F5344CB8AC3E}">
        <p14:creationId xmlns:p14="http://schemas.microsoft.com/office/powerpoint/2010/main" val="44339407"/>
      </p:ext>
    </p:extLst>
  </p:cSld>
</p:sld>
</file>

<file path=ppt/slides/slide2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8D8213-8B4B-43EC-84AC-015C759483CE}"/>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ALL ERRORS IN UNITS. SMALLER IS BETTER</a:t>
            </a:r>
          </a:p>
        </p:txBody>
      </p:sp>
      <p:sp>
        <p:nvSpPr>
          <p:cNvPr id="2" name="">
            <a:extLst xmlns:a="http://schemas.openxmlformats.org/drawingml/2006/main">
              <a:ext uri="{FF2B5EF4-FFF2-40B4-BE49-F238E27FC236}">
                <a16:creationId xmlns:a16="http://schemas.microsoft.com/office/drawing/2014/main" id="{A4623FAE-8B03-41F3-9217-ADD13201B519}"/>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The recorded model results</a:t>
            </a:r>
          </a:p>
        </p:txBody>
      </p:sp>
      <p:sp>
        <p:nvSpPr>
          <p:cNvPr id="3" name="">
            <a:extLst xmlns:a="http://schemas.openxmlformats.org/drawingml/2006/main">
              <a:ext uri="{FF2B5EF4-FFF2-40B4-BE49-F238E27FC236}">
                <a16:creationId xmlns:a16="http://schemas.microsoft.com/office/drawing/2014/main" id="{4C816E12-D0CA-4A70-A27E-8DDDA357D059}"/>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64F75EA9-9690-428C-81D1-E0722FA17448}"/>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27</a:t>
            </a:r>
          </a:p>
        </p:txBody>
      </p:sp>
      <p:graphicFrame>
        <p:nvGraphicFramePr>
          <p:cNvPr id="5" name="">
            <a:extLst xmlns:a="http://schemas.openxmlformats.org/drawingml/2006/main">
              <a:ext uri="{FF2B5EF4-FFF2-40B4-BE49-F238E27FC236}">
                <a16:creationId xmlns:a16="http://schemas.microsoft.com/office/drawing/2014/main" id="{8E33183A-B9BF-44C1-97A9-5E63DBF741A7}"/>
              </a:ext>
            </a:extLst>
          </p:cNvPr>
          <p:cNvGraphicFramePr/>
          <p:nvPr/>
        </p:nvGraphicFramePr>
        <p:xfrm>
          <a:off xmlns:a="http://schemas.openxmlformats.org/drawingml/2006/main" x="619125" y="1790700"/>
          <a:ext xmlns:a="http://schemas.openxmlformats.org/drawingml/2006/main" cx="10858500" cy="3924300"/>
        </p:xfrm>
        <a:graphic xmlns:a="http://schemas.openxmlformats.org/drawingml/2006/main">
          <a:graphicData uri="http://schemas.openxmlformats.org/drawingml/2006/table">
            <a:tbl>
              <a:tblPr/>
              <a:tblGrid>
                <a:gridCol w="4000500"/>
                <a:gridCol w="2047875"/>
                <a:gridCol w="2238375"/>
                <a:gridCol w="2571750"/>
              </a:tblGrid>
              <a:tr h="560614">
                <a:tc>
                  <a:txBody>
                    <a:bodyPr/>
                    <a:lstStyle/>
                    <a:p>
                      <a:r>
                        <a:rPr sz="1800" b="1">
                          <a:solidFill>
                            <a:srgbClr val="FFFFFF"/>
                          </a:solidFill>
                          <a:latin typeface="Arial"/>
                          <a:ea typeface="Arial"/>
                          <a:cs typeface="Arial"/>
                        </a:rPr>
                        <a:t>Period and method</a:t>
                      </a:r>
                    </a:p>
                  </a:txBody>
                  <a:tcPr marL="123825" marR="123825" marT="66675" marB="66675" anchor="ctr">
                    <a:solidFill>
                      <a:srgbClr val="087E79"/>
                    </a:solidFill>
                  </a:tcPr>
                </a:tc>
                <a:tc>
                  <a:txBody>
                    <a:bodyPr/>
                    <a:lstStyle/>
                    <a:p>
                      <a:r>
                        <a:rPr sz="1800" b="1">
                          <a:solidFill>
                            <a:srgbClr val="FFFFFF"/>
                          </a:solidFill>
                          <a:latin typeface="Arial"/>
                          <a:ea typeface="Arial"/>
                          <a:cs typeface="Arial"/>
                        </a:rPr>
                        <a:t>Daily MAE</a:t>
                      </a:r>
                    </a:p>
                  </a:txBody>
                  <a:tcPr marL="123825" marR="123825" marT="66675" marB="66675" anchor="ctr">
                    <a:solidFill>
                      <a:srgbClr val="087E79"/>
                    </a:solidFill>
                  </a:tcPr>
                </a:tc>
                <a:tc>
                  <a:txBody>
                    <a:bodyPr/>
                    <a:lstStyle/>
                    <a:p>
                      <a:r>
                        <a:rPr sz="1800" b="1">
                          <a:solidFill>
                            <a:srgbClr val="FFFFFF"/>
                          </a:solidFill>
                          <a:latin typeface="Arial"/>
                          <a:ea typeface="Arial"/>
                          <a:cs typeface="Arial"/>
                        </a:rPr>
                        <a:t>Daily RMSE</a:t>
                      </a:r>
                    </a:p>
                  </a:txBody>
                  <a:tcPr marL="123825" marR="123825" marT="66675" marB="66675" anchor="ctr">
                    <a:solidFill>
                      <a:srgbClr val="087E79"/>
                    </a:solidFill>
                  </a:tcPr>
                </a:tc>
                <a:tc>
                  <a:txBody>
                    <a:bodyPr/>
                    <a:lstStyle/>
                    <a:p>
                      <a:r>
                        <a:rPr sz="1800" b="1">
                          <a:solidFill>
                            <a:srgbClr val="FFFFFF"/>
                          </a:solidFill>
                          <a:latin typeface="Arial"/>
                          <a:ea typeface="Arial"/>
                          <a:cs typeface="Arial"/>
                        </a:rPr>
                        <a:t>Weekly-total MAE</a:t>
                      </a:r>
                    </a:p>
                  </a:txBody>
                  <a:tcPr marL="123825" marR="123825" marT="66675" marB="66675" anchor="ctr">
                    <a:solidFill>
                      <a:srgbClr val="087E79"/>
                    </a:solidFill>
                  </a:tcPr>
                </a:tc>
              </a:tr>
              <a:tr h="560614">
                <a:tc>
                  <a:txBody>
                    <a:bodyPr/>
                    <a:lstStyle/>
                    <a:p>
                      <a:r>
                        <a:rPr sz="1800" b="0">
                          <a:solidFill>
                            <a:srgbClr val="18324A"/>
                          </a:solidFill>
                          <a:latin typeface="Arial"/>
                          <a:ea typeface="Arial"/>
                          <a:cs typeface="Arial"/>
                        </a:rPr>
                        <a:t>2016  Weekly benchmark</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6.320</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8.217</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18.758</a:t>
                      </a:r>
                    </a:p>
                  </a:txBody>
                  <a:tcPr marL="123825" marR="123825" marT="66675" marB="66675" anchor="ctr">
                    <a:solidFill>
                      <a:srgbClr val="FFFFFF"/>
                    </a:solidFill>
                  </a:tcPr>
                </a:tc>
              </a:tr>
              <a:tr h="560614">
                <a:tc>
                  <a:txBody>
                    <a:bodyPr/>
                    <a:lstStyle/>
                    <a:p>
                      <a:r>
                        <a:rPr sz="1800" b="0">
                          <a:solidFill>
                            <a:srgbClr val="18324A"/>
                          </a:solidFill>
                          <a:latin typeface="Arial"/>
                          <a:ea typeface="Arial"/>
                          <a:cs typeface="Arial"/>
                        </a:rPr>
                        <a:t>2016  Random forest</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4.911</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6.596</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19.797</a:t>
                      </a:r>
                    </a:p>
                  </a:txBody>
                  <a:tcPr marL="123825" marR="123825" marT="66675" marB="66675" anchor="ctr">
                    <a:solidFill>
                      <a:srgbClr val="F7F5F0"/>
                    </a:solidFill>
                  </a:tcPr>
                </a:tc>
              </a:tr>
              <a:tr h="560614">
                <a:tc>
                  <a:txBody>
                    <a:bodyPr/>
                    <a:lstStyle/>
                    <a:p>
                      <a:r>
                        <a:rPr sz="1800" b="0">
                          <a:solidFill>
                            <a:srgbClr val="18324A"/>
                          </a:solidFill>
                          <a:latin typeface="Arial"/>
                          <a:ea typeface="Arial"/>
                          <a:cs typeface="Arial"/>
                        </a:rPr>
                        <a:t>2016  Small LSTM</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5.439</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7.227</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17.280</a:t>
                      </a:r>
                    </a:p>
                  </a:txBody>
                  <a:tcPr marL="123825" marR="123825" marT="66675" marB="66675" anchor="ctr">
                    <a:solidFill>
                      <a:srgbClr val="FFFFFF"/>
                    </a:solidFill>
                  </a:tcPr>
                </a:tc>
              </a:tr>
              <a:tr h="560614">
                <a:tc>
                  <a:txBody>
                    <a:bodyPr/>
                    <a:lstStyle/>
                    <a:p>
                      <a:r>
                        <a:rPr sz="1800" b="0">
                          <a:solidFill>
                            <a:srgbClr val="18324A"/>
                          </a:solidFill>
                          <a:latin typeface="Arial"/>
                          <a:ea typeface="Arial"/>
                          <a:cs typeface="Arial"/>
                        </a:rPr>
                        <a:t>2017  Weekly benchmark</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6.273</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8.218</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18.427</a:t>
                      </a:r>
                    </a:p>
                  </a:txBody>
                  <a:tcPr marL="123825" marR="123825" marT="66675" marB="66675" anchor="ctr">
                    <a:solidFill>
                      <a:srgbClr val="F7F5F0"/>
                    </a:solidFill>
                  </a:tcPr>
                </a:tc>
              </a:tr>
              <a:tr h="560614">
                <a:tc>
                  <a:txBody>
                    <a:bodyPr/>
                    <a:lstStyle/>
                    <a:p>
                      <a:r>
                        <a:rPr sz="1800" b="0">
                          <a:solidFill>
                            <a:srgbClr val="18324A"/>
                          </a:solidFill>
                          <a:latin typeface="Arial"/>
                          <a:ea typeface="Arial"/>
                          <a:cs typeface="Arial"/>
                        </a:rPr>
                        <a:t>2017  Random forest</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4.812</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6.387</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17.973</a:t>
                      </a:r>
                    </a:p>
                  </a:txBody>
                  <a:tcPr marL="123825" marR="123825" marT="66675" marB="66675" anchor="ctr">
                    <a:solidFill>
                      <a:srgbClr val="FFFFFF"/>
                    </a:solidFill>
                  </a:tcPr>
                </a:tc>
              </a:tr>
              <a:tr h="560614">
                <a:tc>
                  <a:txBody>
                    <a:bodyPr/>
                    <a:lstStyle/>
                    <a:p>
                      <a:r>
                        <a:rPr sz="1800" b="0">
                          <a:solidFill>
                            <a:srgbClr val="18324A"/>
                          </a:solidFill>
                          <a:latin typeface="Arial"/>
                          <a:ea typeface="Arial"/>
                          <a:cs typeface="Arial"/>
                        </a:rPr>
                        <a:t>2017  Small LSTM</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5.411</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7.261</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17.343</a:t>
                      </a:r>
                    </a:p>
                  </a:txBody>
                  <a:tcPr marL="123825" marR="123825" marT="66675" marB="6667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B56608FF-2735-4363-9D74-72F7A1409DE9}"/>
              </a:ext>
            </a:extLst>
          </p:cNvPr>
          <p:cNvSpPr>
            <a:spLocks xmlns:a="http://schemas.openxmlformats.org/drawingml/2006/main" noGrp="1"/>
          </p:cNvSpPr>
          <p:nvPr/>
        </p:nvSpPr>
        <p:spPr>
          <a:xfrm xmlns:a="http://schemas.openxmlformats.org/drawingml/2006/main">
            <a:off x="657225" y="5886450"/>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87E79"/>
                </a:solidFill>
                <a:latin typeface="Arial"/>
                <a:ea typeface="Arial"/>
                <a:cs typeface="Arial"/>
              </a:defRPr>
            </a:defPPr>
          </a:lstStyle>
          <a:p xmlns:a="http://schemas.openxmlformats.org/drawingml/2006/main">
            <a:pPr>
              <a:defRPr sz="1875" b="1">
                <a:solidFill>
                  <a:srgbClr val="087E79"/>
                </a:solidFill>
                <a:latin typeface="Arial"/>
                <a:ea typeface="Arial"/>
                <a:cs typeface="Arial"/>
              </a:defRPr>
            </a:pPr>
            <a:r>
              <a:rPr sz="1875" b="1">
                <a:solidFill>
                  <a:srgbClr val="087E79"/>
                </a:solidFill>
                <a:latin typeface="Arial"/>
                <a:ea typeface="Arial"/>
                <a:cs typeface="Arial"/>
              </a:rPr>
              <a:t>LSTM has the lowest weekly-total error. Daily MAE chose random forest.</a:t>
            </a:r>
          </a:p>
        </p:txBody>
      </p:sp>
    </p:spTree>
    <p:extLst>
      <p:ext uri="{BB962C8B-B14F-4D97-AF65-F5344CB8AC3E}">
        <p14:creationId xmlns:p14="http://schemas.microsoft.com/office/powerpoint/2010/main" val="687955430"/>
      </p:ext>
    </p:extLst>
  </p:cSld>
</p:sld>
</file>

<file path=ppt/slides/slide28.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FB6503-66C0-4D14-896D-9329B2AEBFEA}"/>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LIMITS THE TEAM SHOULD EXPLAIN</a:t>
            </a:r>
          </a:p>
        </p:txBody>
      </p:sp>
      <p:sp>
        <p:nvSpPr>
          <p:cNvPr id="2" name="">
            <a:extLst xmlns:a="http://schemas.openxmlformats.org/drawingml/2006/main">
              <a:ext uri="{FF2B5EF4-FFF2-40B4-BE49-F238E27FC236}">
                <a16:creationId xmlns:a16="http://schemas.microsoft.com/office/drawing/2014/main" id="{FF36DCD4-1E8F-422C-BEFC-C6FC865B0261}"/>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What our evidence supports</a:t>
            </a:r>
          </a:p>
        </p:txBody>
      </p:sp>
      <p:sp>
        <p:nvSpPr>
          <p:cNvPr id="3" name="">
            <a:extLst xmlns:a="http://schemas.openxmlformats.org/drawingml/2006/main">
              <a:ext uri="{FF2B5EF4-FFF2-40B4-BE49-F238E27FC236}">
                <a16:creationId xmlns:a16="http://schemas.microsoft.com/office/drawing/2014/main" id="{A3F8D7FE-B37F-4FC5-8D2F-9EDEE50171D3}"/>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5C1920F9-244D-4F2B-9B9E-45888610EEAE}"/>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32EA753A-6B05-4D99-945E-0E2F52B41799}"/>
              </a:ext>
            </a:extLst>
          </p:cNvPr>
          <p:cNvSpPr>
            <a:spLocks xmlns:a="http://schemas.openxmlformats.org/drawingml/2006/main" noGrp="1"/>
          </p:cNvSpPr>
          <p:nvPr/>
        </p:nvSpPr>
        <p:spPr>
          <a:xfrm xmlns:a="http://schemas.openxmlformats.org/drawingml/2006/main">
            <a:off x="6477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A9E7D7"/>
                </a:solidFill>
                <a:latin typeface="Arial"/>
                <a:ea typeface="Arial"/>
                <a:cs typeface="Arial"/>
              </a:defRPr>
            </a:defPPr>
          </a:lstStyle>
          <a:p xmlns:a="http://schemas.openxmlformats.org/drawingml/2006/main">
            <a:pPr>
              <a:defRPr sz="2400" b="1">
                <a:solidFill>
                  <a:srgbClr val="A9E7D7"/>
                </a:solidFill>
                <a:latin typeface="Arial"/>
                <a:ea typeface="Arial"/>
                <a:cs typeface="Arial"/>
              </a:defRPr>
            </a:pPr>
            <a:r>
              <a:rPr sz="2400" b="1">
                <a:solidFill>
                  <a:srgbClr val="A9E7D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13D26B9-185D-473E-BBD2-3D9833ECA903}"/>
              </a:ext>
            </a:extLst>
          </p:cNvPr>
          <p:cNvSpPr>
            <a:spLocks xmlns:a="http://schemas.openxmlformats.org/drawingml/2006/main" noGrp="1"/>
          </p:cNvSpPr>
          <p:nvPr/>
        </p:nvSpPr>
        <p:spPr>
          <a:xfrm xmlns:a="http://schemas.openxmlformats.org/drawingml/2006/main">
            <a:off x="1504950" y="19145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historical comparison of forecasting errors.</a:t>
            </a:r>
          </a:p>
        </p:txBody>
      </p:sp>
      <p:sp>
        <p:nvSpPr>
          <p:cNvPr id="7" name="">
            <a:extLst xmlns:a="http://schemas.openxmlformats.org/drawingml/2006/main">
              <a:ext uri="{FF2B5EF4-FFF2-40B4-BE49-F238E27FC236}">
                <a16:creationId xmlns:a16="http://schemas.microsoft.com/office/drawing/2014/main" id="{E62E2E28-5DED-46B9-9720-CCF9C72147FA}"/>
              </a:ext>
            </a:extLst>
          </p:cNvPr>
          <p:cNvSpPr>
            <a:spLocks xmlns:a="http://schemas.openxmlformats.org/drawingml/2006/main" noGrp="1"/>
          </p:cNvSpPr>
          <p:nvPr/>
        </p:nvSpPr>
        <p:spPr>
          <a:xfrm xmlns:a="http://schemas.openxmlformats.org/drawingml/2006/main">
            <a:off x="647700" y="29051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A9E7D7"/>
                </a:solidFill>
                <a:latin typeface="Arial"/>
                <a:ea typeface="Arial"/>
                <a:cs typeface="Arial"/>
              </a:defRPr>
            </a:defPPr>
          </a:lstStyle>
          <a:p xmlns:a="http://schemas.openxmlformats.org/drawingml/2006/main">
            <a:pPr>
              <a:defRPr sz="2400" b="1">
                <a:solidFill>
                  <a:srgbClr val="A9E7D7"/>
                </a:solidFill>
                <a:latin typeface="Arial"/>
                <a:ea typeface="Arial"/>
                <a:cs typeface="Arial"/>
              </a:defRPr>
            </a:pPr>
            <a:r>
              <a:rPr sz="2400" b="1">
                <a:solidFill>
                  <a:srgbClr val="A9E7D7"/>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BF4CF4D-FB61-481D-93B4-A12B12687BD3}"/>
              </a:ext>
            </a:extLst>
          </p:cNvPr>
          <p:cNvSpPr>
            <a:spLocks xmlns:a="http://schemas.openxmlformats.org/drawingml/2006/main" noGrp="1"/>
          </p:cNvSpPr>
          <p:nvPr/>
        </p:nvSpPr>
        <p:spPr>
          <a:xfrm xmlns:a="http://schemas.openxmlformats.org/drawingml/2006/main">
            <a:off x="1504950" y="29051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stock suggestion from the values we enter.</a:t>
            </a:r>
          </a:p>
        </p:txBody>
      </p:sp>
      <p:sp>
        <p:nvSpPr>
          <p:cNvPr id="9" name="">
            <a:extLst xmlns:a="http://schemas.openxmlformats.org/drawingml/2006/main">
              <a:ext uri="{FF2B5EF4-FFF2-40B4-BE49-F238E27FC236}">
                <a16:creationId xmlns:a16="http://schemas.microsoft.com/office/drawing/2014/main" id="{3201F14C-7BE6-499D-A83E-9F00E820DF55}"/>
              </a:ext>
            </a:extLst>
          </p:cNvPr>
          <p:cNvSpPr>
            <a:spLocks xmlns:a="http://schemas.openxmlformats.org/drawingml/2006/main" noGrp="1"/>
          </p:cNvSpPr>
          <p:nvPr/>
        </p:nvSpPr>
        <p:spPr>
          <a:xfrm xmlns:a="http://schemas.openxmlformats.org/drawingml/2006/main">
            <a:off x="647700" y="38957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A9E7D7"/>
                </a:solidFill>
                <a:latin typeface="Arial"/>
                <a:ea typeface="Arial"/>
                <a:cs typeface="Arial"/>
              </a:defRPr>
            </a:defPPr>
          </a:lstStyle>
          <a:p xmlns:a="http://schemas.openxmlformats.org/drawingml/2006/main">
            <a:pPr>
              <a:defRPr sz="2400" b="1">
                <a:solidFill>
                  <a:srgbClr val="A9E7D7"/>
                </a:solidFill>
                <a:latin typeface="Arial"/>
                <a:ea typeface="Arial"/>
                <a:cs typeface="Arial"/>
              </a:defRPr>
            </a:pPr>
            <a:r>
              <a:rPr sz="2400" b="1">
                <a:solidFill>
                  <a:srgbClr val="A9E7D7"/>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D237122-6957-4A49-AD2C-FD9510FA809F}"/>
              </a:ext>
            </a:extLst>
          </p:cNvPr>
          <p:cNvSpPr>
            <a:spLocks xmlns:a="http://schemas.openxmlformats.org/drawingml/2006/main" noGrp="1"/>
          </p:cNvSpPr>
          <p:nvPr/>
        </p:nvSpPr>
        <p:spPr>
          <a:xfrm xmlns:a="http://schemas.openxmlformats.org/drawingml/2006/main">
            <a:off x="1504950" y="38957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focused assistant that reads the system’s results.</a:t>
            </a:r>
          </a:p>
        </p:txBody>
      </p:sp>
      <p:sp>
        <p:nvSpPr>
          <p:cNvPr id="11" name="">
            <a:extLst xmlns:a="http://schemas.openxmlformats.org/drawingml/2006/main">
              <a:ext uri="{FF2B5EF4-FFF2-40B4-BE49-F238E27FC236}">
                <a16:creationId xmlns:a16="http://schemas.microsoft.com/office/drawing/2014/main" id="{671F43B8-E80D-4325-8189-CD8D1996111F}"/>
              </a:ext>
            </a:extLst>
          </p:cNvPr>
          <p:cNvSpPr>
            <a:spLocks xmlns:a="http://schemas.openxmlformats.org/drawingml/2006/main" noGrp="1"/>
          </p:cNvSpPr>
          <p:nvPr/>
        </p:nvSpPr>
        <p:spPr>
          <a:xfrm xmlns:a="http://schemas.openxmlformats.org/drawingml/2006/main">
            <a:off x="647700" y="48863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A9E7D7"/>
                </a:solidFill>
                <a:latin typeface="Arial"/>
                <a:ea typeface="Arial"/>
                <a:cs typeface="Arial"/>
              </a:defRPr>
            </a:defPPr>
          </a:lstStyle>
          <a:p xmlns:a="http://schemas.openxmlformats.org/drawingml/2006/main">
            <a:pPr>
              <a:defRPr sz="2400" b="1">
                <a:solidFill>
                  <a:srgbClr val="A9E7D7"/>
                </a:solidFill>
                <a:latin typeface="Arial"/>
                <a:ea typeface="Arial"/>
                <a:cs typeface="Arial"/>
              </a:defRPr>
            </a:pPr>
            <a:r>
              <a:rPr sz="2400" b="1">
                <a:solidFill>
                  <a:srgbClr val="A9E7D7"/>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F79E630C-13D4-4273-A273-C557C2C78B45}"/>
              </a:ext>
            </a:extLst>
          </p:cNvPr>
          <p:cNvSpPr>
            <a:spLocks xmlns:a="http://schemas.openxmlformats.org/drawingml/2006/main" noGrp="1"/>
          </p:cNvSpPr>
          <p:nvPr/>
        </p:nvSpPr>
        <p:spPr>
          <a:xfrm xmlns:a="http://schemas.openxmlformats.org/drawingml/2006/main">
            <a:off x="1504950" y="48863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Real savings and January 2018 accuracy remain unmeasured.</a:t>
            </a:r>
          </a:p>
        </p:txBody>
      </p:sp>
    </p:spTree>
    <p:extLst>
      <p:ext uri="{BB962C8B-B14F-4D97-AF65-F5344CB8AC3E}">
        <p14:creationId xmlns:p14="http://schemas.microsoft.com/office/powerpoint/2010/main" val="240621899"/>
      </p:ext>
    </p:extLst>
  </p:cSld>
</p:sld>
</file>

<file path=ppt/slides/slide2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58416CF-8215-4AE0-A248-5960EAD8ABF3}"/>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FIVE-MINUTE PRACTICE</a:t>
            </a:r>
          </a:p>
        </p:txBody>
      </p:sp>
      <p:sp>
        <p:nvSpPr>
          <p:cNvPr id="2" name="">
            <a:extLst xmlns:a="http://schemas.openxmlformats.org/drawingml/2006/main">
              <a:ext uri="{FF2B5EF4-FFF2-40B4-BE49-F238E27FC236}">
                <a16:creationId xmlns:a16="http://schemas.microsoft.com/office/drawing/2014/main" id="{F371D27C-19BA-4215-BA42-AAC7C9C75742}"/>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A live demonstration everyone can repeat</a:t>
            </a:r>
          </a:p>
        </p:txBody>
      </p:sp>
      <p:sp>
        <p:nvSpPr>
          <p:cNvPr id="3" name="">
            <a:extLst xmlns:a="http://schemas.openxmlformats.org/drawingml/2006/main">
              <a:ext uri="{FF2B5EF4-FFF2-40B4-BE49-F238E27FC236}">
                <a16:creationId xmlns:a16="http://schemas.microsoft.com/office/drawing/2014/main" id="{930C5FB3-6A0D-4B56-9BEA-E7D110159641}"/>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97B4AED8-407C-4AF8-A17E-0DDCFE89581D}"/>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45E8546F-75BA-4FF3-8351-C2A81D81D922}"/>
              </a:ext>
            </a:extLst>
          </p:cNvPr>
          <p:cNvSpPr>
            <a:spLocks xmlns:a="http://schemas.openxmlformats.org/drawingml/2006/main" noGrp="1"/>
          </p:cNvSpPr>
          <p:nvPr/>
        </p:nvSpPr>
        <p:spPr>
          <a:xfrm xmlns:a="http://schemas.openxmlformats.org/drawingml/2006/main">
            <a:off x="647700" y="17145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387A454-E9BF-4212-AF6E-A5201FA4C905}"/>
              </a:ext>
            </a:extLst>
          </p:cNvPr>
          <p:cNvSpPr>
            <a:spLocks xmlns:a="http://schemas.openxmlformats.org/drawingml/2006/main" noGrp="1"/>
          </p:cNvSpPr>
          <p:nvPr/>
        </p:nvSpPr>
        <p:spPr>
          <a:xfrm xmlns:a="http://schemas.openxmlformats.org/drawingml/2006/main">
            <a:off x="1504950" y="17145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Select Product 1 and explain the dates.</a:t>
            </a:r>
          </a:p>
        </p:txBody>
      </p:sp>
      <p:sp>
        <p:nvSpPr>
          <p:cNvPr id="7" name="">
            <a:extLst xmlns:a="http://schemas.openxmlformats.org/drawingml/2006/main">
              <a:ext uri="{FF2B5EF4-FFF2-40B4-BE49-F238E27FC236}">
                <a16:creationId xmlns:a16="http://schemas.microsoft.com/office/drawing/2014/main" id="{D7405114-47F6-4C84-838B-32ED3726CDB8}"/>
              </a:ext>
            </a:extLst>
          </p:cNvPr>
          <p:cNvSpPr>
            <a:spLocks xmlns:a="http://schemas.openxmlformats.org/drawingml/2006/main" noGrp="1"/>
          </p:cNvSpPr>
          <p:nvPr/>
        </p:nvSpPr>
        <p:spPr>
          <a:xfrm xmlns:a="http://schemas.openxmlformats.org/drawingml/2006/main">
            <a:off x="647700" y="24479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80A3162-222B-4569-8AE8-8CA395959086}"/>
              </a:ext>
            </a:extLst>
          </p:cNvPr>
          <p:cNvSpPr>
            <a:spLocks xmlns:a="http://schemas.openxmlformats.org/drawingml/2006/main" noGrp="1"/>
          </p:cNvSpPr>
          <p:nvPr/>
        </p:nvSpPr>
        <p:spPr>
          <a:xfrm xmlns:a="http://schemas.openxmlformats.org/drawingml/2006/main">
            <a:off x="1504950" y="24479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Read its seven daily forecasts and total.</a:t>
            </a:r>
          </a:p>
        </p:txBody>
      </p:sp>
      <p:sp>
        <p:nvSpPr>
          <p:cNvPr id="9" name="">
            <a:extLst xmlns:a="http://schemas.openxmlformats.org/drawingml/2006/main">
              <a:ext uri="{FF2B5EF4-FFF2-40B4-BE49-F238E27FC236}">
                <a16:creationId xmlns:a16="http://schemas.microsoft.com/office/drawing/2014/main" id="{5EE1B406-4786-4B9A-9EA8-410536C5372B}"/>
              </a:ext>
            </a:extLst>
          </p:cNvPr>
          <p:cNvSpPr>
            <a:spLocks xmlns:a="http://schemas.openxmlformats.org/drawingml/2006/main" noGrp="1"/>
          </p:cNvSpPr>
          <p:nvPr/>
        </p:nvSpPr>
        <p:spPr>
          <a:xfrm xmlns:a="http://schemas.openxmlformats.org/drawingml/2006/main">
            <a:off x="6477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DC2E7C3-057F-4868-AC69-1A9E8D00C6DE}"/>
              </a:ext>
            </a:extLst>
          </p:cNvPr>
          <p:cNvSpPr>
            <a:spLocks xmlns:a="http://schemas.openxmlformats.org/drawingml/2006/main" noGrp="1"/>
          </p:cNvSpPr>
          <p:nvPr/>
        </p:nvSpPr>
        <p:spPr>
          <a:xfrm xmlns:a="http://schemas.openxmlformats.org/drawingml/2006/main">
            <a:off x="1504950" y="318135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Calculate the default 38-unit order.</a:t>
            </a:r>
          </a:p>
        </p:txBody>
      </p:sp>
      <p:sp>
        <p:nvSpPr>
          <p:cNvPr id="11" name="">
            <a:extLst xmlns:a="http://schemas.openxmlformats.org/drawingml/2006/main">
              <a:ext uri="{FF2B5EF4-FFF2-40B4-BE49-F238E27FC236}">
                <a16:creationId xmlns:a16="http://schemas.microsoft.com/office/drawing/2014/main" id="{1EC592A8-2A35-41C1-A9CD-FAA24AEABAD3}"/>
              </a:ext>
            </a:extLst>
          </p:cNvPr>
          <p:cNvSpPr>
            <a:spLocks xmlns:a="http://schemas.openxmlformats.org/drawingml/2006/main" noGrp="1"/>
          </p:cNvSpPr>
          <p:nvPr/>
        </p:nvSpPr>
        <p:spPr>
          <a:xfrm xmlns:a="http://schemas.openxmlformats.org/drawingml/2006/main">
            <a:off x="647700" y="39147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F2D13A48-A302-4AD4-B2C5-FC71BA0367E1}"/>
              </a:ext>
            </a:extLst>
          </p:cNvPr>
          <p:cNvSpPr>
            <a:spLocks xmlns:a="http://schemas.openxmlformats.org/drawingml/2006/main" noGrp="1"/>
          </p:cNvSpPr>
          <p:nvPr/>
        </p:nvSpPr>
        <p:spPr>
          <a:xfrm xmlns:a="http://schemas.openxmlformats.org/drawingml/2006/main">
            <a:off x="1504950" y="391477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Change stock to 5 and explain the delivery warning.</a:t>
            </a:r>
          </a:p>
        </p:txBody>
      </p:sp>
      <p:sp>
        <p:nvSpPr>
          <p:cNvPr id="13" name="">
            <a:extLst xmlns:a="http://schemas.openxmlformats.org/drawingml/2006/main">
              <a:ext uri="{FF2B5EF4-FFF2-40B4-BE49-F238E27FC236}">
                <a16:creationId xmlns:a16="http://schemas.microsoft.com/office/drawing/2014/main" id="{1587F226-301B-43D8-ADFD-3BBE0C6FCD9B}"/>
              </a:ext>
            </a:extLst>
          </p:cNvPr>
          <p:cNvSpPr>
            <a:spLocks xmlns:a="http://schemas.openxmlformats.org/drawingml/2006/main" noGrp="1"/>
          </p:cNvSpPr>
          <p:nvPr/>
        </p:nvSpPr>
        <p:spPr>
          <a:xfrm xmlns:a="http://schemas.openxmlformats.org/drawingml/2006/main">
            <a:off x="647700" y="4648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A0C11EC1-4EEF-4217-A0D4-5314A0701B65}"/>
              </a:ext>
            </a:extLst>
          </p:cNvPr>
          <p:cNvSpPr>
            <a:spLocks xmlns:a="http://schemas.openxmlformats.org/drawingml/2006/main" noGrp="1"/>
          </p:cNvSpPr>
          <p:nvPr/>
        </p:nvSpPr>
        <p:spPr>
          <a:xfrm xmlns:a="http://schemas.openxmlformats.org/drawingml/2006/main">
            <a:off x="1504950" y="46482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Compare products and try a follow-up question.</a:t>
            </a:r>
          </a:p>
        </p:txBody>
      </p:sp>
      <p:sp>
        <p:nvSpPr>
          <p:cNvPr id="15" name="">
            <a:extLst xmlns:a="http://schemas.openxmlformats.org/drawingml/2006/main">
              <a:ext uri="{FF2B5EF4-FFF2-40B4-BE49-F238E27FC236}">
                <a16:creationId xmlns:a16="http://schemas.microsoft.com/office/drawing/2014/main" id="{6A1DDC74-2D4C-405A-839C-E5AD217E561E}"/>
              </a:ext>
            </a:extLst>
          </p:cNvPr>
          <p:cNvSpPr>
            <a:spLocks xmlns:a="http://schemas.openxmlformats.org/drawingml/2006/main" noGrp="1"/>
          </p:cNvSpPr>
          <p:nvPr/>
        </p:nvSpPr>
        <p:spPr>
          <a:xfrm xmlns:a="http://schemas.openxmlformats.org/drawingml/2006/main">
            <a:off x="647700" y="53816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E79"/>
                </a:solidFill>
                <a:latin typeface="Arial"/>
                <a:ea typeface="Arial"/>
                <a:cs typeface="Arial"/>
              </a:defRPr>
            </a:defPPr>
          </a:lstStyle>
          <a:p xmlns:a="http://schemas.openxmlformats.org/drawingml/2006/main">
            <a:pPr>
              <a:defRPr sz="2250" b="1">
                <a:solidFill>
                  <a:srgbClr val="087E79"/>
                </a:solidFill>
                <a:latin typeface="Arial"/>
                <a:ea typeface="Arial"/>
                <a:cs typeface="Arial"/>
              </a:defRPr>
            </a:pPr>
            <a:r>
              <a:rPr sz="2250" b="1">
                <a:solidFill>
                  <a:srgbClr val="087E79"/>
                </a:solidFill>
                <a:latin typeface="Arial"/>
                <a:ea typeface="Arial"/>
                <a:cs typeface="Arial"/>
              </a:rPr>
              <a:t>06</a:t>
            </a:r>
          </a:p>
        </p:txBody>
      </p:sp>
      <p:sp>
        <p:nvSpPr>
          <p:cNvPr id="16" name="">
            <a:extLst xmlns:a="http://schemas.openxmlformats.org/drawingml/2006/main">
              <a:ext uri="{FF2B5EF4-FFF2-40B4-BE49-F238E27FC236}">
                <a16:creationId xmlns:a16="http://schemas.microsoft.com/office/drawing/2014/main" id="{6E6BC0CB-D93F-40AA-A410-D37738D79759}"/>
              </a:ext>
            </a:extLst>
          </p:cNvPr>
          <p:cNvSpPr>
            <a:spLocks xmlns:a="http://schemas.openxmlformats.org/drawingml/2006/main" noGrp="1"/>
          </p:cNvSpPr>
          <p:nvPr/>
        </p:nvSpPr>
        <p:spPr>
          <a:xfrm xmlns:a="http://schemas.openxmlformats.org/drawingml/2006/main">
            <a:off x="1504950" y="5381625"/>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8324A"/>
                </a:solidFill>
                <a:latin typeface="Arial"/>
                <a:ea typeface="Arial"/>
                <a:cs typeface="Arial"/>
              </a:defRPr>
            </a:defPPr>
          </a:lstStyle>
          <a:p xmlns:a="http://schemas.openxmlformats.org/drawingml/2006/main">
            <a:pPr>
              <a:defRPr sz="2100" b="0">
                <a:solidFill>
                  <a:srgbClr val="18324A"/>
                </a:solidFill>
                <a:latin typeface="Arial"/>
                <a:ea typeface="Arial"/>
                <a:cs typeface="Arial"/>
              </a:defRPr>
            </a:pPr>
            <a:r>
              <a:rPr sz="2100" b="0">
                <a:solidFill>
                  <a:srgbClr val="18324A"/>
                </a:solidFill>
                <a:latin typeface="Arial"/>
                <a:ea typeface="Arial"/>
                <a:cs typeface="Arial"/>
              </a:rPr>
              <a:t>Open the 2016 and 2017 model results.</a:t>
            </a:r>
          </a:p>
        </p:txBody>
      </p:sp>
    </p:spTree>
    <p:extLst>
      <p:ext uri="{BB962C8B-B14F-4D97-AF65-F5344CB8AC3E}">
        <p14:creationId xmlns:p14="http://schemas.microsoft.com/office/powerpoint/2010/main" val="1304288469"/>
      </p:ext>
    </p:extLst>
  </p:cSld>
</p:sld>
</file>

<file path=ppt/slides/slide3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123B68-E338-465E-96BD-A1C2421D8368}"/>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A SHORT KNOWLEDGE CHECK</a:t>
            </a:r>
          </a:p>
        </p:txBody>
      </p:sp>
      <p:sp>
        <p:nvSpPr>
          <p:cNvPr id="2" name="">
            <a:extLst xmlns:a="http://schemas.openxmlformats.org/drawingml/2006/main">
              <a:ext uri="{FF2B5EF4-FFF2-40B4-BE49-F238E27FC236}">
                <a16:creationId xmlns:a16="http://schemas.microsoft.com/office/drawing/2014/main" id="{4160528B-65C7-444F-8D63-4B98D9390224}"/>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Questions for the group</a:t>
            </a:r>
          </a:p>
        </p:txBody>
      </p:sp>
      <p:sp>
        <p:nvSpPr>
          <p:cNvPr id="3" name="">
            <a:extLst xmlns:a="http://schemas.openxmlformats.org/drawingml/2006/main">
              <a:ext uri="{FF2B5EF4-FFF2-40B4-BE49-F238E27FC236}">
                <a16:creationId xmlns:a16="http://schemas.microsoft.com/office/drawing/2014/main" id="{8B78231E-0606-4318-8A60-3C79AB16713D}"/>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8DDF9D7A-A814-4DF3-8AC8-129D6B5BCB69}"/>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15A11B8F-3F3B-494C-9E2C-E5258982C790}"/>
              </a:ext>
            </a:extLst>
          </p:cNvPr>
          <p:cNvSpPr>
            <a:spLocks xmlns:a="http://schemas.openxmlformats.org/drawingml/2006/main" noGrp="1"/>
          </p:cNvSpPr>
          <p:nvPr/>
        </p:nvSpPr>
        <p:spPr>
          <a:xfrm xmlns:a="http://schemas.openxmlformats.org/drawingml/2006/main">
            <a:off x="647700" y="18669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BA0925A-8E79-4CDD-A827-6DC2155685DA}"/>
              </a:ext>
            </a:extLst>
          </p:cNvPr>
          <p:cNvSpPr>
            <a:spLocks xmlns:a="http://schemas.openxmlformats.org/drawingml/2006/main" noGrp="1"/>
          </p:cNvSpPr>
          <p:nvPr/>
        </p:nvSpPr>
        <p:spPr>
          <a:xfrm xmlns:a="http://schemas.openxmlformats.org/drawingml/2006/main">
            <a:off x="1504950" y="18669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Why does the order use 77.52 units instead of 114.9?</a:t>
            </a:r>
          </a:p>
        </p:txBody>
      </p:sp>
      <p:sp>
        <p:nvSpPr>
          <p:cNvPr id="7" name="">
            <a:extLst xmlns:a="http://schemas.openxmlformats.org/drawingml/2006/main">
              <a:ext uri="{FF2B5EF4-FFF2-40B4-BE49-F238E27FC236}">
                <a16:creationId xmlns:a16="http://schemas.microsoft.com/office/drawing/2014/main" id="{609ADCFD-C963-4D30-95D7-B08E532F7FDB}"/>
              </a:ext>
            </a:extLst>
          </p:cNvPr>
          <p:cNvSpPr>
            <a:spLocks xmlns:a="http://schemas.openxmlformats.org/drawingml/2006/main" noGrp="1"/>
          </p:cNvSpPr>
          <p:nvPr/>
        </p:nvSpPr>
        <p:spPr>
          <a:xfrm xmlns:a="http://schemas.openxmlformats.org/drawingml/2006/main">
            <a:off x="647700" y="2895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D5EF13C-0308-4DDF-991F-E7D289167CF5}"/>
              </a:ext>
            </a:extLst>
          </p:cNvPr>
          <p:cNvSpPr>
            <a:spLocks xmlns:a="http://schemas.openxmlformats.org/drawingml/2006/main" noGrp="1"/>
          </p:cNvSpPr>
          <p:nvPr/>
        </p:nvSpPr>
        <p:spPr>
          <a:xfrm xmlns:a="http://schemas.openxmlformats.org/drawingml/2006/main">
            <a:off x="1504950" y="28956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Does a daily MAE of 4.812 mean 95.188% accuracy?</a:t>
            </a:r>
          </a:p>
        </p:txBody>
      </p:sp>
      <p:sp>
        <p:nvSpPr>
          <p:cNvPr id="9" name="">
            <a:extLst xmlns:a="http://schemas.openxmlformats.org/drawingml/2006/main">
              <a:ext uri="{FF2B5EF4-FFF2-40B4-BE49-F238E27FC236}">
                <a16:creationId xmlns:a16="http://schemas.microsoft.com/office/drawing/2014/main" id="{A47B88A9-685C-4E6A-8D87-0256C57A8964}"/>
              </a:ext>
            </a:extLst>
          </p:cNvPr>
          <p:cNvSpPr>
            <a:spLocks xmlns:a="http://schemas.openxmlformats.org/drawingml/2006/main" noGrp="1"/>
          </p:cNvSpPr>
          <p:nvPr/>
        </p:nvSpPr>
        <p:spPr>
          <a:xfrm xmlns:a="http://schemas.openxmlformats.org/drawingml/2006/main">
            <a:off x="647700" y="39243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AF93D91-8C9A-4E3E-9D8B-2936B9583C46}"/>
              </a:ext>
            </a:extLst>
          </p:cNvPr>
          <p:cNvSpPr>
            <a:spLocks xmlns:a="http://schemas.openxmlformats.org/drawingml/2006/main" noGrp="1"/>
          </p:cNvSpPr>
          <p:nvPr/>
        </p:nvSpPr>
        <p:spPr>
          <a:xfrm xmlns:a="http://schemas.openxmlformats.org/drawingml/2006/main">
            <a:off x="1504950" y="39243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Why did we choose random forest when LSTM has a lower weekly error?</a:t>
            </a:r>
          </a:p>
        </p:txBody>
      </p:sp>
      <p:sp>
        <p:nvSpPr>
          <p:cNvPr id="11" name="">
            <a:extLst xmlns:a="http://schemas.openxmlformats.org/drawingml/2006/main">
              <a:ext uri="{FF2B5EF4-FFF2-40B4-BE49-F238E27FC236}">
                <a16:creationId xmlns:a16="http://schemas.microsoft.com/office/drawing/2014/main" id="{276D766C-49DD-4520-BEA3-565A61E98F20}"/>
              </a:ext>
            </a:extLst>
          </p:cNvPr>
          <p:cNvSpPr>
            <a:spLocks xmlns:a="http://schemas.openxmlformats.org/drawingml/2006/main" noGrp="1"/>
          </p:cNvSpPr>
          <p:nvPr/>
        </p:nvSpPr>
        <p:spPr>
          <a:xfrm xmlns:a="http://schemas.openxmlformats.org/drawingml/2006/main">
            <a:off x="647700" y="4953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79"/>
                </a:solidFill>
                <a:latin typeface="Arial"/>
                <a:ea typeface="Arial"/>
                <a:cs typeface="Arial"/>
              </a:defRPr>
            </a:defPPr>
          </a:lstStyle>
          <a:p xmlns:a="http://schemas.openxmlformats.org/drawingml/2006/main">
            <a:pPr>
              <a:defRPr sz="2400" b="1">
                <a:solidFill>
                  <a:srgbClr val="087E79"/>
                </a:solidFill>
                <a:latin typeface="Arial"/>
                <a:ea typeface="Arial"/>
                <a:cs typeface="Arial"/>
              </a:defRPr>
            </a:pPr>
            <a:r>
              <a:rPr sz="2400" b="1">
                <a:solidFill>
                  <a:srgbClr val="087E79"/>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072335E1-F63A-494B-968A-D09638B916DA}"/>
              </a:ext>
            </a:extLst>
          </p:cNvPr>
          <p:cNvSpPr>
            <a:spLocks xmlns:a="http://schemas.openxmlformats.org/drawingml/2006/main" noGrp="1"/>
          </p:cNvSpPr>
          <p:nvPr/>
        </p:nvSpPr>
        <p:spPr>
          <a:xfrm xmlns:a="http://schemas.openxmlformats.org/drawingml/2006/main">
            <a:off x="1504950" y="4953000"/>
            <a:ext cx="9810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324A"/>
                </a:solidFill>
                <a:latin typeface="Arial"/>
                <a:ea typeface="Arial"/>
                <a:cs typeface="Arial"/>
              </a:defRPr>
            </a:defPPr>
          </a:lstStyle>
          <a:p xmlns:a="http://schemas.openxmlformats.org/drawingml/2006/main">
            <a:pPr>
              <a:defRPr sz="2250" b="0">
                <a:solidFill>
                  <a:srgbClr val="18324A"/>
                </a:solidFill>
                <a:latin typeface="Arial"/>
                <a:ea typeface="Arial"/>
                <a:cs typeface="Arial"/>
              </a:defRPr>
            </a:pPr>
            <a:r>
              <a:rPr sz="2250" b="0">
                <a:solidFill>
                  <a:srgbClr val="18324A"/>
                </a:solidFill>
                <a:latin typeface="Arial"/>
                <a:ea typeface="Arial"/>
                <a:cs typeface="Arial"/>
              </a:rPr>
              <a:t>What does the chatbot need before suggesting another product’s order?</a:t>
            </a:r>
          </a:p>
        </p:txBody>
      </p:sp>
    </p:spTree>
    <p:extLst>
      <p:ext uri="{BB962C8B-B14F-4D97-AF65-F5344CB8AC3E}">
        <p14:creationId xmlns:p14="http://schemas.microsoft.com/office/powerpoint/2010/main" val="169470867"/>
      </p:ext>
    </p:extLst>
  </p:cSld>
</p:sld>
</file>

<file path=ppt/slides/slide3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92EF3E-80A7-43BF-911B-9C23C54E6FCE}"/>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REFERENCE</a:t>
            </a:r>
          </a:p>
        </p:txBody>
      </p:sp>
      <p:sp>
        <p:nvSpPr>
          <p:cNvPr id="2" name="">
            <a:extLst xmlns:a="http://schemas.openxmlformats.org/drawingml/2006/main">
              <a:ext uri="{FF2B5EF4-FFF2-40B4-BE49-F238E27FC236}">
                <a16:creationId xmlns:a16="http://schemas.microsoft.com/office/drawing/2014/main" id="{3105D942-B81B-40A7-830A-916EADFF9C44}"/>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Model terms in plain English</a:t>
            </a:r>
          </a:p>
        </p:txBody>
      </p:sp>
      <p:sp>
        <p:nvSpPr>
          <p:cNvPr id="3" name="">
            <a:extLst xmlns:a="http://schemas.openxmlformats.org/drawingml/2006/main">
              <a:ext uri="{FF2B5EF4-FFF2-40B4-BE49-F238E27FC236}">
                <a16:creationId xmlns:a16="http://schemas.microsoft.com/office/drawing/2014/main" id="{035A3199-A702-4922-92EB-12AC5207578A}"/>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441E9CD4-89D9-4D83-807B-CEE38A37DCCE}"/>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31</a:t>
            </a:r>
          </a:p>
        </p:txBody>
      </p:sp>
      <p:graphicFrame>
        <p:nvGraphicFramePr>
          <p:cNvPr id="5" name="">
            <a:extLst xmlns:a="http://schemas.openxmlformats.org/drawingml/2006/main">
              <a:ext uri="{FF2B5EF4-FFF2-40B4-BE49-F238E27FC236}">
                <a16:creationId xmlns:a16="http://schemas.microsoft.com/office/drawing/2014/main" id="{D5B3F896-CC32-43B9-98BD-268D8D719A55}"/>
              </a:ext>
            </a:extLst>
          </p:cNvPr>
          <p:cNvGraphicFramePr/>
          <p:nvPr/>
        </p:nvGraphicFramePr>
        <p:xfrm>
          <a:off xmlns:a="http://schemas.openxmlformats.org/drawingml/2006/main" x="619125" y="1762125"/>
          <a:ext xmlns:a="http://schemas.openxmlformats.org/drawingml/2006/main" cx="10858500" cy="4276725"/>
        </p:xfrm>
        <a:graphic xmlns:a="http://schemas.openxmlformats.org/drawingml/2006/main">
          <a:graphicData uri="http://schemas.openxmlformats.org/drawingml/2006/table">
            <a:tbl>
              <a:tblPr/>
              <a:tblGrid>
                <a:gridCol w="3333750"/>
                <a:gridCol w="7524750"/>
              </a:tblGrid>
              <a:tr h="475192">
                <a:tc>
                  <a:txBody>
                    <a:bodyPr/>
                    <a:lstStyle/>
                    <a:p>
                      <a:r>
                        <a:rPr sz="1800" b="1">
                          <a:solidFill>
                            <a:srgbClr val="FFFFFF"/>
                          </a:solidFill>
                          <a:latin typeface="Arial"/>
                          <a:ea typeface="Arial"/>
                          <a:cs typeface="Arial"/>
                        </a:rPr>
                        <a:t>Term</a:t>
                      </a:r>
                    </a:p>
                  </a:txBody>
                  <a:tcPr marL="123825" marR="123825" marT="66675" marB="66675" anchor="ctr">
                    <a:solidFill>
                      <a:srgbClr val="087E79"/>
                    </a:solidFill>
                  </a:tcPr>
                </a:tc>
                <a:tc>
                  <a:txBody>
                    <a:bodyPr/>
                    <a:lstStyle/>
                    <a:p>
                      <a:r>
                        <a:rPr sz="1800" b="1">
                          <a:solidFill>
                            <a:srgbClr val="FFFFFF"/>
                          </a:solidFill>
                          <a:latin typeface="Arial"/>
                          <a:ea typeface="Arial"/>
                          <a:cs typeface="Arial"/>
                        </a:rPr>
                        <a:t>Meaning in this project</a:t>
                      </a:r>
                    </a:p>
                  </a:txBody>
                  <a:tcPr marL="123825" marR="123825" marT="66675" marB="66675" anchor="ctr">
                    <a:solidFill>
                      <a:srgbClr val="087E79"/>
                    </a:solidFill>
                  </a:tcPr>
                </a:tc>
              </a:tr>
              <a:tr h="475192">
                <a:tc>
                  <a:txBody>
                    <a:bodyPr/>
                    <a:lstStyle/>
                    <a:p>
                      <a:r>
                        <a:rPr sz="1800" b="0">
                          <a:solidFill>
                            <a:srgbClr val="18324A"/>
                          </a:solidFill>
                          <a:latin typeface="Arial"/>
                          <a:ea typeface="Arial"/>
                          <a:cs typeface="Arial"/>
                        </a:rPr>
                        <a:t>AI and machine learning</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AI is the broad field. Machine learning learns from examples.</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Regression</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Predicting a number, such as daily units sold</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Classification</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Predicting a category, such as a question’s intent</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Feature</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An input, such as a past sales value or weekday</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Target</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The known value a model learns to predict</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Lag</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A previous sales value, such as yesterday’s sales</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Ensemble</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Several models combined, such as the forest’s trees</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Deep learning</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Learning with neural networks, such as our LSTM</a:t>
                      </a:r>
                    </a:p>
                  </a:txBody>
                  <a:tcPr marL="123825" marR="123825" marT="66675" marB="66675" anchor="ctr">
                    <a:solidFill>
                      <a:srgbClr val="F7F5F0"/>
                    </a:solidFill>
                  </a:tcPr>
                </a:tc>
              </a:tr>
            </a:tbl>
          </a:graphicData>
        </a:graphic>
      </p:graphicFrame>
    </p:spTree>
    <p:extLst>
      <p:ext uri="{BB962C8B-B14F-4D97-AF65-F5344CB8AC3E}">
        <p14:creationId xmlns:p14="http://schemas.microsoft.com/office/powerpoint/2010/main" val="2137286768"/>
      </p:ext>
    </p:extLst>
  </p:cSld>
</p:sld>
</file>

<file path=ppt/slides/slide3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1D6EE3-E05B-4F1D-B09F-8AF417D2C550}"/>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REFERENCE</a:t>
            </a:r>
          </a:p>
        </p:txBody>
      </p:sp>
      <p:sp>
        <p:nvSpPr>
          <p:cNvPr id="2" name="">
            <a:extLst xmlns:a="http://schemas.openxmlformats.org/drawingml/2006/main">
              <a:ext uri="{FF2B5EF4-FFF2-40B4-BE49-F238E27FC236}">
                <a16:creationId xmlns:a16="http://schemas.microsoft.com/office/drawing/2014/main" id="{DC17BE19-CDD0-4B26-925A-B95C032D9597}"/>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18324A"/>
                </a:solidFill>
                <a:latin typeface="Arial"/>
                <a:ea typeface="Arial"/>
                <a:cs typeface="Arial"/>
              </a:defRPr>
            </a:defPPr>
          </a:lstStyle>
          <a:p xmlns:a="http://schemas.openxmlformats.org/drawingml/2006/main">
            <a:pPr>
              <a:defRPr sz="3375" b="1">
                <a:solidFill>
                  <a:srgbClr val="18324A"/>
                </a:solidFill>
                <a:latin typeface="Arial"/>
                <a:ea typeface="Arial"/>
                <a:cs typeface="Arial"/>
              </a:defRPr>
            </a:pPr>
            <a:r>
              <a:rPr sz="3375" b="1">
                <a:solidFill>
                  <a:srgbClr val="18324A"/>
                </a:solidFill>
                <a:latin typeface="Arial"/>
                <a:ea typeface="Arial"/>
                <a:cs typeface="Arial"/>
              </a:rPr>
              <a:t>Training and evaluation terms</a:t>
            </a:r>
          </a:p>
        </p:txBody>
      </p:sp>
      <p:sp>
        <p:nvSpPr>
          <p:cNvPr id="3" name="">
            <a:extLst xmlns:a="http://schemas.openxmlformats.org/drawingml/2006/main">
              <a:ext uri="{FF2B5EF4-FFF2-40B4-BE49-F238E27FC236}">
                <a16:creationId xmlns:a16="http://schemas.microsoft.com/office/drawing/2014/main" id="{B1333BDA-B270-4180-8853-A5E111CC60B4}"/>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78"/>
                </a:solidFill>
                <a:latin typeface="Arial"/>
                <a:ea typeface="Arial"/>
                <a:cs typeface="Arial"/>
              </a:defRPr>
            </a:defPPr>
          </a:lstStyle>
          <a:p xmlns:a="http://schemas.openxmlformats.org/drawingml/2006/main">
            <a:pPr>
              <a:defRPr sz="1050" b="1">
                <a:solidFill>
                  <a:srgbClr val="536A78"/>
                </a:solidFill>
                <a:latin typeface="Arial"/>
                <a:ea typeface="Arial"/>
                <a:cs typeface="Arial"/>
              </a:defRPr>
            </a:pPr>
            <a:r>
              <a:rPr sz="1050" b="1">
                <a:solidFill>
                  <a:srgbClr val="536A78"/>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81602C77-4F09-4F21-A69A-4D8A1D01180E}"/>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A78"/>
                </a:solidFill>
                <a:latin typeface="Arial"/>
                <a:ea typeface="Arial"/>
                <a:cs typeface="Arial"/>
              </a:defRPr>
            </a:defPPr>
          </a:lstStyle>
          <a:p xmlns:a="http://schemas.openxmlformats.org/drawingml/2006/main">
            <a:pPr>
              <a:defRPr sz="1050" b="0">
                <a:solidFill>
                  <a:srgbClr val="536A78"/>
                </a:solidFill>
                <a:latin typeface="Arial"/>
                <a:ea typeface="Arial"/>
                <a:cs typeface="Arial"/>
              </a:defRPr>
            </a:pPr>
            <a:r>
              <a:rPr sz="1050" b="0">
                <a:solidFill>
                  <a:srgbClr val="536A78"/>
                </a:solidFill>
                <a:latin typeface="Arial"/>
                <a:ea typeface="Arial"/>
                <a:cs typeface="Arial"/>
              </a:rPr>
              <a:t>32</a:t>
            </a:r>
          </a:p>
        </p:txBody>
      </p:sp>
      <p:graphicFrame>
        <p:nvGraphicFramePr>
          <p:cNvPr id="5" name="">
            <a:extLst xmlns:a="http://schemas.openxmlformats.org/drawingml/2006/main">
              <a:ext uri="{FF2B5EF4-FFF2-40B4-BE49-F238E27FC236}">
                <a16:creationId xmlns:a16="http://schemas.microsoft.com/office/drawing/2014/main" id="{EF64EA10-802C-4773-B5DC-B84D1259230E}"/>
              </a:ext>
            </a:extLst>
          </p:cNvPr>
          <p:cNvGraphicFramePr/>
          <p:nvPr/>
        </p:nvGraphicFramePr>
        <p:xfrm>
          <a:off xmlns:a="http://schemas.openxmlformats.org/drawingml/2006/main" x="619125" y="1762125"/>
          <a:ext xmlns:a="http://schemas.openxmlformats.org/drawingml/2006/main" cx="10858500" cy="4276725"/>
        </p:xfrm>
        <a:graphic xmlns:a="http://schemas.openxmlformats.org/drawingml/2006/main">
          <a:graphicData uri="http://schemas.openxmlformats.org/drawingml/2006/table">
            <a:tbl>
              <a:tblPr/>
              <a:tblGrid>
                <a:gridCol w="3048000"/>
                <a:gridCol w="7810500"/>
              </a:tblGrid>
              <a:tr h="475192">
                <a:tc>
                  <a:txBody>
                    <a:bodyPr/>
                    <a:lstStyle/>
                    <a:p>
                      <a:r>
                        <a:rPr sz="1800" b="1">
                          <a:solidFill>
                            <a:srgbClr val="FFFFFF"/>
                          </a:solidFill>
                          <a:latin typeface="Arial"/>
                          <a:ea typeface="Arial"/>
                          <a:cs typeface="Arial"/>
                        </a:rPr>
                        <a:t>Term</a:t>
                      </a:r>
                    </a:p>
                  </a:txBody>
                  <a:tcPr marL="123825" marR="123825" marT="66675" marB="66675" anchor="ctr">
                    <a:solidFill>
                      <a:srgbClr val="087E79"/>
                    </a:solidFill>
                  </a:tcPr>
                </a:tc>
                <a:tc>
                  <a:txBody>
                    <a:bodyPr/>
                    <a:lstStyle/>
                    <a:p>
                      <a:r>
                        <a:rPr sz="1800" b="1">
                          <a:solidFill>
                            <a:srgbClr val="FFFFFF"/>
                          </a:solidFill>
                          <a:latin typeface="Arial"/>
                          <a:ea typeface="Arial"/>
                          <a:cs typeface="Arial"/>
                        </a:rPr>
                        <a:t>Plain-English meaning</a:t>
                      </a:r>
                    </a:p>
                  </a:txBody>
                  <a:tcPr marL="123825" marR="123825" marT="66675" marB="66675" anchor="ctr">
                    <a:solidFill>
                      <a:srgbClr val="087E79"/>
                    </a:solidFill>
                  </a:tcPr>
                </a:tc>
              </a:tr>
              <a:tr h="475192">
                <a:tc>
                  <a:txBody>
                    <a:bodyPr/>
                    <a:lstStyle/>
                    <a:p>
                      <a:r>
                        <a:rPr sz="1800" b="0">
                          <a:solidFill>
                            <a:srgbClr val="18324A"/>
                          </a:solidFill>
                          <a:latin typeface="Arial"/>
                          <a:ea typeface="Arial"/>
                          <a:cs typeface="Arial"/>
                        </a:rPr>
                        <a:t>Epoch and batch</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Epoch: a training pass. Batch: a group for one update.</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Optimizer and loss</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The update method and the error it tries to reduce</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Scaling</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Putting training values onto a comparable numeric scale</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Hyperparameter</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A chosen setting, such as tree count or learning rate</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Overfitting</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Learning training detail that does not generalize well</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Data leakage</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Using future information when predicting earlier dates</a:t>
                      </a:r>
                    </a:p>
                  </a:txBody>
                  <a:tcPr marL="123825" marR="123825" marT="66675" marB="66675" anchor="ctr">
                    <a:solidFill>
                      <a:srgbClr val="F7F5F0"/>
                    </a:solidFill>
                  </a:tcPr>
                </a:tc>
              </a:tr>
              <a:tr h="475192">
                <a:tc>
                  <a:txBody>
                    <a:bodyPr/>
                    <a:lstStyle/>
                    <a:p>
                      <a:r>
                        <a:rPr sz="1800" b="0">
                          <a:solidFill>
                            <a:srgbClr val="18324A"/>
                          </a:solidFill>
                          <a:latin typeface="Arial"/>
                          <a:ea typeface="Arial"/>
                          <a:cs typeface="Arial"/>
                        </a:rPr>
                        <a:t>Inference</a:t>
                      </a:r>
                    </a:p>
                  </a:txBody>
                  <a:tcPr marL="123825" marR="123825" marT="66675" marB="66675" anchor="ctr">
                    <a:solidFill>
                      <a:srgbClr val="FFFFFF"/>
                    </a:solidFill>
                  </a:tcPr>
                </a:tc>
                <a:tc>
                  <a:txBody>
                    <a:bodyPr/>
                    <a:lstStyle/>
                    <a:p>
                      <a:r>
                        <a:rPr sz="1800" b="0">
                          <a:solidFill>
                            <a:srgbClr val="18324A"/>
                          </a:solidFill>
                          <a:latin typeface="Arial"/>
                          <a:ea typeface="Arial"/>
                          <a:cs typeface="Arial"/>
                        </a:rPr>
                        <a:t>Running a trained model to produce an answer</a:t>
                      </a:r>
                    </a:p>
                  </a:txBody>
                  <a:tcPr marL="123825" marR="123825" marT="66675" marB="66675" anchor="ctr">
                    <a:solidFill>
                      <a:srgbClr val="FFFFFF"/>
                    </a:solidFill>
                  </a:tcPr>
                </a:tc>
              </a:tr>
              <a:tr h="475192">
                <a:tc>
                  <a:txBody>
                    <a:bodyPr/>
                    <a:lstStyle/>
                    <a:p>
                      <a:r>
                        <a:rPr sz="1800" b="0">
                          <a:solidFill>
                            <a:srgbClr val="18324A"/>
                          </a:solidFill>
                          <a:latin typeface="Arial"/>
                          <a:ea typeface="Arial"/>
                          <a:cs typeface="Arial"/>
                        </a:rPr>
                        <a:t>Confidence threshold</a:t>
                      </a:r>
                    </a:p>
                  </a:txBody>
                  <a:tcPr marL="123825" marR="123825" marT="66675" marB="66675" anchor="ctr">
                    <a:solidFill>
                      <a:srgbClr val="F7F5F0"/>
                    </a:solidFill>
                  </a:tcPr>
                </a:tc>
                <a:tc>
                  <a:txBody>
                    <a:bodyPr/>
                    <a:lstStyle/>
                    <a:p>
                      <a:r>
                        <a:rPr sz="1800" b="0">
                          <a:solidFill>
                            <a:srgbClr val="18324A"/>
                          </a:solidFill>
                          <a:latin typeface="Arial"/>
                          <a:ea typeface="Arial"/>
                          <a:cs typeface="Arial"/>
                        </a:rPr>
                        <a:t>Minimum score before accepting a question category</a:t>
                      </a:r>
                    </a:p>
                  </a:txBody>
                  <a:tcPr marL="123825" marR="123825" marT="66675" marB="66675" anchor="ctr">
                    <a:solidFill>
                      <a:srgbClr val="F7F5F0"/>
                    </a:solidFill>
                  </a:tcPr>
                </a:tc>
              </a:tr>
            </a:tbl>
          </a:graphicData>
        </a:graphic>
      </p:graphicFrame>
    </p:spTree>
    <p:extLst>
      <p:ext uri="{BB962C8B-B14F-4D97-AF65-F5344CB8AC3E}">
        <p14:creationId xmlns:p14="http://schemas.microsoft.com/office/powerpoint/2010/main" val="969258904"/>
      </p:ext>
    </p:extLst>
  </p:cSld>
</p:sld>
</file>

<file path=ppt/slides/slide33.xml><?xml version="1.0" encoding="utf-8"?>
<p:sld xmlns:p="http://schemas.openxmlformats.org/presentationml/2006/main">
  <p:cSld>
    <p:bg>
      <p:bgPr>
        <a:solidFill xmlns:a="http://schemas.openxmlformats.org/drawingml/2006/main">
          <a:srgbClr val="1126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36D0F-2EAD-4DC4-B9A8-8B3D043FD9B9}"/>
              </a:ext>
            </a:extLst>
          </p:cNvPr>
          <p:cNvSpPr>
            <a:spLocks xmlns:a="http://schemas.openxmlformats.org/drawingml/2006/main" noGrp="1"/>
          </p:cNvSpPr>
          <p:nvPr/>
        </p:nvSpPr>
        <p:spPr>
          <a:xfrm xmlns:a="http://schemas.openxmlformats.org/drawingml/2006/main">
            <a:off x="609600" y="36195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A9E7D7"/>
                </a:solidFill>
                <a:latin typeface="Arial"/>
                <a:ea typeface="Arial"/>
                <a:cs typeface="Arial"/>
              </a:defRPr>
            </a:defPPr>
          </a:lstStyle>
          <a:p xmlns:a="http://schemas.openxmlformats.org/drawingml/2006/main">
            <a:pPr>
              <a:defRPr sz="1200" b="1">
                <a:solidFill>
                  <a:srgbClr val="A9E7D7"/>
                </a:solidFill>
                <a:latin typeface="Arial"/>
                <a:ea typeface="Arial"/>
                <a:cs typeface="Arial"/>
              </a:defRPr>
            </a:pPr>
            <a:r>
              <a:rPr sz="1200" b="1">
                <a:solidFill>
                  <a:srgbClr val="A9E7D7"/>
                </a:solidFill>
                <a:latin typeface="Arial"/>
                <a:ea typeface="Arial"/>
                <a:cs typeface="Arial"/>
              </a:rPr>
              <a:t>AFTER THE WALKTHROUGH</a:t>
            </a:r>
          </a:p>
        </p:txBody>
      </p:sp>
      <p:sp>
        <p:nvSpPr>
          <p:cNvPr id="2" name="">
            <a:extLst xmlns:a="http://schemas.openxmlformats.org/drawingml/2006/main">
              <a:ext uri="{FF2B5EF4-FFF2-40B4-BE49-F238E27FC236}">
                <a16:creationId xmlns:a16="http://schemas.microsoft.com/office/drawing/2014/main" id="{764ADECE-51CB-406E-A5C9-D7E51718B66B}"/>
              </a:ext>
            </a:extLst>
          </p:cNvPr>
          <p:cNvSpPr>
            <a:spLocks xmlns:a="http://schemas.openxmlformats.org/drawingml/2006/main" noGrp="1"/>
          </p:cNvSpPr>
          <p:nvPr/>
        </p:nvSpPr>
        <p:spPr>
          <a:xfrm xmlns:a="http://schemas.openxmlformats.org/drawingml/2006/main">
            <a:off x="609600" y="7429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Each member’s next contribution</a:t>
            </a:r>
          </a:p>
        </p:txBody>
      </p:sp>
      <p:sp>
        <p:nvSpPr>
          <p:cNvPr id="3" name="">
            <a:extLst xmlns:a="http://schemas.openxmlformats.org/drawingml/2006/main">
              <a:ext uri="{FF2B5EF4-FFF2-40B4-BE49-F238E27FC236}">
                <a16:creationId xmlns:a16="http://schemas.microsoft.com/office/drawing/2014/main" id="{D205402A-97FC-4DBE-8E60-E9D95791D070}"/>
              </a:ext>
            </a:extLst>
          </p:cNvPr>
          <p:cNvSpPr>
            <a:spLocks xmlns:a="http://schemas.openxmlformats.org/drawingml/2006/main" noGrp="1"/>
          </p:cNvSpPr>
          <p:nvPr/>
        </p:nvSpPr>
        <p:spPr>
          <a:xfrm xmlns:a="http://schemas.openxmlformats.org/drawingml/2006/main">
            <a:off x="609600" y="6381750"/>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E7D7"/>
                </a:solidFill>
                <a:latin typeface="Arial"/>
                <a:ea typeface="Arial"/>
                <a:cs typeface="Arial"/>
              </a:defRPr>
            </a:defPPr>
          </a:lstStyle>
          <a:p xmlns:a="http://schemas.openxmlformats.org/drawingml/2006/main">
            <a:pPr>
              <a:defRPr sz="1050" b="1">
                <a:solidFill>
                  <a:srgbClr val="A9E7D7"/>
                </a:solidFill>
                <a:latin typeface="Arial"/>
                <a:ea typeface="Arial"/>
                <a:cs typeface="Arial"/>
              </a:defRPr>
            </a:pPr>
            <a:r>
              <a:rPr sz="1050" b="1">
                <a:solidFill>
                  <a:srgbClr val="A9E7D7"/>
                </a:solidFill>
                <a:latin typeface="Arial"/>
                <a:ea typeface="Arial"/>
                <a:cs typeface="Arial"/>
              </a:rPr>
              <a:t>STOCKSENSE AI</a:t>
            </a:r>
          </a:p>
        </p:txBody>
      </p:sp>
      <p:sp>
        <p:nvSpPr>
          <p:cNvPr id="4" name="">
            <a:extLst xmlns:a="http://schemas.openxmlformats.org/drawingml/2006/main">
              <a:ext uri="{FF2B5EF4-FFF2-40B4-BE49-F238E27FC236}">
                <a16:creationId xmlns:a16="http://schemas.microsoft.com/office/drawing/2014/main" id="{B9A3AE9E-CEDA-42AA-BB83-EE1C85AC216D}"/>
              </a:ext>
            </a:extLst>
          </p:cNvPr>
          <p:cNvSpPr>
            <a:spLocks xmlns:a="http://schemas.openxmlformats.org/drawingml/2006/main" noGrp="1"/>
          </p:cNvSpPr>
          <p:nvPr/>
        </p:nvSpPr>
        <p:spPr>
          <a:xfrm xmlns:a="http://schemas.openxmlformats.org/drawingml/2006/main">
            <a:off x="11087100" y="6381750"/>
            <a:ext cx="523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A9E7D7"/>
                </a:solidFill>
                <a:latin typeface="Arial"/>
                <a:ea typeface="Arial"/>
                <a:cs typeface="Arial"/>
              </a:defRPr>
            </a:defPPr>
          </a:lstStyle>
          <a:p xmlns:a="http://schemas.openxmlformats.org/drawingml/2006/main">
            <a:pPr>
              <a:defRPr sz="1050" b="0">
                <a:solidFill>
                  <a:srgbClr val="A9E7D7"/>
                </a:solidFill>
                <a:latin typeface="Arial"/>
                <a:ea typeface="Arial"/>
                <a:cs typeface="Arial"/>
              </a:defRPr>
            </a:pPr>
            <a:r>
              <a:rPr sz="1050" b="0">
                <a:solidFill>
                  <a:srgbClr val="A9E7D7"/>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CECC0AA8-2828-41E2-A2F9-C339031E0F47}"/>
              </a:ext>
            </a:extLst>
          </p:cNvPr>
          <p:cNvSpPr>
            <a:spLocks xmlns:a="http://schemas.openxmlformats.org/drawingml/2006/main" noGrp="1"/>
          </p:cNvSpPr>
          <p:nvPr/>
        </p:nvSpPr>
        <p:spPr>
          <a:xfrm xmlns:a="http://schemas.openxmlformats.org/drawingml/2006/main">
            <a:off x="657225" y="2028825"/>
            <a:ext cx="10572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One feature. One explanation.</a:t>
            </a:r>
          </a:p>
        </p:txBody>
      </p:sp>
      <p:sp>
        <p:nvSpPr>
          <p:cNvPr id="6" name="">
            <a:extLst xmlns:a="http://schemas.openxmlformats.org/drawingml/2006/main">
              <a:ext uri="{FF2B5EF4-FFF2-40B4-BE49-F238E27FC236}">
                <a16:creationId xmlns:a16="http://schemas.microsoft.com/office/drawing/2014/main" id="{9EF497C7-79C0-477F-926C-D9B21002F774}"/>
              </a:ext>
            </a:extLst>
          </p:cNvPr>
          <p:cNvSpPr>
            <a:spLocks xmlns:a="http://schemas.openxmlformats.org/drawingml/2006/main" noGrp="1"/>
          </p:cNvSpPr>
          <p:nvPr/>
        </p:nvSpPr>
        <p:spPr>
          <a:xfrm xmlns:a="http://schemas.openxmlformats.org/drawingml/2006/main">
            <a:off x="676275" y="3409950"/>
            <a:ext cx="10382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0">
                <a:solidFill>
                  <a:srgbClr val="A9E7D7"/>
                </a:solidFill>
                <a:latin typeface="Arial"/>
                <a:ea typeface="Arial"/>
                <a:cs typeface="Arial"/>
              </a:defRPr>
            </a:defPPr>
          </a:lstStyle>
          <a:p xmlns:a="http://schemas.openxmlformats.org/drawingml/2006/main">
            <a:pPr>
              <a:defRPr sz="2625" b="0">
                <a:solidFill>
                  <a:srgbClr val="A9E7D7"/>
                </a:solidFill>
                <a:latin typeface="Arial"/>
                <a:ea typeface="Arial"/>
                <a:cs typeface="Arial"/>
              </a:defRPr>
            </a:pPr>
            <a:r>
              <a:rPr sz="2625" b="0">
                <a:solidFill>
                  <a:srgbClr val="A9E7D7"/>
                </a:solidFill>
                <a:latin typeface="Arial"/>
                <a:ea typeface="Arial"/>
                <a:cs typeface="Arial"/>
              </a:rPr>
              <a:t>Each member demonstrates something and answers a question.</a:t>
            </a:r>
          </a:p>
        </p:txBody>
      </p:sp>
      <p:sp>
        <p:nvSpPr>
          <p:cNvPr id="7" name="">
            <a:extLst xmlns:a="http://schemas.openxmlformats.org/drawingml/2006/main">
              <a:ext uri="{FF2B5EF4-FFF2-40B4-BE49-F238E27FC236}">
                <a16:creationId xmlns:a16="http://schemas.microsoft.com/office/drawing/2014/main" id="{149B59CC-A221-4C66-B687-160541E98C5D}"/>
              </a:ext>
            </a:extLst>
          </p:cNvPr>
          <p:cNvSpPr>
            <a:spLocks xmlns:a="http://schemas.openxmlformats.org/drawingml/2006/main" noGrp="1"/>
          </p:cNvSpPr>
          <p:nvPr/>
        </p:nvSpPr>
        <p:spPr>
          <a:xfrm xmlns:a="http://schemas.openxmlformats.org/drawingml/2006/main">
            <a:off x="676275" y="4905375"/>
            <a:ext cx="10572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The group records its actual decisions and follow-up work in GitHub.</a:t>
            </a:r>
          </a:p>
        </p:txBody>
      </p:sp>
    </p:spTree>
    <p:extLst>
      <p:ext uri="{BB962C8B-B14F-4D97-AF65-F5344CB8AC3E}">
        <p14:creationId xmlns:p14="http://schemas.microsoft.com/office/powerpoint/2010/main" val="895784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2026-10-12T19:35:57.8860000Z</dcterms:created>
  <dcterms:modified xsi:type="dcterms:W3CDTF">2026-10-12T19:35:57.8860000Z</dcterms:modified>
</coreProperties>
</file>