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2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7893d4d9fc4529" /><Relationship Type="http://schemas.openxmlformats.org/officeDocument/2006/relationships/extended-properties" Target="/docProps/app.xml" Id="R9a0b3f2bb2904e6a" /><Relationship Type="http://schemas.openxmlformats.org/officeDocument/2006/relationships/officeDocument" Target="/ppt/presentation.xml" Id="Ra57e134f350f42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ff4521ad74b4e76"/>
  </p:sldMasterIdLst>
  <p:notesMasterIdLst>
    <p:notesMasterId xmlns:r="http://schemas.openxmlformats.org/officeDocument/2006/relationships" r:id="Rbc4674ad0ec44263"/>
  </p:notesMasterIdLst>
  <p:sldIdLst>
    <p:sldId xmlns:r="http://schemas.openxmlformats.org/officeDocument/2006/relationships" id="256" r:id="R73bee633f5374637"/>
    <p:sldId xmlns:r="http://schemas.openxmlformats.org/officeDocument/2006/relationships" id="257" r:id="Rd4f69c5ff76a4822"/>
    <p:sldId xmlns:r="http://schemas.openxmlformats.org/officeDocument/2006/relationships" id="258" r:id="R93aac0da15604bad"/>
    <p:sldId xmlns:r="http://schemas.openxmlformats.org/officeDocument/2006/relationships" id="259" r:id="R38e23c67b2404791"/>
    <p:sldId xmlns:r="http://schemas.openxmlformats.org/officeDocument/2006/relationships" id="260" r:id="R646a3cb2474d4f59"/>
    <p:sldId xmlns:r="http://schemas.openxmlformats.org/officeDocument/2006/relationships" id="261" r:id="R4f59363352404e07"/>
    <p:sldId xmlns:r="http://schemas.openxmlformats.org/officeDocument/2006/relationships" id="262" r:id="R1fd11efb58fe4a84"/>
    <p:sldId xmlns:r="http://schemas.openxmlformats.org/officeDocument/2006/relationships" id="263" r:id="Re5af03559c224cbb"/>
    <p:sldId xmlns:r="http://schemas.openxmlformats.org/officeDocument/2006/relationships" id="264" r:id="Red8f162aa95b4856"/>
    <p:sldId xmlns:r="http://schemas.openxmlformats.org/officeDocument/2006/relationships" id="265" r:id="R02d473acacd74467"/>
    <p:sldId xmlns:r="http://schemas.openxmlformats.org/officeDocument/2006/relationships" id="266" r:id="R9bd4a56724ac42ba"/>
    <p:sldId xmlns:r="http://schemas.openxmlformats.org/officeDocument/2006/relationships" id="267" r:id="Rff63db1c92d24bf2"/>
    <p:sldId xmlns:r="http://schemas.openxmlformats.org/officeDocument/2006/relationships" id="268" r:id="Ref7335a3d21c4f7d"/>
    <p:sldId xmlns:r="http://schemas.openxmlformats.org/officeDocument/2006/relationships" id="269" r:id="R9d77614df797419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0418c193c274d17" /><Relationship Type="http://schemas.openxmlformats.org/officeDocument/2006/relationships/slideMaster" Target="/ppt/slideMasters/slideMaster1.xml" Id="Rbff4521ad74b4e76" /><Relationship Type="http://schemas.openxmlformats.org/officeDocument/2006/relationships/notesMaster" Target="/ppt/notesMasters/notesMaster1.xml" Id="Rbc4674ad0ec44263" /><Relationship Type="http://schemas.openxmlformats.org/officeDocument/2006/relationships/presProps" Target="/ppt/presProps.xml" Id="Ra127e469415e4448" /><Relationship Type="http://schemas.openxmlformats.org/officeDocument/2006/relationships/tableStyles" Target="/ppt/tableStyles.xml" Id="R2d49403667744706" /><Relationship Type="http://schemas.openxmlformats.org/officeDocument/2006/relationships/slide" Target="/ppt/slides/slide1.xml" Id="R73bee633f5374637" /><Relationship Type="http://schemas.openxmlformats.org/officeDocument/2006/relationships/slide" Target="/ppt/slides/slide2.xml" Id="Rd4f69c5ff76a4822" /><Relationship Type="http://schemas.openxmlformats.org/officeDocument/2006/relationships/slide" Target="/ppt/slides/slide3.xml" Id="R93aac0da15604bad" /><Relationship Type="http://schemas.openxmlformats.org/officeDocument/2006/relationships/slide" Target="/ppt/slides/slide4.xml" Id="R38e23c67b2404791" /><Relationship Type="http://schemas.openxmlformats.org/officeDocument/2006/relationships/slide" Target="/ppt/slides/slide5.xml" Id="R646a3cb2474d4f59" /><Relationship Type="http://schemas.openxmlformats.org/officeDocument/2006/relationships/slide" Target="/ppt/slides/slide6.xml" Id="R4f59363352404e07" /><Relationship Type="http://schemas.openxmlformats.org/officeDocument/2006/relationships/slide" Target="/ppt/slides/slide7.xml" Id="R1fd11efb58fe4a84" /><Relationship Type="http://schemas.openxmlformats.org/officeDocument/2006/relationships/slide" Target="/ppt/slides/slide8.xml" Id="Re5af03559c224cbb" /><Relationship Type="http://schemas.openxmlformats.org/officeDocument/2006/relationships/slide" Target="/ppt/slides/slide9.xml" Id="Red8f162aa95b4856" /><Relationship Type="http://schemas.openxmlformats.org/officeDocument/2006/relationships/slide" Target="/ppt/slides/slide10.xml" Id="R02d473acacd74467" /><Relationship Type="http://schemas.openxmlformats.org/officeDocument/2006/relationships/slide" Target="/ppt/slides/slide11.xml" Id="R9bd4a56724ac42ba" /><Relationship Type="http://schemas.openxmlformats.org/officeDocument/2006/relationships/slide" Target="/ppt/slides/slide12.xml" Id="Rff63db1c92d24bf2" /><Relationship Type="http://schemas.openxmlformats.org/officeDocument/2006/relationships/slide" Target="/ppt/slides/slide13.xml" Id="Ref7335a3d21c4f7d" /><Relationship Type="http://schemas.openxmlformats.org/officeDocument/2006/relationships/slide" Target="/ppt/slides/slide14.xml" Id="R9d77614df79741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8e35448ca5471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3fa882d1724162" /><Relationship Type="http://schemas.openxmlformats.org/officeDocument/2006/relationships/notesMaster" Target="/ppt/notesMasters/notesMaster1.xml" Id="Rc267bf042f6b41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a3e47f7256e409c" /><Relationship Type="http://schemas.openxmlformats.org/officeDocument/2006/relationships/notesMaster" Target="/ppt/notesMasters/notesMaster1.xml" Id="Ra20753980a0b412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df2ef1265774760" /><Relationship Type="http://schemas.openxmlformats.org/officeDocument/2006/relationships/notesMaster" Target="/ppt/notesMasters/notesMaster1.xml" Id="R358d788576954e1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91f02e5019447f4" /><Relationship Type="http://schemas.openxmlformats.org/officeDocument/2006/relationships/notesMaster" Target="/ppt/notesMasters/notesMaster1.xml" Id="Rd55c5a786bf5400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ab5b97e117047f7" /><Relationship Type="http://schemas.openxmlformats.org/officeDocument/2006/relationships/notesMaster" Target="/ppt/notesMasters/notesMaster1.xml" Id="R6e3cada8b8b744c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2d658016974b9c" /><Relationship Type="http://schemas.openxmlformats.org/officeDocument/2006/relationships/notesMaster" Target="/ppt/notesMasters/notesMaster1.xml" Id="R1a358bb5034042d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7d3e85877f94ef6" /><Relationship Type="http://schemas.openxmlformats.org/officeDocument/2006/relationships/notesMaster" Target="/ppt/notesMasters/notesMaster1.xml" Id="R3a49abad0f1f4dd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882ba4582ee4aca" /><Relationship Type="http://schemas.openxmlformats.org/officeDocument/2006/relationships/notesMaster" Target="/ppt/notesMasters/notesMaster1.xml" Id="R0806650f5444435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148ee572b3b4da4" /><Relationship Type="http://schemas.openxmlformats.org/officeDocument/2006/relationships/notesMaster" Target="/ppt/notesMasters/notesMaster1.xml" Id="R009335b35eb942c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a9c74a24dbb4d33" /><Relationship Type="http://schemas.openxmlformats.org/officeDocument/2006/relationships/notesMaster" Target="/ppt/notesMasters/notesMaster1.xml" Id="Rda2144d5032544b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96ba3cba5144079" /><Relationship Type="http://schemas.openxmlformats.org/officeDocument/2006/relationships/notesMaster" Target="/ppt/notesMasters/notesMaster1.xml" Id="R1cae7e5f3cee4b4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c70475387254546" /><Relationship Type="http://schemas.openxmlformats.org/officeDocument/2006/relationships/notesMaster" Target="/ppt/notesMasters/notesMaster1.xml" Id="Rac347d60b7b6469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77b85d88c634ce7" /><Relationship Type="http://schemas.openxmlformats.org/officeDocument/2006/relationships/notesMaster" Target="/ppt/notesMasters/notesMaster1.xml" Id="Re21f4f45ade941d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c8eb8ae181843de" /><Relationship Type="http://schemas.openxmlformats.org/officeDocument/2006/relationships/notesMaster" Target="/ppt/notesMasters/notesMaster1.xml" Id="Rc36a3d33370444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Morris. About 30 seconds. Introduce StockSense AI and the fictional retailer.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Zama. About 90 seconds. The business process is assumed for a fictional retailer. No real savings have been measured.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Senamile. About 90 seconds. Explain the five anonymous products and the historical demonstration.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Mick. About 90 seconds. Source: Kaggle Store Item Demand Forecasting Challenge, https://www.kaggle.com/competitions/demand-forecasting-kernels-only/data. The raw file was audited locally.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Percy. About 60 seconds. Both charts use Store 1, Item 1–5 and 2013–2016 only. Data source: Kaggle Store Item Demand Forecasting Challenge. Explain that pattern does not prove its cause.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Neo. About 90 seconds. Source: frozen local model comparison and the group report. Each method is scored on the same 52 weeks per item. We selected using 2016, then froze the choice before 2017.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Ungakimi. About 60 seconds. Values are daily MAE in units: benchmark 6.320, random forest 4.911, LSTM 5.439. Lower is better. Source: frozen local comparison.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Ungakimi. About 90 seconds. Values are from the frozen final test. Daily MAE: benchmark 6.273, random forest 4.812, LSTM 5.411. Weekly-total MAE: benchmark 18.427, random forest 17.973, LSTM 17.343. The 23.3% means relative daily MAE reduction, not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Neo. About 90 seconds. The model has 28 sales inputs, one 16-unit LSTM layer and seven outputs. It was compared to the benchmark and random forest on the same evaluation dates. It did not win the selected daily error measure.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Morris. About 90 seconds. Demonstration input for Product 1: 50 available, 0 outstanding, two-day lead, three-day review, 10 buffer. Forecast for first five days 77.52. Target 87.52. Order ceiling(87.52-50)=38. Stock data is entered manually.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Sibongiseni. About 90 seconds. The assistant classifies five intents using TF-IDF and logistic regression. It retrieves saved forecast or stock objects. A request for another item uses that item’s forecast, while its stock answer requires new inputs. It is not a general conversational assistant.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speakers: Buhle and Wandile. About 90 seconds. The office copy passed 52 tests on 12 October 2026. The earlier personal-PC rehearsal passed 45 tests on 10 October. Assistant fresh check recognised 24/25 supported requests and rejected 8/8 unrelated requests. Human usability review is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speakers: Sibongiseni and Morris. About three minutes. Open the saved local app. Select a product, calculate the 38-unit Product 1 example, ask a forecast question, show the 2016 and 2017 comparisons. If live app fails, use the screenshot and backup recording.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speaker: Senamile. About 60 seconds, then five minutes of questions. Random forest had the lowest daily test error. LSTM had the lowest overall weekly-total error. The app has no measured savings, because no real inventory or cost data were supplied.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3c593c52434db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a97854caf2465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29491e899e4e5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e19eabf8ae4c1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dc754ffb0c443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b6dc3ab0ba481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0F762E7-452E-4196-BA7D-A79A3A5279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1A1263F-6640-4486-B265-841DE76ABB5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91C718C-57B9-46EF-B72D-6CC082BC5B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B6F5F30-2944-4484-A407-D696ED02F6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17C463D-4ABA-4CAF-BEE1-7236E2F61E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58BC5A2-F8D3-46EB-8FFF-B13C96330F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695A615-CE11-4719-86A0-B9506BB5D3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E2D2434-1578-46CE-A103-72BD889DADA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80021E5-4529-4F0A-B3A4-DD5FBE1782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C843ED6-7631-4D1A-BC4B-56A5355C886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06a66bef0304eda" /><Relationship Type="http://schemas.openxmlformats.org/officeDocument/2006/relationships/slideLayout" Target="/ppt/slideLayouts/slideLayout1.xml" Id="R43199274faa14b0c" /><Relationship Type="http://schemas.openxmlformats.org/officeDocument/2006/relationships/slideLayout" Target="/ppt/slideLayouts/slideLayout2.xml" Id="R89023a7d53a04436" /><Relationship Type="http://schemas.openxmlformats.org/officeDocument/2006/relationships/slideLayout" Target="/ppt/slideLayouts/slideLayout3.xml" Id="Rad861094a238491a" /><Relationship Type="http://schemas.openxmlformats.org/officeDocument/2006/relationships/slideLayout" Target="/ppt/slideLayouts/slideLayout4.xml" Id="Rc885c72e5ec0428b" /><Relationship Type="http://schemas.openxmlformats.org/officeDocument/2006/relationships/slideLayout" Target="/ppt/slideLayouts/slideLayout5.xml" Id="Rfa2261d96eba468d" /><Relationship Type="http://schemas.openxmlformats.org/officeDocument/2006/relationships/slideLayout" Target="/ppt/slideLayouts/slideLayout6.xml" Id="R0f68981dfd834e7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199274faa14b0c"/>
    <p:sldLayoutId xmlns:r="http://schemas.openxmlformats.org/officeDocument/2006/relationships" id="2147483650" r:id="R89023a7d53a04436"/>
    <p:sldLayoutId xmlns:r="http://schemas.openxmlformats.org/officeDocument/2006/relationships" id="2147483651" r:id="Rad861094a238491a"/>
    <p:sldLayoutId xmlns:r="http://schemas.openxmlformats.org/officeDocument/2006/relationships" id="2147483652" r:id="Rc885c72e5ec0428b"/>
    <p:sldLayoutId xmlns:r="http://schemas.openxmlformats.org/officeDocument/2006/relationships" id="2147483653" r:id="Rfa2261d96eba468d"/>
    <p:sldLayoutId xmlns:r="http://schemas.openxmlformats.org/officeDocument/2006/relationships" id="2147483654" r:id="R0f68981dfd834e7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39c9214b1544ab" /><Relationship Type="http://schemas.openxmlformats.org/officeDocument/2006/relationships/notesSlide" Target="/ppt/notesSlides/notesSlide1.xml" Id="R71e4f68b87f74b2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b4ee94bccf4ae4" /><Relationship Type="http://schemas.openxmlformats.org/officeDocument/2006/relationships/notesSlide" Target="/ppt/notesSlides/notesSlide2.xml" Id="Rddf4f94030b9480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01e11fde6b46b9" /><Relationship Type="http://schemas.openxmlformats.org/officeDocument/2006/relationships/notesSlide" Target="/ppt/notesSlides/notesSlide3.xml" Id="R5d64f9a6a4ac43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118c6fd9d4404b" /><Relationship Type="http://schemas.openxmlformats.org/officeDocument/2006/relationships/notesSlide" Target="/ppt/notesSlides/notesSlide4.xml" Id="Rd56cf57fd8364e8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369691882648da" /><Relationship Type="http://schemas.openxmlformats.org/officeDocument/2006/relationships/image" Target="/ppt/media/image.png" Id="R2484fe783dea4cec" /><Relationship Type="http://schemas.openxmlformats.org/officeDocument/2006/relationships/image" Target="/ppt/media/image2.png" Id="Re079630971314a14" /><Relationship Type="http://schemas.openxmlformats.org/officeDocument/2006/relationships/notesSlide" Target="/ppt/notesSlides/notesSlide5.xml" Id="R1400351c6cc14e5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a1426d650d4e28" /><Relationship Type="http://schemas.openxmlformats.org/officeDocument/2006/relationships/notesSlide" Target="/ppt/notesSlides/notesSlide6.xml" Id="R830026d221ff4ae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a08de437b94f86" /><Relationship Type="http://schemas.openxmlformats.org/officeDocument/2006/relationships/chart" Target="/ppt/slides/charts/chart1.xml" Id="R56a564d2237640c3" /><Relationship Type="http://schemas.openxmlformats.org/officeDocument/2006/relationships/notesSlide" Target="/ppt/notesSlides/notesSlide7.xml" Id="Rcde54679d7a14bc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03d519d03744ff" /><Relationship Type="http://schemas.openxmlformats.org/officeDocument/2006/relationships/chart" Target="/ppt/slides/charts/chart2.xml" Id="R3609aeb2fbec4af4" /><Relationship Type="http://schemas.openxmlformats.org/officeDocument/2006/relationships/notesSlide" Target="/ppt/notesSlides/notesSlide8.xml" Id="Rc0647f2939cd4ab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0839d9f3864907" /><Relationship Type="http://schemas.openxmlformats.org/officeDocument/2006/relationships/notesSlide" Target="/ppt/notesSlides/notesSlide9.xml" Id="Rf6d476b54b5f4ca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4a5ef2175e4cac" /><Relationship Type="http://schemas.openxmlformats.org/officeDocument/2006/relationships/notesSlide" Target="/ppt/notesSlides/notesSlide10.xml" Id="R045271e97f7c432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8f25ab41624b09" /><Relationship Type="http://schemas.openxmlformats.org/officeDocument/2006/relationships/notesSlide" Target="/ppt/notesSlides/notesSlide11.xml" Id="Rb4057ae44d62458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632ce467564de3" /><Relationship Type="http://schemas.openxmlformats.org/officeDocument/2006/relationships/notesSlide" Target="/ppt/notesSlides/notesSlide12.xml" Id="R474d7667aab84eb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77d903244444ea" /><Relationship Type="http://schemas.openxmlformats.org/officeDocument/2006/relationships/image" Target="/ppt/media/image3.png" Id="R4570671089f14424" /><Relationship Type="http://schemas.openxmlformats.org/officeDocument/2006/relationships/notesSlide" Target="/ppt/notesSlides/notesSlide13.xml" Id="R11a818925fcd4c7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45e6ffad604042" /><Relationship Type="http://schemas.openxmlformats.org/officeDocument/2006/relationships/notesSlide" Target="/ppt/notesSlides/notesSlide14.xml" Id="Rcb49f9b0739d48fd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Daily MAE</c:v>
          </c:tx>
          <c:spPr>
            <a:solidFill xmlns:a="http://schemas.openxmlformats.org/drawingml/2006/main">
              <a:srgbClr val="0F766E"/>
            </a:solidFill>
          </c:spPr>
          <c:cat>
            <c:strRef>
              <c:f>'Chart Data'!$A$2:$A$4</c:f>
              <c:strCache>
                <c:ptCount val="3"/>
                <c:pt idx="0">
                  <c:v>Weekly benchmark</c:v>
                </c:pt>
                <c:pt idx="1">
                  <c:v>Small LSTM</c:v>
                </c:pt>
                <c:pt idx="2">
                  <c:v>Random forest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6.32</c:v>
                </c:pt>
                <c:pt idx="1">
                  <c:v>5.439</c:v>
                </c:pt>
                <c:pt idx="2">
                  <c:v>4.911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Daily MAE</c:v>
          </c:tx>
          <c:spPr>
            <a:solidFill xmlns:a="http://schemas.openxmlformats.org/drawingml/2006/main">
              <a:srgbClr val="0F766E"/>
            </a:solidFill>
          </c:spPr>
          <c:cat>
            <c:strRef>
              <c:f>'Chart Data'!$A$2:$A$4</c:f>
              <c:strCache>
                <c:ptCount val="3"/>
                <c:pt idx="0">
                  <c:v>Weekly benchmark</c:v>
                </c:pt>
                <c:pt idx="1">
                  <c:v>Small LSTM</c:v>
                </c:pt>
                <c:pt idx="2">
                  <c:v>Random forest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6.273</c:v>
                </c:pt>
                <c:pt idx="1">
                  <c:v>5.411</c:v>
                </c:pt>
                <c:pt idx="2">
                  <c:v>4.812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EA28D2-2FA3-4DE0-8DD8-D55FE670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15075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VUT AI SOLUTIONS  /  AIBUY3A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17F3A5-0205-4550-AD1E-895CECEDF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1507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90B238-1B8A-4C96-9007-44D8886B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047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8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8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StockSense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9EC25F-724C-47B7-B7CB-1A363B7A0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24175"/>
            <a:ext cx="1009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0F766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0F766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0F766E"/>
                </a:solidFill>
                <a:latin typeface="Arial"/>
                <a:ea typeface="Arial"/>
                <a:cs typeface="Arial"/>
              </a:rPr>
              <a:t>Sales forecasting and stock planning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3E3180-B4D4-4367-92EF-03BC75B6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862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Sunrise Mini Market is a fictional retail case</a:t>
            </a:r>
          </a:p>
        </p:txBody>
      </p:sp>
    </p:spTree>
    <p:extLst>
      <p:ext uri="{BB962C8B-B14F-4D97-AF65-F5344CB8AC3E}">
        <p14:creationId xmlns:p14="http://schemas.microsoft.com/office/powerpoint/2010/main" val="1905815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494389-9710-4E34-A22A-52EF84D03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The retail ordering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372A03-03FC-443F-AB72-0B387011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15075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VUT AI SOLUTIONS  /  AIBUY3A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CE737A-F283-466B-9F4D-2BA063210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1507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FC4142-566E-4741-ACBD-8C68A6E8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90675"/>
            <a:ext cx="10477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7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A manager must decide how much to order before next week’s sales are known.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C882A6-3B73-4091-8616-42A88313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Too little stock can mean missed sales.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04DAD6-305F-42EA-9859-D6346D85F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619500"/>
            <a:ext cx="4762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Too much stock ties up money.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C838C2-B2E3-4777-8A78-7C5D251FC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29200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0F766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0F766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F766E"/>
                </a:solidFill>
                <a:latin typeface="Arial"/>
                <a:ea typeface="Arial"/>
                <a:cs typeface="Arial"/>
              </a:rPr>
              <a:t>The app gives the manager a consistent estimate to check before ordering.</a:t>
            </a:r>
          </a:p>
        </p:txBody>
      </p:sp>
    </p:spTree>
    <p:extLst>
      <p:ext uri="{BB962C8B-B14F-4D97-AF65-F5344CB8AC3E}">
        <p14:creationId xmlns:p14="http://schemas.microsoft.com/office/powerpoint/2010/main" val="6639934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65E7C2-7133-4BBB-9EC3-9095845A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Objective and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496CA9-8019-4EF7-8749-E9D79ECB8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15075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VUT AI SOLUTIONS  /  AIBUY3A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FD832B-9776-4DEA-8ADE-FB48FA5D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1507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AA5857-ABD2-4597-A745-DF925F740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10477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Forecast seven days of sales for five products, then show a transparent order suggestion.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281BDE-BB53-4583-AD8D-69BA6E5DD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10477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One fictional retailer mapped to dataset Store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BF4AE8-53B6-4F90-B9A1-9501C777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86225"/>
            <a:ext cx="10477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Product 1–5 map to anonymous dataset Item 1–5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B466AC-7598-4491-9AAD-31061F875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43450"/>
            <a:ext cx="10477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Stock and supplier values are entered for the demonstration</a:t>
            </a:r>
          </a:p>
        </p:txBody>
      </p:sp>
    </p:spTree>
    <p:extLst>
      <p:ext uri="{BB962C8B-B14F-4D97-AF65-F5344CB8AC3E}">
        <p14:creationId xmlns:p14="http://schemas.microsoft.com/office/powerpoint/2010/main" val="13539729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15AD3D-9475-431F-A085-C26BF26C6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Sales dataset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4F6217-1C93-4744-AD96-8A996385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15075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VUT AI SOLUTIONS  /  AIBUY3A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EF2C24-5492-4523-8E25-E23621A8B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1507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4EEDA4-9C46-4FF1-A3CC-C8387FA14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04975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575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575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pPr>
            <a:r>
              <a:rPr sz="4575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913,000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10C1EE-359D-4858-BABF-340A2175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rows in the source CSV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20E47D-9FEF-480B-8D90-430A9EB1B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04975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575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575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pPr>
            <a:r>
              <a:rPr sz="4575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9,130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EFFFC0-D6F4-4C2B-9432-A2F0084EE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6670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rows in our selected scope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E0395C-D1A9-4527-A8A3-FE0E99BDF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0050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Daily sales, 2013–2017. The file has dates, store IDs, item IDs and units sold.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F16A5C-04E7-446F-847E-B0C96CECE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The dataset has no product names, stock levels, prices or supplier records.</a:t>
            </a:r>
          </a:p>
        </p:txBody>
      </p:sp>
    </p:spTree>
    <p:extLst>
      <p:ext uri="{BB962C8B-B14F-4D97-AF65-F5344CB8AC3E}">
        <p14:creationId xmlns:p14="http://schemas.microsoft.com/office/powerpoint/2010/main" val="48619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BA6650-FB82-4B70-8008-BB7AE2CB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Sales patterns in development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41D111-D8E0-40E7-9731-31386701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15075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VUT AI SOLUTIONS  /  AIBUY3A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87B343-CB93-4CA2-B254-D36359FC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1507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39EECD-B1C5-4C60-B609-62B9A6F0AB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84fe783dea4cec"/>
          <a:stretch xmlns:a="http://schemas.openxmlformats.org/drawingml/2006/main"/>
        </p:blipFill>
        <p:spPr>
          <a:xfrm xmlns:a="http://schemas.openxmlformats.org/drawingml/2006/main">
            <a:off x="714375" y="1894582"/>
            <a:ext cx="5238750" cy="2783086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5A92A0-9E6B-47EC-B6BC-1A130D2F919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79630971314a14"/>
          <a:stretch xmlns:a="http://schemas.openxmlformats.org/drawingml/2006/main"/>
        </p:blipFill>
        <p:spPr>
          <a:xfrm xmlns:a="http://schemas.openxmlformats.org/drawingml/2006/main">
            <a:off x="6210300" y="1894582"/>
            <a:ext cx="5238750" cy="2783086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216A2C-75E2-47AD-BDC9-121588C7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219700"/>
            <a:ext cx="485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Monthly totals change over time.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B27DC-9872-47CA-A4CF-C5B6DF954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19700"/>
            <a:ext cx="485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The average differs by weekday.</a:t>
            </a:r>
          </a:p>
        </p:txBody>
      </p:sp>
    </p:spTree>
    <p:extLst>
      <p:ext uri="{BB962C8B-B14F-4D97-AF65-F5344CB8AC3E}">
        <p14:creationId xmlns:p14="http://schemas.microsoft.com/office/powerpoint/2010/main" val="13778895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B9754A-3C01-4AB2-A580-315C6027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Forecast methods and time split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4E29B0-B951-4E21-8660-08888EF0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15075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VUT AI SOLUTIONS  /  AIBUY3A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C5EC23-95DF-44F7-AB68-B4F52DB93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1507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01BE50-DBE7-4051-9B4A-7FF564D4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24000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2013–2015: fit the first models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CD86BD-5838-4CF5-8DD1-C04D2568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81250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2016: validate and select by daily MAE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388023-7905-4C85-B1B7-D02BC1757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38500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2017: final test using the frozen choice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4B1911-C9A3-4C8D-8532-16C1092A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F766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F766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F766E"/>
                </a:solidFill>
                <a:latin typeface="Arial"/>
                <a:ea typeface="Arial"/>
                <a:cs typeface="Arial"/>
              </a:rPr>
              <a:t>Compared: repeat last week, random forest and a small LSTM.</a:t>
            </a:r>
          </a:p>
        </p:txBody>
      </p:sp>
    </p:spTree>
    <p:extLst>
      <p:ext uri="{BB962C8B-B14F-4D97-AF65-F5344CB8AC3E}">
        <p14:creationId xmlns:p14="http://schemas.microsoft.com/office/powerpoint/2010/main" val="20526710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E6D771-B68D-48EC-B537-438B4B5F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2016 validation chose random forest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A6AB9F-62F3-4E4C-81D6-0744D60C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15075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VUT AI SOLUTIONS  /  AIBUY3A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8BD0AB-B17C-4C92-A44D-CF65BEEE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1507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8B892F8D-5580-4515-BDCF-746E61529ED2}"/>
              </a:ext>
            </a:extLst>
          </p:cNvPr>
          <p:cNvGraphicFramePr/>
          <p:nvPr/>
        </p:nvGraphicFramePr>
        <p:xfrm>
          <a:off xmlns:a="http://schemas.openxmlformats.org/drawingml/2006/main" x="904875" y="1571625"/>
          <a:ext xmlns:a="http://schemas.openxmlformats.org/drawingml/2006/main" cx="914400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6a564d2237640c3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FF3E95-D70D-4E88-BB03-54BD94554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191125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Daily MAE in units. Lower is better.</a:t>
            </a:r>
          </a:p>
        </p:txBody>
      </p:sp>
    </p:spTree>
    <p:extLst>
      <p:ext uri="{BB962C8B-B14F-4D97-AF65-F5344CB8AC3E}">
        <p14:creationId xmlns:p14="http://schemas.microsoft.com/office/powerpoint/2010/main" val="21456941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BD5384-F575-483D-B151-5C936591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2017 final test: daily and weekly trade-off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EDEB8-B38D-4F79-A0A7-4ED92DE0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15075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VUT AI SOLUTIONS  /  AIBUY3A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9C09C-FECE-4E6F-B3EE-26F0A51F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1507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1FA287E7-21C8-4EB6-AA9B-8CE8D52F783B}"/>
              </a:ext>
            </a:extLst>
          </p:cNvPr>
          <p:cNvGraphicFramePr/>
          <p:nvPr/>
        </p:nvGraphicFramePr>
        <p:xfrm>
          <a:off xmlns:a="http://schemas.openxmlformats.org/drawingml/2006/main" x="904875" y="1381125"/>
          <a:ext xmlns:a="http://schemas.openxmlformats.org/drawingml/2006/main" cx="885825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609aeb2fbec4af4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B89BBD-426C-4BE6-A267-F425BFEAD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686300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Random forest: 23.3% lower daily MAE than the benchmark.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C1A818-C055-4EFB-9603-685441FA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3054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LSTM had the lowest overall weekly-total MAE: 17.343 units.</a:t>
            </a:r>
          </a:p>
        </p:txBody>
      </p:sp>
    </p:spTree>
    <p:extLst>
      <p:ext uri="{BB962C8B-B14F-4D97-AF65-F5344CB8AC3E}">
        <p14:creationId xmlns:p14="http://schemas.microsoft.com/office/powerpoint/2010/main" val="17880063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68D3B4-0D86-4E21-836A-D570DCC25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Small LSTM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87E1B3-A465-4D02-9B80-A9C91353E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15075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VUT AI SOLUTIONS  /  AIBUY3A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331E69-FE15-4FB5-B3D6-F66AE4D82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1507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D3FAC2-F581-4143-89AC-B96B40740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28 past daily sales values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C58251-8E89-4E84-B86B-6876F94B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One 16-unit LSTM layer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403A5-791A-4408-BFA1-37FD5527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29025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Seven daily predictions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2E71FE-6D69-4E0C-891D-D9AC60F1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2050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0F766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0F766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F766E"/>
                </a:solidFill>
                <a:latin typeface="Arial"/>
                <a:ea typeface="Arial"/>
                <a:cs typeface="Arial"/>
              </a:rPr>
              <a:t>The LSTM improved weekly totals overall, but random forest had the lowest daily error.</a:t>
            </a:r>
          </a:p>
        </p:txBody>
      </p:sp>
    </p:spTree>
    <p:extLst>
      <p:ext uri="{BB962C8B-B14F-4D97-AF65-F5344CB8AC3E}">
        <p14:creationId xmlns:p14="http://schemas.microsoft.com/office/powerpoint/2010/main" val="6577694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E87790-7003-4BB4-A3E5-6376896C4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Stock suggestion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11BDF3-3D36-40FD-AC8C-8AF361E3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15075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VUT AI SOLUTIONS  /  AIBUY3A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68DCBF-F46F-43A9-B87E-44E52DC3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1507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48F79A-7F39-4C7F-BD36-C489F47F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400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Target stock = forecast during coverage + buffer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45576D-0F64-4B35-BF5A-5FECBB89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2887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F766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F766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F766E"/>
                </a:solidFill>
                <a:latin typeface="Arial"/>
                <a:ea typeface="Arial"/>
                <a:cs typeface="Arial"/>
              </a:rPr>
              <a:t>Suggested order = round up max(0, target − available − outstanding)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95AB42-236B-435A-9611-4E579EA8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Example: 77.52 + 10 = 87.52 target units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58EA4E-179D-466F-A4B6-1F576212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With 50 available and 0 outstanding, suggest 38 units.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09AE04-8FBF-49B3-9A6B-272425C6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6735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An early shortage warning is shown separately.</a:t>
            </a:r>
          </a:p>
        </p:txBody>
      </p:sp>
    </p:spTree>
    <p:extLst>
      <p:ext uri="{BB962C8B-B14F-4D97-AF65-F5344CB8AC3E}">
        <p14:creationId xmlns:p14="http://schemas.microsoft.com/office/powerpoint/2010/main" val="19514949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B60EBB-EEDC-4C67-AD4F-EEAA4122B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Ask StockSense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0A6BE6-DEDE-4C4C-B58E-7358D8D0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15075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VUT AI SOLUTIONS  /  AIBUY3A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C60A33-5FE8-4343-8EFE-01D5DE1DD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1507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9A7A74-84E4-4FA5-AC76-8090ED5C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625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Five request types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BE37AB-1EDB-4CE4-A00F-2AD0ABCB3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Forecast, stock order, recent sales, model results and help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DCC17E-510E-480F-BF06-894DBBF03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909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Text classification selects a request type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EBA27F-0A04-483F-900B-ED1521CCC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Answers use the same calculated values as the dashboard</a:t>
            </a:r>
          </a:p>
        </p:txBody>
      </p:sp>
    </p:spTree>
    <p:extLst>
      <p:ext uri="{BB962C8B-B14F-4D97-AF65-F5344CB8AC3E}">
        <p14:creationId xmlns:p14="http://schemas.microsoft.com/office/powerpoint/2010/main" val="1742036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BB6AB7-6E44-4F68-B64C-EDB98462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Checks completed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8A682C-C3A4-41B4-84EA-E3A929A6E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15075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VUT AI SOLUTIONS  /  AIBUY3A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8D3BDA-C120-48F8-ACD6-9F883744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1507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9DB874-760D-4C00-AE13-064C9352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38300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625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52 tests passed on the office PC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076E84-E70D-42C0-BBD6-8FAD5A48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An earlier setup worked on a second PC.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13DE29-CC52-404C-A348-7A635A19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67125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Assistant check: 24/25 supported requests; 8/8 unrelated requests rejected.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C47B0D-101F-40AB-85B0-D0F099CA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48250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Human usability results are still needed.</a:t>
            </a:r>
          </a:p>
        </p:txBody>
      </p:sp>
    </p:spTree>
    <p:extLst>
      <p:ext uri="{BB962C8B-B14F-4D97-AF65-F5344CB8AC3E}">
        <p14:creationId xmlns:p14="http://schemas.microsoft.com/office/powerpoint/2010/main" val="123778622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28ED21-D8DD-4B34-A9B6-13A674A69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Live application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304217-2C8F-44B6-BCB8-14F42BE5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15075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VUT AI SOLUTIONS  /  AIBUY3A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B8153E-4760-496E-8073-9D23BFFDD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1507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3BC49E-4598-466D-A890-1229B0FC7D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70671089f14424"/>
          <a:stretch xmlns:a="http://schemas.openxmlformats.org/drawingml/2006/main"/>
        </p:blipFill>
        <p:spPr>
          <a:xfrm xmlns:a="http://schemas.openxmlformats.org/drawingml/2006/main">
            <a:off x="1199717" y="1476375"/>
            <a:ext cx="5611091" cy="42862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D5A1D6-401B-4287-882B-157937B4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1762125"/>
            <a:ext cx="3810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Select Product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165A8E-055E-47AC-832E-772E4C88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2600325"/>
            <a:ext cx="3810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Show seven dated estimates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5F3D27-CC1A-4AFF-BA2D-076BF62F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3438525"/>
            <a:ext cx="3810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the 38-unit example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E000A1-0FB5-4072-AE09-69B75E18E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4276725"/>
            <a:ext cx="3810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Ask about another product</a:t>
            </a:r>
          </a:p>
        </p:txBody>
      </p:sp>
    </p:spTree>
    <p:extLst>
      <p:ext uri="{BB962C8B-B14F-4D97-AF65-F5344CB8AC3E}">
        <p14:creationId xmlns:p14="http://schemas.microsoft.com/office/powerpoint/2010/main" val="146000183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D4CF84-9126-4D7C-9B77-0B34CE87B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Findings and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1C99F4-A294-493A-B3D5-5146062D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15075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VUT AI SOLUTIONS  /  AIBUY3A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D2BF11-ABFA-4ABA-98C0-BE3EC1F28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1507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3815E7-0E1C-457D-855D-8BB72C93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9725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The prototype gives a clear forecast and a transparent stock calculation.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A633A0-1417-403E-9300-40956F51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Random forest performed best on daily error in this comparison.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A36E73-A2AE-4FBF-A966-FCA192B4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52617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26174"/>
                </a:solidFill>
                <a:latin typeface="Arial"/>
                <a:ea typeface="Arial"/>
                <a:cs typeface="Arial"/>
              </a:rPr>
              <a:t>Real savings and January 2018 forecast accuracy remain unmeasured.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5BEEA0-808E-46D4-8DBF-FA8D95B9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75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75" b="1">
                <a:solidFill>
                  <a:srgbClr val="0F766E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F766E"/>
                </a:solidFill>
                <a:latin typeface="Arial"/>
                <a:ea typeface="Arial"/>
                <a:cs typeface="Arial"/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16253286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2026-10-12T16:56:35.4760000Z</dcterms:created>
  <dcterms:modified xsi:type="dcterms:W3CDTF">2026-10-12T16:56:35.4760000Z</dcterms:modified>
</coreProperties>
</file>