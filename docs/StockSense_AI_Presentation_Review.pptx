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1.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2.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f17de0d61a4d49b3" /><Relationship Type="http://schemas.openxmlformats.org/officeDocument/2006/relationships/extended-properties" Target="/docProps/app.xml" Id="R62438cdde6664454" /><Relationship Type="http://schemas.openxmlformats.org/officeDocument/2006/relationships/officeDocument" Target="/ppt/presentation.xml" Id="Rd57c7af7767b49e9" /></Relationships>
</file>

<file path=ppt/presentation.xml><?xml version="1.0" encoding="utf-8"?>
<p:presentation xmlns:p="http://schemas.openxmlformats.org/presentationml/2006/main">
  <p:sldMasterIdLst>
    <p:sldMasterId xmlns:r="http://schemas.openxmlformats.org/officeDocument/2006/relationships" id="2147483648" r:id="Rc44e41b7c5be40df"/>
  </p:sldMasterIdLst>
  <p:notesMasterIdLst>
    <p:notesMasterId xmlns:r="http://schemas.openxmlformats.org/officeDocument/2006/relationships" r:id="R94bf88634e8c4f76"/>
  </p:notesMasterIdLst>
  <p:sldIdLst>
    <p:sldId xmlns:r="http://schemas.openxmlformats.org/officeDocument/2006/relationships" id="256" r:id="R58bbb954fbf148c0"/>
    <p:sldId xmlns:r="http://schemas.openxmlformats.org/officeDocument/2006/relationships" id="257" r:id="R281b5c64c516448a"/>
    <p:sldId xmlns:r="http://schemas.openxmlformats.org/officeDocument/2006/relationships" id="258" r:id="R727c272b27b248c9"/>
    <p:sldId xmlns:r="http://schemas.openxmlformats.org/officeDocument/2006/relationships" id="259" r:id="Rc440aea231d549b9"/>
    <p:sldId xmlns:r="http://schemas.openxmlformats.org/officeDocument/2006/relationships" id="260" r:id="R3f695d263d3d4564"/>
    <p:sldId xmlns:r="http://schemas.openxmlformats.org/officeDocument/2006/relationships" id="261" r:id="R29538ea98e644ede"/>
    <p:sldId xmlns:r="http://schemas.openxmlformats.org/officeDocument/2006/relationships" id="262" r:id="Ra7c6307488834abf"/>
    <p:sldId xmlns:r="http://schemas.openxmlformats.org/officeDocument/2006/relationships" id="263" r:id="R02c6f830375344ee"/>
    <p:sldId xmlns:r="http://schemas.openxmlformats.org/officeDocument/2006/relationships" id="264" r:id="Recc99469999c48db"/>
    <p:sldId xmlns:r="http://schemas.openxmlformats.org/officeDocument/2006/relationships" id="265" r:id="Ra2573beded834575"/>
    <p:sldId xmlns:r="http://schemas.openxmlformats.org/officeDocument/2006/relationships" id="266" r:id="Rf67130631e5a43a6"/>
    <p:sldId xmlns:r="http://schemas.openxmlformats.org/officeDocument/2006/relationships" id="267" r:id="R0199ddb16a5a4aaf"/>
    <p:sldId xmlns:r="http://schemas.openxmlformats.org/officeDocument/2006/relationships" id="268" r:id="R8d6cb898bcf44124"/>
    <p:sldId xmlns:r="http://schemas.openxmlformats.org/officeDocument/2006/relationships" id="269" r:id="R6894c6b58e81424c"/>
    <p:sldId xmlns:r="http://schemas.openxmlformats.org/officeDocument/2006/relationships" id="270" r:id="R16d7684628d04b03"/>
    <p:sldId xmlns:r="http://schemas.openxmlformats.org/officeDocument/2006/relationships" id="271" r:id="Rded20b36915246a1"/>
    <p:sldId xmlns:r="http://schemas.openxmlformats.org/officeDocument/2006/relationships" id="272" r:id="Ra3e4c3e15c064bb4"/>
    <p:sldId xmlns:r="http://schemas.openxmlformats.org/officeDocument/2006/relationships" id="273" r:id="R903cc861608d4997"/>
    <p:sldId xmlns:r="http://schemas.openxmlformats.org/officeDocument/2006/relationships" id="274" r:id="Rc8240f647ff34b31"/>
    <p:sldId xmlns:r="http://schemas.openxmlformats.org/officeDocument/2006/relationships" id="275" r:id="R1c9179a1755e434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b0f01946e464ad4" /><Relationship Type="http://schemas.openxmlformats.org/officeDocument/2006/relationships/slideMaster" Target="/ppt/slideMasters/slideMaster1.xml" Id="Rc44e41b7c5be40df" /><Relationship Type="http://schemas.openxmlformats.org/officeDocument/2006/relationships/notesMaster" Target="/ppt/notesMasters/notesMaster1.xml" Id="R94bf88634e8c4f76" /><Relationship Type="http://schemas.openxmlformats.org/officeDocument/2006/relationships/presProps" Target="/ppt/presProps.xml" Id="Rab191a6f82e04044" /><Relationship Type="http://schemas.openxmlformats.org/officeDocument/2006/relationships/tableStyles" Target="/ppt/tableStyles.xml" Id="R0dcfe2ecb89b4738" /><Relationship Type="http://schemas.openxmlformats.org/officeDocument/2006/relationships/slide" Target="/ppt/slides/slide1.xml" Id="R58bbb954fbf148c0" /><Relationship Type="http://schemas.openxmlformats.org/officeDocument/2006/relationships/slide" Target="/ppt/slides/slide2.xml" Id="R281b5c64c516448a" /><Relationship Type="http://schemas.openxmlformats.org/officeDocument/2006/relationships/slide" Target="/ppt/slides/slide3.xml" Id="R727c272b27b248c9" /><Relationship Type="http://schemas.openxmlformats.org/officeDocument/2006/relationships/slide" Target="/ppt/slides/slide4.xml" Id="Rc440aea231d549b9" /><Relationship Type="http://schemas.openxmlformats.org/officeDocument/2006/relationships/slide" Target="/ppt/slides/slide5.xml" Id="R3f695d263d3d4564" /><Relationship Type="http://schemas.openxmlformats.org/officeDocument/2006/relationships/slide" Target="/ppt/slides/slide6.xml" Id="R29538ea98e644ede" /><Relationship Type="http://schemas.openxmlformats.org/officeDocument/2006/relationships/slide" Target="/ppt/slides/slide7.xml" Id="Ra7c6307488834abf" /><Relationship Type="http://schemas.openxmlformats.org/officeDocument/2006/relationships/slide" Target="/ppt/slides/slide8.xml" Id="R02c6f830375344ee" /><Relationship Type="http://schemas.openxmlformats.org/officeDocument/2006/relationships/slide" Target="/ppt/slides/slide9.xml" Id="Recc99469999c48db" /><Relationship Type="http://schemas.openxmlformats.org/officeDocument/2006/relationships/slide" Target="/ppt/slides/slide10.xml" Id="Ra2573beded834575" /><Relationship Type="http://schemas.openxmlformats.org/officeDocument/2006/relationships/slide" Target="/ppt/slides/slide11.xml" Id="Rf67130631e5a43a6" /><Relationship Type="http://schemas.openxmlformats.org/officeDocument/2006/relationships/slide" Target="/ppt/slides/slide12.xml" Id="R0199ddb16a5a4aaf" /><Relationship Type="http://schemas.openxmlformats.org/officeDocument/2006/relationships/slide" Target="/ppt/slides/slide13.xml" Id="R8d6cb898bcf44124" /><Relationship Type="http://schemas.openxmlformats.org/officeDocument/2006/relationships/slide" Target="/ppt/slides/slide14.xml" Id="R6894c6b58e81424c" /><Relationship Type="http://schemas.openxmlformats.org/officeDocument/2006/relationships/slide" Target="/ppt/slides/slide15.xml" Id="R16d7684628d04b03" /><Relationship Type="http://schemas.openxmlformats.org/officeDocument/2006/relationships/slide" Target="/ppt/slides/slide16.xml" Id="Rded20b36915246a1" /><Relationship Type="http://schemas.openxmlformats.org/officeDocument/2006/relationships/slide" Target="/ppt/slides/slide17.xml" Id="Ra3e4c3e15c064bb4" /><Relationship Type="http://schemas.openxmlformats.org/officeDocument/2006/relationships/slide" Target="/ppt/slides/slide18.xml" Id="R903cc861608d4997" /><Relationship Type="http://schemas.openxmlformats.org/officeDocument/2006/relationships/slide" Target="/ppt/slides/slide19.xml" Id="Rc8240f647ff34b31" /><Relationship Type="http://schemas.openxmlformats.org/officeDocument/2006/relationships/slide" Target="/ppt/slides/slide20.xml" Id="R1c9179a1755e434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b6db75f9b26406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f99a64bc5c547ec" /><Relationship Type="http://schemas.openxmlformats.org/officeDocument/2006/relationships/notesMaster" Target="/ppt/notesMasters/notesMaster1.xml" Id="R6d25268659454610" /></Relationships>
</file>

<file path=ppt/notesSlides/_rels/notesSlide2.xml.rels>&#65279;<?xml version="1.0" encoding="utf-8"?><Relationships xmlns="http://schemas.openxmlformats.org/package/2006/relationships"><Relationship Type="http://schemas.openxmlformats.org/officeDocument/2006/relationships/slide" Target="/ppt/slides/slide2.xml" Id="R0e34b52659f94ba8" /><Relationship Type="http://schemas.openxmlformats.org/officeDocument/2006/relationships/notesMaster" Target="/ppt/notesMasters/notesMaster1.xml" Id="Ra9637f4f53ba414a" /></Relationships>
</file>

<file path=ppt/notesSlides/_rels/notesSlide3.xml.rels>&#65279;<?xml version="1.0" encoding="utf-8"?><Relationships xmlns="http://schemas.openxmlformats.org/package/2006/relationships"><Relationship Type="http://schemas.openxmlformats.org/officeDocument/2006/relationships/slide" Target="/ppt/slides/slide3.xml" Id="Rec1302ba86784e6f" /><Relationship Type="http://schemas.openxmlformats.org/officeDocument/2006/relationships/notesMaster" Target="/ppt/notesMasters/notesMaster1.xml" Id="Rff6128543b5b402a" /></Relationships>
</file>

<file path=ppt/notesSlides/_rels/notesSlide4.xml.rels>&#65279;<?xml version="1.0" encoding="utf-8"?><Relationships xmlns="http://schemas.openxmlformats.org/package/2006/relationships"><Relationship Type="http://schemas.openxmlformats.org/officeDocument/2006/relationships/slide" Target="/ppt/slides/slide4.xml" Id="R6388004cf2fe4366" /><Relationship Type="http://schemas.openxmlformats.org/officeDocument/2006/relationships/notesMaster" Target="/ppt/notesMasters/notesMaster1.xml" Id="R01d03f19a91a462b" /></Relationships>
</file>

<file path=ppt/notesSlides/_rels/notesSlide5.xml.rels>&#65279;<?xml version="1.0" encoding="utf-8"?><Relationships xmlns="http://schemas.openxmlformats.org/package/2006/relationships"><Relationship Type="http://schemas.openxmlformats.org/officeDocument/2006/relationships/slide" Target="/ppt/slides/slide5.xml" Id="Ree363af750db4ad4" /><Relationship Type="http://schemas.openxmlformats.org/officeDocument/2006/relationships/notesMaster" Target="/ppt/notesMasters/notesMaster1.xml" Id="Rb53a4811f2524efe" /></Relationships>
</file>

<file path=ppt/notesSlides/_rels/notesSlide6.xml.rels>&#65279;<?xml version="1.0" encoding="utf-8"?><Relationships xmlns="http://schemas.openxmlformats.org/package/2006/relationships"><Relationship Type="http://schemas.openxmlformats.org/officeDocument/2006/relationships/slide" Target="/ppt/slides/slide6.xml" Id="R36d459842fac4332" /><Relationship Type="http://schemas.openxmlformats.org/officeDocument/2006/relationships/notesMaster" Target="/ppt/notesMasters/notesMaster1.xml" Id="R7b504cb3cea0406a" /></Relationships>
</file>

<file path=ppt/notesSlides/_rels/notesSlide7.xml.rels>&#65279;<?xml version="1.0" encoding="utf-8"?><Relationships xmlns="http://schemas.openxmlformats.org/package/2006/relationships"><Relationship Type="http://schemas.openxmlformats.org/officeDocument/2006/relationships/slide" Target="/ppt/slides/slide7.xml" Id="R4e795f9a63f449f9" /><Relationship Type="http://schemas.openxmlformats.org/officeDocument/2006/relationships/notesMaster" Target="/ppt/notesMasters/notesMaster1.xml" Id="R5c35064928e74360" /></Relationships>
</file>

<file path=ppt/notesSlides/_rels/notesSlide8.xml.rels>&#65279;<?xml version="1.0" encoding="utf-8"?><Relationships xmlns="http://schemas.openxmlformats.org/package/2006/relationships"><Relationship Type="http://schemas.openxmlformats.org/officeDocument/2006/relationships/slide" Target="/ppt/slides/slide8.xml" Id="Rc5e480d4b97c442c" /><Relationship Type="http://schemas.openxmlformats.org/officeDocument/2006/relationships/notesMaster" Target="/ppt/notesMasters/notesMaster1.xml" Id="R66b689e9e4114846" /></Relationships>
</file>

<file path=ppt/notesSlides/_rels/notesSlide9.xml.rels>&#65279;<?xml version="1.0" encoding="utf-8"?><Relationships xmlns="http://schemas.openxmlformats.org/package/2006/relationships"><Relationship Type="http://schemas.openxmlformats.org/officeDocument/2006/relationships/slide" Target="/ppt/slides/slide9.xml" Id="Rc0ff1a7e758b4f47" /><Relationship Type="http://schemas.openxmlformats.org/officeDocument/2006/relationships/notesMaster" Target="/ppt/notesMasters/notesMaster1.xml" Id="Re764de28b4ff4cb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af5a5452cac4e52" /><Relationship Type="http://schemas.openxmlformats.org/officeDocument/2006/relationships/notesMaster" Target="/ppt/notesMasters/notesMaster1.xml" Id="Rc9309983fdf04b5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1de040b1a8e4787" /><Relationship Type="http://schemas.openxmlformats.org/officeDocument/2006/relationships/notesMaster" Target="/ppt/notesMasters/notesMaster1.xml" Id="R4fbed79d186b46a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5efa80dc17648e1" /><Relationship Type="http://schemas.openxmlformats.org/officeDocument/2006/relationships/notesMaster" Target="/ppt/notesMasters/notesMaster1.xml" Id="R67eac7cadced4b2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cf05ed7204f4add" /><Relationship Type="http://schemas.openxmlformats.org/officeDocument/2006/relationships/notesMaster" Target="/ppt/notesMasters/notesMaster1.xml" Id="Rcd6a45b3c0aa4ac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6f8d2fb775d4668" /><Relationship Type="http://schemas.openxmlformats.org/officeDocument/2006/relationships/notesMaster" Target="/ppt/notesMasters/notesMaster1.xml" Id="R1ebfa88477424fb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2aa7f0c84f44979" /><Relationship Type="http://schemas.openxmlformats.org/officeDocument/2006/relationships/notesMaster" Target="/ppt/notesMasters/notesMaster1.xml" Id="R4530f00fb9f5463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a021fc50c734692" /><Relationship Type="http://schemas.openxmlformats.org/officeDocument/2006/relationships/notesMaster" Target="/ppt/notesMasters/notesMaster1.xml" Id="R4610007a46ae4e1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f9980444e9847d2" /><Relationship Type="http://schemas.openxmlformats.org/officeDocument/2006/relationships/notesMaster" Target="/ppt/notesMasters/notesMaster1.xml" Id="Re5aa7e69133246d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618cf96ef21474d" /><Relationship Type="http://schemas.openxmlformats.org/officeDocument/2006/relationships/notesMaster" Target="/ppt/notesMasters/notesMaster1.xml" Id="Rc8f9203816b344e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b9344b7038045e8" /><Relationship Type="http://schemas.openxmlformats.org/officeDocument/2006/relationships/notesMaster" Target="/ppt/notesMasters/notesMaster1.xml" Id="Recb2a301701e4db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b6e6feaff134699" /><Relationship Type="http://schemas.openxmlformats.org/officeDocument/2006/relationships/notesMaster" Target="/ppt/notesMasters/notesMaster1.xml" Id="Reea50e8c2d164e7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SPEAKER: Morris Sambo</a:t>
            </a:r>
          </a:p>
          <a:p xmlns:a="http://schemas.openxmlformats.org/drawingml/2006/main">
            <a:r>
              <a:t>TARGET TIME: 30 seconds</a:t>
            </a:r>
          </a:p>
          <a:p xmlns:a="http://schemas.openxmlformats.org/drawingml/2006/main">
            <a:r>
              <a:t/>
            </a:r>
          </a:p>
          <a:p xmlns:a="http://schemas.openxmlformats.org/drawingml/2006/main">
            <a:r>
              <a:t>Good day. We are VUT AI Solutions. Our project applies AI to a retail stock decision: how much should a small shop order? We created a Python application with a web dashboard and terminal chat. It forecasts recorded sales and uses entered stock information to suggest an order. Sunrise Mini Market is our fictional case study. We will explain the problem, data, model comparison and stock calculation, then show the application.</a:t>
            </a:r>
          </a:p>
          <a:p xmlns:a="http://schemas.openxmlformats.org/drawingml/2006/main">
            <a:r>
              <a:t/>
            </a:r>
          </a:p>
          <a:p xmlns:a="http://schemas.openxmlformats.org/drawingml/2006/main">
            <a:r>
              <a:t>SOURCE: Project report: docs/report.md</a:t>
            </a:r>
          </a:p>
          <a:p xmlns:a="http://schemas.openxmlformats.org/drawingml/2006/main">
            <a:r>
              <a:t/>
            </a:r>
          </a:p>
          <a:p xmlns:a="http://schemas.openxmlformats.org/drawingml/2006/main">
            <a:r>
              <a:t>The proposed speaking split covers all ten members. Agree roles together before the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SPEAKER: Morris Sambo</a:t>
            </a:r>
          </a:p>
          <a:p xmlns:a="http://schemas.openxmlformats.org/drawingml/2006/main">
            <a:r>
              <a:t>TARGET TIME: 60 seconds</a:t>
            </a:r>
          </a:p>
          <a:p xmlns:a="http://schemas.openxmlformats.org/drawingml/2006/main">
            <a:r>
              <a:t/>
            </a:r>
          </a:p>
          <a:p xmlns:a="http://schemas.openxmlformats.org/drawingml/2006/main">
            <a:r>
              <a:t>The manager currently checks recent sales and available stock, then decides how much to order. This is an assumed process for a fictional shop. Ordering too little can leave shelves empty. Ordering too much ties money up in slow-moving stock. We want a consistent estimate for the coming days before the manager buys more. More reliable availability could help local residents find goods and support small businesses in the municipality. Those are intended benefits. We have not measured savings or community outcomes.</a:t>
            </a:r>
          </a:p>
          <a:p xmlns:a="http://schemas.openxmlformats.org/drawingml/2006/main">
            <a:r>
              <a:t/>
            </a:r>
          </a:p>
          <a:p xmlns:a="http://schemas.openxmlformats.org/drawingml/2006/main">
            <a:r>
              <a:t>SOURCE: Project report: docs/report.md</a:t>
            </a:r>
          </a:p>
          <a:p xmlns:a="http://schemas.openxmlformats.org/drawingml/2006/main">
            <a:r>
              <a:t/>
            </a:r>
          </a:p>
          <a:p xmlns:a="http://schemas.openxmlformats.org/drawingml/2006/main">
            <a:r>
              <a:t>The proposed speaking split covers all ten members. Agree roles together before the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SPEAKER: Zama Angel Mtetwa</a:t>
            </a:r>
          </a:p>
          <a:p xmlns:a="http://schemas.openxmlformats.org/drawingml/2006/main">
            <a:r>
              <a:t>TARGET TIME: 60 seconds</a:t>
            </a:r>
          </a:p>
          <a:p xmlns:a="http://schemas.openxmlformats.org/drawingml/2006/main">
            <a:r>
              <a:t/>
            </a:r>
          </a:p>
          <a:p xmlns:a="http://schemas.openxmlformats.org/drawingml/2006/main">
            <a:r>
              <a:t>Our first objective is a consistent forecast: seven dated values for every selected product. The second is forecast quality: compare on the same dates and improve on the simple weekly benchmark. The third is an understandable stock calculation that handles invalid inputs. Finally, we want useful English questions. Our recorded intent evaluation recognised 24 of 25 supported requests. These are measurable prototype criteria. Reducing real business costs would need a separate trial with inventory and price data.</a:t>
            </a:r>
          </a:p>
          <a:p xmlns:a="http://schemas.openxmlformats.org/drawingml/2006/main">
            <a:r>
              <a:t/>
            </a:r>
          </a:p>
          <a:p xmlns:a="http://schemas.openxmlformats.org/drawingml/2006/main">
            <a:r>
              <a:t>SOURCE: Project report: docs/report.md</a:t>
            </a:r>
          </a:p>
          <a:p xmlns:a="http://schemas.openxmlformats.org/drawingml/2006/main">
            <a:r>
              <a:t/>
            </a:r>
          </a:p>
          <a:p xmlns:a="http://schemas.openxmlformats.org/drawingml/2006/main">
            <a:r>
              <a:t>The proposed speaking split covers all ten members. Agree roles together before the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SPEAKER: Zama Angel Mtetwa</a:t>
            </a:r>
          </a:p>
          <a:p xmlns:a="http://schemas.openxmlformats.org/drawingml/2006/main">
            <a:r>
              <a:t>TARGET TIME: 60 seconds</a:t>
            </a:r>
          </a:p>
          <a:p xmlns:a="http://schemas.openxmlformats.org/drawingml/2006/main">
            <a:r>
              <a:t/>
            </a:r>
          </a:p>
          <a:p xmlns:a="http://schemas.openxmlformats.org/drawingml/2006/main">
            <a:r>
              <a:t>The application must let the user choose a product, inspect history, view a forecast and enter stock inputs. It must reject negative values and requests outside the seven-day coverage limit. Our scope stays small so the group can explain it. Historical data and missing supplier records limit business claims. Two technical risks are future information leaking into training and a demonstration failing. We address these through chronological splits, input checks, saved models and a second-computer rehearsal. GitHub Projects tracks work, and discussions record coordination.</a:t>
            </a:r>
          </a:p>
          <a:p xmlns:a="http://schemas.openxmlformats.org/drawingml/2006/main">
            <a:r>
              <a:t/>
            </a:r>
          </a:p>
          <a:p xmlns:a="http://schemas.openxmlformats.org/drawingml/2006/main">
            <a:r>
              <a:t>SOURCE: Project report: docs/report.md</a:t>
            </a:r>
          </a:p>
          <a:p xmlns:a="http://schemas.openxmlformats.org/drawingml/2006/main">
            <a:r>
              <a:t/>
            </a:r>
          </a:p>
          <a:p xmlns:a="http://schemas.openxmlformats.org/drawingml/2006/main">
            <a:r>
              <a:t>The proposed speaking split covers all ten members. Agree roles together before the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SPEAKER: Mick Ndaj Kongal</a:t>
            </a:r>
          </a:p>
          <a:p xmlns:a="http://schemas.openxmlformats.org/drawingml/2006/main">
            <a:r>
              <a:t>TARGET TIME: 60 seconds</a:t>
            </a:r>
          </a:p>
          <a:p xmlns:a="http://schemas.openxmlformats.org/drawingml/2006/main">
            <a:r>
              <a:t/>
            </a:r>
          </a:p>
          <a:p xmlns:a="http://schemas.openxmlformats.org/drawingml/2006/main">
            <a:r>
              <a:t>We use Kaggle’s Store Item Demand Forecasting dataset. The original training file has 913,000 rows covering 2013 to 2017, ten stores and fifty items. Our selected subset has 9,130 rows for store 1 and items 1 to 5. Date is temporal information. Store and item are categorical IDs even though they use numbers. Sales is a numerical count and our prediction target. The actual product names are unknown. This keeps the demonstration honest and manageable.</a:t>
            </a:r>
          </a:p>
          <a:p xmlns:a="http://schemas.openxmlformats.org/drawingml/2006/main">
            <a:r>
              <a:t/>
            </a:r>
          </a:p>
          <a:p xmlns:a="http://schemas.openxmlformats.org/drawingml/2006/main">
            <a:r>
              <a:t>SOURCE: Kaggle: https://www.kaggle.com/competitions/demand-forecasting-kernels-only/data; report Sections 5.1–5.2</a:t>
            </a:r>
          </a:p>
          <a:p xmlns:a="http://schemas.openxmlformats.org/drawingml/2006/main">
            <a:r>
              <a:t/>
            </a:r>
          </a:p>
          <a:p xmlns:a="http://schemas.openxmlformats.org/drawingml/2006/main">
            <a:r>
              <a:t>The proposed speaking split covers all ten members. Agree roles together before the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SPEAKER: Mick Ndaj Kongal</a:t>
            </a:r>
          </a:p>
          <a:p xmlns:a="http://schemas.openxmlformats.org/drawingml/2006/main">
            <a:r>
              <a:t>TARGET TIME: 45 seconds</a:t>
            </a:r>
          </a:p>
          <a:p xmlns:a="http://schemas.openxmlformats.org/drawingml/2006/main">
            <a:r>
              <a:t/>
            </a:r>
          </a:p>
          <a:p xmlns:a="http://schemas.openxmlformats.org/drawingml/2006/main">
            <a:r>
              <a:t>We explored only the development period, 2013 to 2016. In our selected subset, average daily sales were 21.88 units on Mondays and 33.01 on Sundays. That suggests weekdays matter. It supports both a weekly benchmark and weekday features in random forest. These averages combine the five products. We still evaluate their errors individually. A pattern in the chart does not prove why people bought more, and this dataset cannot tell us about South African paydays or load shedding.</a:t>
            </a:r>
          </a:p>
          <a:p xmlns:a="http://schemas.openxmlformats.org/drawingml/2006/main">
            <a:r>
              <a:t/>
            </a:r>
          </a:p>
          <a:p xmlns:a="http://schemas.openxmlformats.org/drawingml/2006/main">
            <a:r>
              <a:t>SOURCE: Selected Kaggle train.csv, store 1/items 1–5, 2013–2016; docs/assets/weekday_sales.png</a:t>
            </a:r>
          </a:p>
          <a:p xmlns:a="http://schemas.openxmlformats.org/drawingml/2006/main">
            <a:r>
              <a:t/>
            </a:r>
          </a:p>
          <a:p xmlns:a="http://schemas.openxmlformats.org/drawingml/2006/main">
            <a:r>
              <a:t>The proposed speaking split covers all ten members. Agree roles together before the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SPEAKER: Percy Mduduzi Jr Dlamini</a:t>
            </a:r>
          </a:p>
          <a:p xmlns:a="http://schemas.openxmlformats.org/drawingml/2006/main">
            <a:r>
              <a:t>TARGET TIME: 45 seconds</a:t>
            </a:r>
          </a:p>
          <a:p xmlns:a="http://schemas.openxmlformats.org/drawingml/2006/main">
            <a:r>
              <a:t/>
            </a:r>
          </a:p>
          <a:p xmlns:a="http://schemas.openxmlformats.org/drawingml/2006/main">
            <a:r>
              <a:t>A feature is information a model uses to make a prediction. A target is the value we want it to predict. Here the targets are the next seven daily sales quantities. Random forest uses the previous 28 days, recent averages and known calendar information. We prepare separate series for each item. We found no missing cells, duplicate keys or negative sales in the source. Most importantly, a forecast can only use information available before its date. Otherwise the test result would be misleading.</a:t>
            </a:r>
          </a:p>
          <a:p xmlns:a="http://schemas.openxmlformats.org/drawingml/2006/main">
            <a:r>
              <a:t/>
            </a:r>
          </a:p>
          <a:p xmlns:a="http://schemas.openxmlformats.org/drawingml/2006/main">
            <a:r>
              <a:t>SOURCE: Project report: docs/report.md</a:t>
            </a:r>
          </a:p>
          <a:p xmlns:a="http://schemas.openxmlformats.org/drawingml/2006/main">
            <a:r>
              <a:t/>
            </a:r>
          </a:p>
          <a:p xmlns:a="http://schemas.openxmlformats.org/drawingml/2006/main">
            <a:r>
              <a:t>The proposed speaking split covers all ten members. Agree roles together before the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SPEAKER: Percy Mduduzi Jr Dlamini</a:t>
            </a:r>
          </a:p>
          <a:p xmlns:a="http://schemas.openxmlformats.org/drawingml/2006/main">
            <a:r>
              <a:t>TARGET TIME: 60 seconds</a:t>
            </a:r>
          </a:p>
          <a:p xmlns:a="http://schemas.openxmlformats.org/drawingml/2006/main">
            <a:r>
              <a:t/>
            </a:r>
          </a:p>
          <a:p xmlns:a="http://schemas.openxmlformats.org/drawingml/2006/main">
            <a:r>
              <a:t>Training fits the models. Validation helps us choose a method without looking at the final test. Final testing checks the frozen choice on later data. We used 2013 to 2015 for initial fitting, 2016 for validation and 2017 for final evaluation. Each evaluation used 52 complete weeks per product on identical dates. History advances each week but model weights stay fixed during that evaluation. We refit through 2016 before testing 2017. Keeping time in order prevents the future from influencing the past.</a:t>
            </a:r>
          </a:p>
          <a:p xmlns:a="http://schemas.openxmlformats.org/drawingml/2006/main">
            <a:r>
              <a:t/>
            </a:r>
          </a:p>
          <a:p xmlns:a="http://schemas.openxmlformats.org/drawingml/2006/main">
            <a:r>
              <a:t>SOURCE: Project report: docs/report.md</a:t>
            </a:r>
          </a:p>
          <a:p xmlns:a="http://schemas.openxmlformats.org/drawingml/2006/main">
            <a:r>
              <a:t/>
            </a:r>
          </a:p>
          <a:p xmlns:a="http://schemas.openxmlformats.org/drawingml/2006/main">
            <a:r>
              <a:t>The proposed speaking split covers all ten members. Agree roles together before the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SPEAKER: Neo Mokoena</a:t>
            </a:r>
          </a:p>
          <a:p xmlns:a="http://schemas.openxmlformats.org/drawingml/2006/main">
            <a:r>
              <a:t>TARGET TIME: 60 seconds</a:t>
            </a:r>
          </a:p>
          <a:p xmlns:a="http://schemas.openxmlformats.org/drawingml/2006/main">
            <a:r>
              <a:t/>
            </a:r>
          </a:p>
          <a:p xmlns:a="http://schemas.openxmlformats.org/drawingml/2006/main">
            <a:r>
              <a:t>The weekly seasonal naive method repeats the last observed week on matching weekdays. It is our benchmark: a simple method the learned models should beat. Random forest combines many decision trees. It learns relationships between recent sales, calendar features and future sales. LSTM stands for Long Short-Term Memory. It is a neural network designed to learn from sequences. We compare all three on the same dates. We do not assume the most complicated method will perform best.</a:t>
            </a:r>
          </a:p>
          <a:p xmlns:a="http://schemas.openxmlformats.org/drawingml/2006/main">
            <a:r>
              <a:t/>
            </a:r>
          </a:p>
          <a:p xmlns:a="http://schemas.openxmlformats.org/drawingml/2006/main">
            <a:r>
              <a:t>SOURCE: Report Section 4; https://otexts.com/fpp3/simple-methods.html; https://scikit-learn.org/stable/modules/generated/sklearn.ensemble.RandomForestRegressor.html; https://keras.io/api/layers/recurrent_layers/lstm/</a:t>
            </a:r>
          </a:p>
          <a:p xmlns:a="http://schemas.openxmlformats.org/drawingml/2006/main">
            <a:r>
              <a:t/>
            </a:r>
          </a:p>
          <a:p xmlns:a="http://schemas.openxmlformats.org/drawingml/2006/main">
            <a:r>
              <a:t>The proposed speaking split covers all ten members. Agree roles together before the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SPEAKER: Neo Mokoena</a:t>
            </a:r>
          </a:p>
          <a:p xmlns:a="http://schemas.openxmlformats.org/drawingml/2006/main">
            <a:r>
              <a:t>TARGET TIME: 45 seconds</a:t>
            </a:r>
          </a:p>
          <a:p xmlns:a="http://schemas.openxmlformats.org/drawingml/2006/main">
            <a:r>
              <a:t/>
            </a:r>
          </a:p>
          <a:p xmlns:a="http://schemas.openxmlformats.org/drawingml/2006/main">
            <a:r>
              <a:t>Our LSTM is deliberately small. For each product, it reads 28 past daily sales values, processes them through one layer with 16 LSTM units and predicts seven future days. Training uses only past data for scaling. We stop if validation loss fails to improve for five epochs, with a maximum of fifty. An epoch is one pass through the training data. We fix those training choices before testing 2017. The LSTM performed better on weekly totals but did not win the chosen daily error measure.</a:t>
            </a:r>
          </a:p>
          <a:p xmlns:a="http://schemas.openxmlformats.org/drawingml/2006/main">
            <a:r>
              <a:t/>
            </a:r>
          </a:p>
          <a:p xmlns:a="http://schemas.openxmlformats.org/drawingml/2006/main">
            <a:r>
              <a:t>SOURCE: Report Section 9; https://keras.io/api/layers/recurrent_layers/lstm/; https://keras.io/api/callbacks/early_stopping/</a:t>
            </a:r>
          </a:p>
          <a:p xmlns:a="http://schemas.openxmlformats.org/drawingml/2006/main">
            <a:r>
              <a:t/>
            </a:r>
          </a:p>
          <a:p xmlns:a="http://schemas.openxmlformats.org/drawingml/2006/main">
            <a:r>
              <a:t>The proposed speaking split covers all ten members. Agree roles together before the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SPEAKER: Ungakimi Nkambule</a:t>
            </a:r>
          </a:p>
          <a:p xmlns:a="http://schemas.openxmlformats.org/drawingml/2006/main">
            <a:r>
              <a:t>TARGET TIME: 75 seconds</a:t>
            </a:r>
          </a:p>
          <a:p xmlns:a="http://schemas.openxmlformats.org/drawingml/2006/main">
            <a:r>
              <a:t/>
            </a:r>
          </a:p>
          <a:p xmlns:a="http://schemas.openxmlformats.org/drawingml/2006/main">
            <a:r>
              <a:t>MAE means mean absolute error. It is the average size of a prediction error in units. If we predict twelve units and observe ten, that error is two units. A lower MAE is better. We selected the model using daily validation MAE in 2016. The weekly benchmark scored 6.320, LSTM 5.439 and random forest 4.911. Random forest therefore won our predefined criterion. RMSE is another measure that gives large errors more weight. We report it in the documentation, but it did not decide model selection.</a:t>
            </a:r>
          </a:p>
          <a:p xmlns:a="http://schemas.openxmlformats.org/drawingml/2006/main">
            <a:r>
              <a:t/>
            </a:r>
          </a:p>
          <a:p xmlns:a="http://schemas.openxmlformats.org/drawingml/2006/main">
            <a:r>
              <a:t>SOURCE: Report Sections 6.2–6.4; https://scikit-learn.org/stable/modules/generated/sklearn.metrics.mean_absolute_error.html</a:t>
            </a:r>
          </a:p>
          <a:p xmlns:a="http://schemas.openxmlformats.org/drawingml/2006/main">
            <a:r>
              <a:t/>
            </a:r>
          </a:p>
          <a:p xmlns:a="http://schemas.openxmlformats.org/drawingml/2006/main">
            <a:r>
              <a:t>The proposed speaking split covers all ten members. Agree roles together before the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SPEAKER: Ungakimi Nkambule</a:t>
            </a:r>
          </a:p>
          <a:p xmlns:a="http://schemas.openxmlformats.org/drawingml/2006/main">
            <a:r>
              <a:t>TARGET TIME: 75 seconds</a:t>
            </a:r>
          </a:p>
          <a:p xmlns:a="http://schemas.openxmlformats.org/drawingml/2006/main">
            <a:r>
              <a:t/>
            </a:r>
          </a:p>
          <a:p xmlns:a="http://schemas.openxmlformats.org/drawingml/2006/main">
            <a:r>
              <a:t>The final evaluation uses 2017, after model selection. Random forest’s daily MAE is 4.812 units, compared with 6.273 for the weekly benchmark and 5.411 for LSTM. The relative reduction versus the benchmark is about 23.3 percent. This is a reduction in average error, not a claim of 76.7 or 97 percent accuracy. LSTM has the lowest weekly-total MAE, 17.343 units. That means our daily winner is not automatically the best method for every stock-planning objective. Our findings apply to this selected store, items and model settings.</a:t>
            </a:r>
          </a:p>
          <a:p xmlns:a="http://schemas.openxmlformats.org/drawingml/2006/main">
            <a:r>
              <a:t/>
            </a:r>
          </a:p>
          <a:p xmlns:a="http://schemas.openxmlformats.org/drawingml/2006/main">
            <a:r>
              <a:t>SOURCE: Report Section 6.4, frozen 2017 model comparison</a:t>
            </a:r>
          </a:p>
          <a:p xmlns:a="http://schemas.openxmlformats.org/drawingml/2006/main">
            <a:r>
              <a:t/>
            </a:r>
          </a:p>
          <a:p xmlns:a="http://schemas.openxmlformats.org/drawingml/2006/main">
            <a:r>
              <a:t>The proposed speaking split covers all ten members. Agree roles together before the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SPEAKER: Senamile Nhlanhla</a:t>
            </a:r>
          </a:p>
          <a:p xmlns:a="http://schemas.openxmlformats.org/drawingml/2006/main">
            <a:r>
              <a:t>TARGET TIME: 60 seconds</a:t>
            </a:r>
          </a:p>
          <a:p xmlns:a="http://schemas.openxmlformats.org/drawingml/2006/main">
            <a:r>
              <a:t/>
            </a:r>
          </a:p>
          <a:p xmlns:a="http://schemas.openxmlformats.org/drawingml/2006/main">
            <a:r>
              <a:t>Lead time is how long the supplier takes to deliver. The review interval is how many additional days we want the order to cover. We add the two to get our coverage period and limit that total to seven days. Buffer stock is an extra fixed quantity entered by the user. Inventory position means available stock plus outstanding units due within the coverage period. These values do not come from Kaggle. We enter them for the demonstration. The system uses explicit arrival assumptions and warns if available stock may run out before delivery.</a:t>
            </a:r>
          </a:p>
          <a:p xmlns:a="http://schemas.openxmlformats.org/drawingml/2006/main">
            <a:r>
              <a:t/>
            </a:r>
          </a:p>
          <a:p xmlns:a="http://schemas.openxmlformats.org/drawingml/2006/main">
            <a:r>
              <a:t>SOURCE: Project report: docs/report.md</a:t>
            </a:r>
          </a:p>
          <a:p xmlns:a="http://schemas.openxmlformats.org/drawingml/2006/main">
            <a:r>
              <a:t/>
            </a:r>
          </a:p>
          <a:p xmlns:a="http://schemas.openxmlformats.org/drawingml/2006/main">
            <a:r>
              <a:t>The proposed speaking split covers all ten members. Agree roles together before the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SPEAKER: Senamile Nhlanhla</a:t>
            </a:r>
          </a:p>
          <a:p xmlns:a="http://schemas.openxmlformats.org/drawingml/2006/main">
            <a:r>
              <a:t>TARGET TIME: 90 seconds</a:t>
            </a:r>
          </a:p>
          <a:p xmlns:a="http://schemas.openxmlformats.org/drawingml/2006/main">
            <a:r>
              <a:t/>
            </a:r>
          </a:p>
          <a:p xmlns:a="http://schemas.openxmlformats.org/drawingml/2006/main">
            <a:r>
              <a:t>This example matches the dashboard. We have fifty units available and no outstanding order. Supplier lead time is two days and the review interval is three, so coverage is five days. The model predicts 77.52 units across those five days. Adding a buffer of ten gives target stock of 87.52 units. Subtract the fifty available units to get 37.52. We round up because the order uses whole units, giving thirty-eight. If the available stock already exceeded the target, we would suggest zero. This is a planning calculation using demonstration inputs, not an observed purchase or saving.</a:t>
            </a:r>
          </a:p>
          <a:p xmlns:a="http://schemas.openxmlformats.org/drawingml/2006/main">
            <a:r>
              <a:t/>
            </a:r>
          </a:p>
          <a:p xmlns:a="http://schemas.openxmlformats.org/drawingml/2006/main">
            <a:r>
              <a:t>SOURCE: Project report: docs/report.md</a:t>
            </a:r>
          </a:p>
          <a:p xmlns:a="http://schemas.openxmlformats.org/drawingml/2006/main">
            <a:r>
              <a:t/>
            </a:r>
          </a:p>
          <a:p xmlns:a="http://schemas.openxmlformats.org/drawingml/2006/main">
            <a:r>
              <a:t>The proposed speaking split covers all ten members. Agree roles together before the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SPEAKER: Sibongiseni John Mokobori</a:t>
            </a:r>
          </a:p>
          <a:p xmlns:a="http://schemas.openxmlformats.org/drawingml/2006/main">
            <a:r>
              <a:t>TARGET TIME: 60 seconds</a:t>
            </a:r>
          </a:p>
          <a:p xmlns:a="http://schemas.openxmlformats.org/drawingml/2006/main">
            <a:r>
              <a:t/>
            </a:r>
          </a:p>
          <a:p xmlns:a="http://schemas.openxmlformats.org/drawingml/2006/main">
            <a:r>
              <a:t>NLP means natural language processing. Our system recognises the type of request rather than using a general online language model. First it cleans the English text. TF-IDF, which stands for term frequency–inverse document frequency, turns words and word pairs into numerical features. Logistic regression predicts one of five intents: forecast, reorder, history, performance or help. The application then retrieves the relevant saved values and formats the answer. A confidence threshold rejects unrelated questions. This makes the answers traceable to the application’s data.</a:t>
            </a:r>
          </a:p>
          <a:p xmlns:a="http://schemas.openxmlformats.org/drawingml/2006/main">
            <a:r>
              <a:t/>
            </a:r>
          </a:p>
          <a:p xmlns:a="http://schemas.openxmlformats.org/drawingml/2006/main">
            <a:r>
              <a:t>SOURCE: Report Section 8; https://scikit-learn.org/stable/modules/generated/sklearn.feature_extraction.text.TfidfVectorizer.html</a:t>
            </a:r>
          </a:p>
          <a:p xmlns:a="http://schemas.openxmlformats.org/drawingml/2006/main">
            <a:r>
              <a:t/>
            </a:r>
          </a:p>
          <a:p xmlns:a="http://schemas.openxmlformats.org/drawingml/2006/main">
            <a:r>
              <a:t>The proposed speaking split covers all ten members. Agree roles together before the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SPEAKER: Sibongiseni John Mokobori</a:t>
            </a:r>
          </a:p>
          <a:p xmlns:a="http://schemas.openxmlformats.org/drawingml/2006/main">
            <a:r>
              <a:t>TARGET TIME: 45 seconds</a:t>
            </a:r>
          </a:p>
          <a:p xmlns:a="http://schemas.openxmlformats.org/drawingml/2006/main">
            <a:r>
              <a:t/>
            </a:r>
          </a:p>
          <a:p xmlns:a="http://schemas.openxmlformats.org/drawingml/2006/main">
            <a:r>
              <a:t>The assistant helps users explore the same values shown in the application. It can retrieve a forecast, compare products, summarise history, explain an order and define terms. It remembers the last supported product, so after a Product 2 question we can ask “and Product 3?” and receive Product 3’s own forecast. Stock questions need a valid stock calculation for the selected product. Web and terminal interfaces share the forecasting and stock logic but keep separate session inputs. If the question is unsupported, the assistant shows what it can help with.</a:t>
            </a:r>
          </a:p>
          <a:p xmlns:a="http://schemas.openxmlformats.org/drawingml/2006/main">
            <a:r>
              <a:t/>
            </a:r>
          </a:p>
          <a:p xmlns:a="http://schemas.openxmlformats.org/drawingml/2006/main">
            <a:r>
              <a:t>SOURCE: Project report: docs/report.md</a:t>
            </a:r>
          </a:p>
          <a:p xmlns:a="http://schemas.openxmlformats.org/drawingml/2006/main">
            <a:r>
              <a:t/>
            </a:r>
          </a:p>
          <a:p xmlns:a="http://schemas.openxmlformats.org/drawingml/2006/main">
            <a:r>
              <a:t>The proposed speaking split covers all ten members. Agree roles together before the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SPEAKER: Buhle Refiloe Mdluli</a:t>
            </a:r>
          </a:p>
          <a:p xmlns:a="http://schemas.openxmlformats.org/drawingml/2006/main">
            <a:r>
              <a:t>TARGET TIME: 120 seconds</a:t>
            </a:r>
          </a:p>
          <a:p xmlns:a="http://schemas.openxmlformats.org/drawingml/2006/main">
            <a:r>
              <a:t/>
            </a:r>
          </a:p>
          <a:p xmlns:a="http://schemas.openxmlformats.org/drawingml/2006/main">
            <a:r>
              <a:t>Spend two minutes showing the actual application. Select Product 1 and point out the seven January 2018 dates. State clearly that these are historical demonstration estimates. Enter stock fifty, outstanding zero, lead time two, review three and buffer ten. Calculate and show the thirty-eight-unit order. Ask a forecast question or a product comparison, then briefly show the model results. If time allows, demonstrate an invalid coverage request. If the app fails, use this actual screenshot to explain the same calculation. No backup video is assumed to exist.</a:t>
            </a:r>
          </a:p>
          <a:p xmlns:a="http://schemas.openxmlformats.org/drawingml/2006/main">
            <a:r>
              <a:t/>
            </a:r>
          </a:p>
          <a:p xmlns:a="http://schemas.openxmlformats.org/drawingml/2006/main">
            <a:r>
              <a:t>SOURCE: Project report: docs/report.md</a:t>
            </a:r>
          </a:p>
          <a:p xmlns:a="http://schemas.openxmlformats.org/drawingml/2006/main">
            <a:r>
              <a:t/>
            </a:r>
          </a:p>
          <a:p xmlns:a="http://schemas.openxmlformats.org/drawingml/2006/main">
            <a:r>
              <a:t>The proposed speaking split covers all ten members. Agree roles together before the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SPEAKER: Buhle Refiloe Mdluli</a:t>
            </a:r>
          </a:p>
          <a:p xmlns:a="http://schemas.openxmlformats.org/drawingml/2006/main">
            <a:r>
              <a:t>TARGET TIME: 60 seconds</a:t>
            </a:r>
          </a:p>
          <a:p xmlns:a="http://schemas.openxmlformats.org/drawingml/2006/main">
            <a:r>
              <a:t/>
            </a:r>
          </a:p>
          <a:p xmlns:a="http://schemas.openxmlformats.org/drawingml/2006/main">
            <a:r>
              <a:t>The latest full automated suite passed all seventy-nine tests on 16 October 2026, with no skips. Tests cover the web and terminal interfaces, forecasts, follow-up context, product-specific stock inputs, invalid values and model loading. Our recorded classifier evaluation recognised twenty-four of twenty-five supported requests and rejected all eight unrelated requests. One history question was incorrectly classified as forecast. These small curated evaluations do not establish unrestricted language understanding. Technical checks and second-computer rehearsal support the implementation. We do not claim independent human usability results.</a:t>
            </a:r>
          </a:p>
          <a:p xmlns:a="http://schemas.openxmlformats.org/drawingml/2006/main">
            <a:r>
              <a:t/>
            </a:r>
          </a:p>
          <a:p xmlns:a="http://schemas.openxmlformats.org/drawingml/2006/main">
            <a:r>
              <a:t>SOURCE: Project report: docs/report.md</a:t>
            </a:r>
          </a:p>
          <a:p xmlns:a="http://schemas.openxmlformats.org/drawingml/2006/main">
            <a:r>
              <a:t/>
            </a:r>
          </a:p>
          <a:p xmlns:a="http://schemas.openxmlformats.org/drawingml/2006/main">
            <a:r>
              <a:t>The proposed speaking split covers all ten members. Agree roles together before the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SPEAKER: Wandile Samuel Mazibuko</a:t>
            </a:r>
          </a:p>
          <a:p xmlns:a="http://schemas.openxmlformats.org/drawingml/2006/main">
            <a:r>
              <a:t>TARGET TIME: 45 seconds</a:t>
            </a:r>
          </a:p>
          <a:p xmlns:a="http://schemas.openxmlformats.org/drawingml/2006/main">
            <a:r>
              <a:t/>
            </a:r>
          </a:p>
          <a:p xmlns:a="http://schemas.openxmlformats.org/drawingml/2006/main">
            <a:r>
              <a:t>Our findings are limited to the selected historical data and settings. The app’s January 2018 forecast has no observed outcomes in the training dataset, so we cannot give accuracy for those seven estimates. The dataset lacks inventory, cost and supplier records. That is why stock inputs are manual and why we cannot claim achieved savings or fewer stockouts. We would need an inventory simulation or a retailer trial for those business outcomes. These limits help a manager understand how to use the prototype responsibly.</a:t>
            </a:r>
          </a:p>
          <a:p xmlns:a="http://schemas.openxmlformats.org/drawingml/2006/main">
            <a:r>
              <a:t/>
            </a:r>
          </a:p>
          <a:p xmlns:a="http://schemas.openxmlformats.org/drawingml/2006/main">
            <a:r>
              <a:t>SOURCE: Project report: docs/report.md</a:t>
            </a:r>
          </a:p>
          <a:p xmlns:a="http://schemas.openxmlformats.org/drawingml/2006/main">
            <a:r>
              <a:t/>
            </a:r>
          </a:p>
          <a:p xmlns:a="http://schemas.openxmlformats.org/drawingml/2006/main">
            <a:r>
              <a:t>The proposed speaking split covers all ten members. Agree roles together before the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SPEAKER: Wandile Samuel Mazibuko</a:t>
            </a:r>
          </a:p>
          <a:p xmlns:a="http://schemas.openxmlformats.org/drawingml/2006/main">
            <a:r>
              <a:t>TARGET TIME: 45 seconds</a:t>
            </a:r>
          </a:p>
          <a:p xmlns:a="http://schemas.openxmlformats.org/drawingml/2006/main">
            <a:r>
              <a:t/>
            </a:r>
          </a:p>
          <a:p xmlns:a="http://schemas.openxmlformats.org/drawingml/2006/main">
            <a:r>
              <a:t>Our project connects a business problem to a small working Python solution. We compared a simple weekly benchmark, random forest and LSTM fairly through time. Random forest achieved the lowest daily error, and the application turns the forecast into an understandable stock calculation. The text assistant helps users explore that information. The group’s report, poster, source code and recorded tests support these conclusions. Thank the lecturer and invite questions. Allow five minutes for questions after the twenty-minute presentation. If asked why random forest rather than LSTM, explain the predefined daily MAE criterion and acknowledge LSTM’s better weekly totals.</a:t>
            </a:r>
          </a:p>
          <a:p xmlns:a="http://schemas.openxmlformats.org/drawingml/2006/main">
            <a:r>
              <a:t/>
            </a:r>
          </a:p>
          <a:p xmlns:a="http://schemas.openxmlformats.org/drawingml/2006/main">
            <a:r>
              <a:t>SOURCE: Project report: docs/report.md</a:t>
            </a:r>
          </a:p>
          <a:p xmlns:a="http://schemas.openxmlformats.org/drawingml/2006/main">
            <a:r>
              <a:t/>
            </a:r>
          </a:p>
          <a:p xmlns:a="http://schemas.openxmlformats.org/drawingml/2006/main">
            <a:r>
              <a:t>The proposed speaking split covers all ten members. Agree roles together before the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abda49cb4ff45c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da9b48daf424f8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6eb0b423eab43d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ecab04f0fb5490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9c02718311c411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a290c4c2679472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16A39E1-AB8E-4C79-85C8-C33994F26BB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5F23C23-058D-4A96-831F-066EC6C6829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64D5A8B-2839-4F0C-90CA-7763D4706AD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F876D2F-B716-40EB-8EDE-BBEA071C906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A40392E-AE70-4EF4-A07A-CD9D18DA476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BE1BAD6-A720-4031-8256-D92C46968C6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50609F2-2E64-4D5B-A470-4EC396D4CA9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F1B886F-5516-41CB-B95E-3E5C2422BDCD}"/>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F386DD4-62D4-44FF-8F3E-5C93FA089C8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22486B8-B047-4B01-91BB-9B7EF603937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a428dd524194895" /><Relationship Type="http://schemas.openxmlformats.org/officeDocument/2006/relationships/slideLayout" Target="/ppt/slideLayouts/slideLayout1.xml" Id="R1c2b5a18cacd4e4b" /><Relationship Type="http://schemas.openxmlformats.org/officeDocument/2006/relationships/slideLayout" Target="/ppt/slideLayouts/slideLayout2.xml" Id="R91a60c9f222648c5" /><Relationship Type="http://schemas.openxmlformats.org/officeDocument/2006/relationships/slideLayout" Target="/ppt/slideLayouts/slideLayout3.xml" Id="Rc74ad1c055944e3e" /><Relationship Type="http://schemas.openxmlformats.org/officeDocument/2006/relationships/slideLayout" Target="/ppt/slideLayouts/slideLayout4.xml" Id="R95145643a7c64436" /><Relationship Type="http://schemas.openxmlformats.org/officeDocument/2006/relationships/slideLayout" Target="/ppt/slideLayouts/slideLayout5.xml" Id="Rd67ae2c922054b1b" /><Relationship Type="http://schemas.openxmlformats.org/officeDocument/2006/relationships/slideLayout" Target="/ppt/slideLayouts/slideLayout6.xml" Id="R6d1e641e2164456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c2b5a18cacd4e4b"/>
    <p:sldLayoutId xmlns:r="http://schemas.openxmlformats.org/officeDocument/2006/relationships" id="2147483650" r:id="R91a60c9f222648c5"/>
    <p:sldLayoutId xmlns:r="http://schemas.openxmlformats.org/officeDocument/2006/relationships" id="2147483651" r:id="Rc74ad1c055944e3e"/>
    <p:sldLayoutId xmlns:r="http://schemas.openxmlformats.org/officeDocument/2006/relationships" id="2147483652" r:id="R95145643a7c64436"/>
    <p:sldLayoutId xmlns:r="http://schemas.openxmlformats.org/officeDocument/2006/relationships" id="2147483653" r:id="Rd67ae2c922054b1b"/>
    <p:sldLayoutId xmlns:r="http://schemas.openxmlformats.org/officeDocument/2006/relationships" id="2147483654" r:id="R6d1e641e2164456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710c9bc1f924fcd" /><Relationship Type="http://schemas.openxmlformats.org/officeDocument/2006/relationships/notesSlide" Target="/ppt/notesSlides/notesSlide1.xml" Id="R1a499801a35d4ba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33472b35d4a4702" /><Relationship Type="http://schemas.openxmlformats.org/officeDocument/2006/relationships/notesSlide" Target="/ppt/notesSlides/notesSlide2.xml" Id="R3e7025b6f495438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47ea654fe0b4c22" /><Relationship Type="http://schemas.openxmlformats.org/officeDocument/2006/relationships/notesSlide" Target="/ppt/notesSlides/notesSlide3.xml" Id="R240ec7bc18964e1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151941bdddb43d3" /><Relationship Type="http://schemas.openxmlformats.org/officeDocument/2006/relationships/notesSlide" Target="/ppt/notesSlides/notesSlide4.xml" Id="R6a3f9ef1c03349e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29e7e87be1a494c" /><Relationship Type="http://schemas.openxmlformats.org/officeDocument/2006/relationships/notesSlide" Target="/ppt/notesSlides/notesSlide5.xml" Id="R24e5a237fe2e465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3cb4b74bb38451d" /><Relationship Type="http://schemas.openxmlformats.org/officeDocument/2006/relationships/image" Target="/ppt/media/image.png" Id="R8d7ca130380241a5" /><Relationship Type="http://schemas.openxmlformats.org/officeDocument/2006/relationships/notesSlide" Target="/ppt/notesSlides/notesSlide6.xml" Id="Rdcd7f14e16194e4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c99da008aaf4d68" /><Relationship Type="http://schemas.openxmlformats.org/officeDocument/2006/relationships/notesSlide" Target="/ppt/notesSlides/notesSlide7.xml" Id="R56a69e4b51d84d4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f36bba9de9c43a5" /><Relationship Type="http://schemas.openxmlformats.org/officeDocument/2006/relationships/notesSlide" Target="/ppt/notesSlides/notesSlide8.xml" Id="R0544acf2b82c45e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5a97bb9f5e4419c" /><Relationship Type="http://schemas.openxmlformats.org/officeDocument/2006/relationships/notesSlide" Target="/ppt/notesSlides/notesSlide9.xml" Id="Re4fd7399c123409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6fd58ea7a934e4c" /><Relationship Type="http://schemas.openxmlformats.org/officeDocument/2006/relationships/notesSlide" Target="/ppt/notesSlides/notesSlide10.xml" Id="R290b7970d58e449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12e14d75571041b9" /><Relationship Type="http://schemas.openxmlformats.org/officeDocument/2006/relationships/chart" Target="/ppt/slides/charts/chart1.xml" Id="R40440074afa74b1a" /><Relationship Type="http://schemas.openxmlformats.org/officeDocument/2006/relationships/notesSlide" Target="/ppt/notesSlides/notesSlide11.xml" Id="Rce1826f4f6ef4a6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a6d23fda4ca4e1b" /><Relationship Type="http://schemas.openxmlformats.org/officeDocument/2006/relationships/chart" Target="/ppt/slides/charts/chart2.xml" Id="Rf2f47c5234024a12" /><Relationship Type="http://schemas.openxmlformats.org/officeDocument/2006/relationships/notesSlide" Target="/ppt/notesSlides/notesSlide12.xml" Id="Refa2c094e3c4416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653a4a2eef224adb" /><Relationship Type="http://schemas.openxmlformats.org/officeDocument/2006/relationships/notesSlide" Target="/ppt/notesSlides/notesSlide13.xml" Id="Rec840795971b4f3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8b41917a18324ce0" /><Relationship Type="http://schemas.openxmlformats.org/officeDocument/2006/relationships/notesSlide" Target="/ppt/notesSlides/notesSlide14.xml" Id="Raf7c1a698e2c42f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806d848e0112446e" /><Relationship Type="http://schemas.openxmlformats.org/officeDocument/2006/relationships/notesSlide" Target="/ppt/notesSlides/notesSlide15.xml" Id="R6c769a2ac04c443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c68250f628654d8b" /><Relationship Type="http://schemas.openxmlformats.org/officeDocument/2006/relationships/notesSlide" Target="/ppt/notesSlides/notesSlide16.xml" Id="Rdabdcac586724c7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85da20ad18a54b83" /><Relationship Type="http://schemas.openxmlformats.org/officeDocument/2006/relationships/image" Target="/ppt/media/image2.png" Id="Rf4b1229000a44e1b" /><Relationship Type="http://schemas.openxmlformats.org/officeDocument/2006/relationships/notesSlide" Target="/ppt/notesSlides/notesSlide17.xml" Id="R0a95fce7eb9b423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87c8380dc5cc498f" /><Relationship Type="http://schemas.openxmlformats.org/officeDocument/2006/relationships/notesSlide" Target="/ppt/notesSlides/notesSlide18.xml" Id="R9db9565d1e1844d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ae9dd77dad1c4e0a" /><Relationship Type="http://schemas.openxmlformats.org/officeDocument/2006/relationships/notesSlide" Target="/ppt/notesSlides/notesSlide19.xml" Id="Rd60758e116014b9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c80f457d96a9486f" /><Relationship Type="http://schemas.openxmlformats.org/officeDocument/2006/relationships/notesSlide" Target="/ppt/notesSlides/notesSlide20.xml" Id="R80a17188facb4ed8"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col"/>
        <c:varyColors val="0"/>
        <c:ser>
          <c:idx val="0"/>
          <c:order val="0"/>
          <c:tx>
            <c:v>Daily MAE (units)</c:v>
          </c:tx>
          <c:spPr>
            <a:solidFill xmlns:a="http://schemas.openxmlformats.org/drawingml/2006/main">
              <a:srgbClr val="087E79"/>
            </a:solidFill>
          </c:spPr>
          <c:invertIfNegative val="0"/>
          <c:cat>
            <c:strRef>
              <c:f>'Chart Data'!$A$2:$A$4</c:f>
              <c:strCache>
                <c:ptCount val="3"/>
                <c:pt idx="0">
                  <c:v>Weekly benchmark</c:v>
                </c:pt>
                <c:pt idx="1">
                  <c:v>Small LSTM</c:v>
                </c:pt>
                <c:pt idx="2">
                  <c:v>Random forest</c:v>
                </c:pt>
              </c:strCache>
            </c:strRef>
          </c:cat>
          <c:val>
            <c:numRef>
              <c:f>'Chart Data'!$B$2:$B$4</c:f>
              <c:numCache>
                <c:formatCode>General</c:formatCode>
                <c:ptCount val="3"/>
                <c:pt idx="0">
                  <c:v>6.32</c:v>
                </c:pt>
                <c:pt idx="1">
                  <c:v>5.439</c:v>
                </c:pt>
                <c:pt idx="2">
                  <c:v>4.911</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800" b="1">
                  <a:solidFill>
                    <a:srgbClr val="18324A"/>
                  </a:solidFill>
                  <a:latin typeface="Arial"/>
                  <a:ea typeface="Arial"/>
                  <a:cs typeface="Arial"/>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18324A"/>
                </a:solidFill>
                <a:latin typeface="Arial"/>
                <a:ea typeface="Arial"/>
                <a:cs typeface="Arial"/>
              </a:defRPr>
            </a:pPr>
          </a:p>
        </c:txPr>
        <c:crossAx val="48672768"/>
      </c:catAx>
      <c:valAx>
        <c:axId val="48672768"/>
        <c:scaling>
          <c:orientation val="minMax"/>
        </c:scaling>
        <c:delete val="0"/>
        <c:axPos val="l"/>
        <c:majorGridlines>
          <c:spPr>
            <a:ln xmlns:a="http://schemas.openxmlformats.org/drawingml/2006/main" w="9525">
              <a:solidFill>
                <a:srgbClr val="DCE5E2"/>
              </a:solidFill>
              <a:prstDash val="solid"/>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536A78"/>
                </a:solidFill>
                <a:latin typeface="Arial"/>
                <a:ea typeface="Arial"/>
                <a:cs typeface="Arial"/>
              </a:defRPr>
            </a:pPr>
          </a:p>
        </c:txPr>
        <c:crossAx val="48650112"/>
        <c:crossBetween val="between"/>
      </c:valAx>
    </c:plotArea>
    <c:plotVisOnly val="1"/>
  </c:chart>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varyColors val="0"/>
        <c:ser>
          <c:idx val="0"/>
          <c:order val="0"/>
          <c:tx>
            <c:v>Daily MAE (units)</c:v>
          </c:tx>
          <c:spPr>
            <a:solidFill xmlns:a="http://schemas.openxmlformats.org/drawingml/2006/main">
              <a:srgbClr val="087E79"/>
            </a:solidFill>
          </c:spPr>
          <c:invertIfNegative val="0"/>
          <c:cat>
            <c:strRef>
              <c:f>'Chart Data'!$A$2:$A$4</c:f>
              <c:strCache>
                <c:ptCount val="3"/>
                <c:pt idx="0">
                  <c:v>Weekly benchmark</c:v>
                </c:pt>
                <c:pt idx="1">
                  <c:v>Small LSTM</c:v>
                </c:pt>
                <c:pt idx="2">
                  <c:v>Random forest</c:v>
                </c:pt>
              </c:strCache>
            </c:strRef>
          </c:cat>
          <c:val>
            <c:numRef>
              <c:f>'Chart Data'!$B$2:$B$4</c:f>
              <c:numCache>
                <c:formatCode>General</c:formatCode>
                <c:ptCount val="3"/>
                <c:pt idx="0">
                  <c:v>6.273</c:v>
                </c:pt>
                <c:pt idx="1">
                  <c:v>5.411</c:v>
                </c:pt>
                <c:pt idx="2">
                  <c:v>4.812</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800" b="1">
                  <a:solidFill>
                    <a:srgbClr val="18324A"/>
                  </a:solidFill>
                  <a:latin typeface="Arial"/>
                  <a:ea typeface="Arial"/>
                  <a:cs typeface="Arial"/>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18324A"/>
                </a:solidFill>
                <a:latin typeface="Arial"/>
                <a:ea typeface="Arial"/>
                <a:cs typeface="Arial"/>
              </a:defRPr>
            </a:pPr>
          </a:p>
        </c:txPr>
        <c:crossAx val="48672768"/>
      </c:catAx>
      <c:valAx>
        <c:axId val="48672768"/>
        <c:scaling>
          <c:orientation val="minMax"/>
        </c:scaling>
        <c:delete val="0"/>
        <c:axPos val="l"/>
        <c:majorGridlines>
          <c:spPr>
            <a:ln xmlns:a="http://schemas.openxmlformats.org/drawingml/2006/main" w="9525">
              <a:solidFill>
                <a:srgbClr val="DCE5E2"/>
              </a:solidFill>
              <a:prstDash val="solid"/>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536A78"/>
                </a:solidFill>
                <a:latin typeface="Arial"/>
                <a:ea typeface="Arial"/>
                <a:cs typeface="Arial"/>
              </a:defRPr>
            </a:pPr>
          </a:p>
        </c:txPr>
        <c:crossAx val="48650112"/>
        <c:crossBetween val="between"/>
      </c:valAx>
    </c:plotArea>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1263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6886B4F-3D6B-4EE3-A044-D1A729372D6A}"/>
              </a:ext>
            </a:extLst>
          </p:cNvPr>
          <p:cNvSpPr>
            <a:spLocks xmlns:a="http://schemas.openxmlformats.org/drawingml/2006/main" noGrp="1"/>
          </p:cNvSpPr>
          <p:nvPr/>
        </p:nvSpPr>
        <p:spPr>
          <a:xfrm xmlns:a="http://schemas.openxmlformats.org/drawingml/2006/main">
            <a:off x="609600" y="5238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FFFFFF"/>
                </a:solidFill>
                <a:latin typeface="Arial"/>
                <a:ea typeface="Arial"/>
                <a:cs typeface="Arial"/>
              </a:defRPr>
            </a:defPPr>
          </a:lstStyle>
          <a:p xmlns:a="http://schemas.openxmlformats.org/drawingml/2006/main">
            <a:pPr>
              <a:defRPr sz="3300" b="1">
                <a:solidFill>
                  <a:srgbClr val="FFFFFF"/>
                </a:solidFill>
                <a:latin typeface="Arial"/>
                <a:ea typeface="Arial"/>
                <a:cs typeface="Arial"/>
              </a:defRPr>
            </a:pPr>
            <a:r>
              <a:rPr sz="3300" b="1">
                <a:solidFill>
                  <a:srgbClr val="FFFFFF"/>
                </a:solidFill>
                <a:latin typeface="Arial"/>
                <a:ea typeface="Arial"/>
                <a:cs typeface="Arial"/>
              </a:rPr>
              <a:t>StockSense AI</a:t>
            </a:r>
          </a:p>
        </p:txBody>
      </p:sp>
      <p:sp>
        <p:nvSpPr>
          <p:cNvPr id="2" name="">
            <a:extLst xmlns:a="http://schemas.openxmlformats.org/drawingml/2006/main">
              <a:ext uri="{FF2B5EF4-FFF2-40B4-BE49-F238E27FC236}">
                <a16:creationId xmlns:a16="http://schemas.microsoft.com/office/drawing/2014/main" id="{2DF882B9-A875-46FF-B5DC-97C61F00931F}"/>
              </a:ext>
            </a:extLst>
          </p:cNvPr>
          <p:cNvSpPr>
            <a:spLocks xmlns:a="http://schemas.openxmlformats.org/drawingml/2006/main" noGrp="1"/>
          </p:cNvSpPr>
          <p:nvPr/>
        </p:nvSpPr>
        <p:spPr>
          <a:xfrm xmlns:a="http://schemas.openxmlformats.org/drawingml/2006/main">
            <a:off x="619125" y="64198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A9E7D7"/>
                </a:solidFill>
                <a:latin typeface="Arial"/>
                <a:ea typeface="Arial"/>
                <a:cs typeface="Arial"/>
              </a:defRPr>
            </a:defPPr>
          </a:lstStyle>
          <a:p xmlns:a="http://schemas.openxmlformats.org/drawingml/2006/main">
            <a:pPr>
              <a:defRPr sz="1050" b="0">
                <a:solidFill>
                  <a:srgbClr val="A9E7D7"/>
                </a:solidFill>
                <a:latin typeface="Arial"/>
                <a:ea typeface="Arial"/>
                <a:cs typeface="Arial"/>
              </a:defRPr>
            </a:pPr>
            <a:r>
              <a:rPr sz="1050" b="0">
                <a:solidFill>
                  <a:srgbClr val="A9E7D7"/>
                </a:solidFill>
                <a:latin typeface="Arial"/>
                <a:ea typeface="Arial"/>
                <a:cs typeface="Arial"/>
              </a:rPr>
              <a:t>StockSense AI     01</a:t>
            </a:r>
          </a:p>
        </p:txBody>
      </p:sp>
      <p:sp>
        <p:nvSpPr>
          <p:cNvPr id="3" name="">
            <a:extLst xmlns:a="http://schemas.openxmlformats.org/drawingml/2006/main">
              <a:ext uri="{FF2B5EF4-FFF2-40B4-BE49-F238E27FC236}">
                <a16:creationId xmlns:a16="http://schemas.microsoft.com/office/drawing/2014/main" id="{83E51E6F-AE83-4C82-8672-D2B6D95E9FEC}"/>
              </a:ext>
            </a:extLst>
          </p:cNvPr>
          <p:cNvSpPr>
            <a:spLocks xmlns:a="http://schemas.openxmlformats.org/drawingml/2006/main" noGrp="1"/>
          </p:cNvSpPr>
          <p:nvPr/>
        </p:nvSpPr>
        <p:spPr>
          <a:xfrm xmlns:a="http://schemas.openxmlformats.org/drawingml/2006/main">
            <a:off x="647700" y="2143125"/>
            <a:ext cx="105727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FFFFF"/>
                </a:solidFill>
                <a:latin typeface="Arial"/>
                <a:ea typeface="Arial"/>
                <a:cs typeface="Arial"/>
              </a:defRPr>
            </a:defPPr>
          </a:lstStyle>
          <a:p xmlns:a="http://schemas.openxmlformats.org/drawingml/2006/main">
            <a:pPr>
              <a:defRPr sz="3900" b="1">
                <a:solidFill>
                  <a:srgbClr val="FFFFFF"/>
                </a:solidFill>
                <a:latin typeface="Arial"/>
                <a:ea typeface="Arial"/>
                <a:cs typeface="Arial"/>
              </a:defRPr>
            </a:pPr>
            <a:r>
              <a:rPr sz="3900" b="1">
                <a:solidFill>
                  <a:srgbClr val="FFFFFF"/>
                </a:solidFill>
                <a:latin typeface="Arial"/>
                <a:ea typeface="Arial"/>
                <a:cs typeface="Arial"/>
              </a:rPr>
              <a:t>Sales forecasts for clearer stock decisions</a:t>
            </a:r>
          </a:p>
        </p:txBody>
      </p:sp>
      <p:sp>
        <p:nvSpPr>
          <p:cNvPr id="4" name="">
            <a:extLst xmlns:a="http://schemas.openxmlformats.org/drawingml/2006/main">
              <a:ext uri="{FF2B5EF4-FFF2-40B4-BE49-F238E27FC236}">
                <a16:creationId xmlns:a16="http://schemas.microsoft.com/office/drawing/2014/main" id="{FABAF23D-FF9C-4715-A8DF-AB10A353FA60}"/>
              </a:ext>
            </a:extLst>
          </p:cNvPr>
          <p:cNvSpPr>
            <a:spLocks xmlns:a="http://schemas.openxmlformats.org/drawingml/2006/main" noGrp="1"/>
          </p:cNvSpPr>
          <p:nvPr/>
        </p:nvSpPr>
        <p:spPr>
          <a:xfrm xmlns:a="http://schemas.openxmlformats.org/drawingml/2006/main">
            <a:off x="666750" y="3810000"/>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A9E7D7"/>
                </a:solidFill>
                <a:latin typeface="Arial"/>
                <a:ea typeface="Arial"/>
                <a:cs typeface="Arial"/>
              </a:defRPr>
            </a:defPPr>
          </a:lstStyle>
          <a:p xmlns:a="http://schemas.openxmlformats.org/drawingml/2006/main">
            <a:pPr>
              <a:defRPr sz="2400" b="0">
                <a:solidFill>
                  <a:srgbClr val="A9E7D7"/>
                </a:solidFill>
                <a:latin typeface="Arial"/>
                <a:ea typeface="Arial"/>
                <a:cs typeface="Arial"/>
              </a:defRPr>
            </a:pPr>
            <a:r>
              <a:rPr sz="2400" b="0">
                <a:solidFill>
                  <a:srgbClr val="A9E7D7"/>
                </a:solidFill>
                <a:latin typeface="Arial"/>
                <a:ea typeface="Arial"/>
                <a:cs typeface="Arial"/>
              </a:rPr>
              <a:t>One fictional retailer. Five anonymous products.</a:t>
            </a:r>
          </a:p>
        </p:txBody>
      </p:sp>
      <p:sp>
        <p:nvSpPr>
          <p:cNvPr id="5" name="">
            <a:extLst xmlns:a="http://schemas.openxmlformats.org/drawingml/2006/main">
              <a:ext uri="{FF2B5EF4-FFF2-40B4-BE49-F238E27FC236}">
                <a16:creationId xmlns:a16="http://schemas.microsoft.com/office/drawing/2014/main" id="{3A24A57A-D5E3-43D1-A567-C5B0ED81D22D}"/>
              </a:ext>
            </a:extLst>
          </p:cNvPr>
          <p:cNvSpPr>
            <a:spLocks xmlns:a="http://schemas.openxmlformats.org/drawingml/2006/main" noGrp="1"/>
          </p:cNvSpPr>
          <p:nvPr/>
        </p:nvSpPr>
        <p:spPr>
          <a:xfrm xmlns:a="http://schemas.openxmlformats.org/drawingml/2006/main">
            <a:off x="666750" y="4543425"/>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A9E7D7"/>
                </a:solidFill>
                <a:latin typeface="Arial"/>
                <a:ea typeface="Arial"/>
                <a:cs typeface="Arial"/>
              </a:defRPr>
            </a:defPPr>
          </a:lstStyle>
          <a:p xmlns:a="http://schemas.openxmlformats.org/drawingml/2006/main">
            <a:pPr>
              <a:defRPr sz="2400" b="0">
                <a:solidFill>
                  <a:srgbClr val="A9E7D7"/>
                </a:solidFill>
                <a:latin typeface="Arial"/>
                <a:ea typeface="Arial"/>
                <a:cs typeface="Arial"/>
              </a:defRPr>
            </a:pPr>
            <a:r>
              <a:rPr sz="2400" b="0">
                <a:solidFill>
                  <a:srgbClr val="A9E7D7"/>
                </a:solidFill>
                <a:latin typeface="Arial"/>
                <a:ea typeface="Arial"/>
                <a:cs typeface="Arial"/>
              </a:rPr>
              <a:t>Seven forecast days. Web and terminal access.</a:t>
            </a:r>
          </a:p>
        </p:txBody>
      </p:sp>
      <p:sp>
        <p:nvSpPr>
          <p:cNvPr id="6" name="">
            <a:extLst xmlns:a="http://schemas.openxmlformats.org/drawingml/2006/main">
              <a:ext uri="{FF2B5EF4-FFF2-40B4-BE49-F238E27FC236}">
                <a16:creationId xmlns:a16="http://schemas.microsoft.com/office/drawing/2014/main" id="{E9DEE499-8A7F-487C-AAF5-E85EBFBEF81A}"/>
              </a:ext>
            </a:extLst>
          </p:cNvPr>
          <p:cNvSpPr>
            <a:spLocks xmlns:a="http://schemas.openxmlformats.org/drawingml/2006/main" noGrp="1"/>
          </p:cNvSpPr>
          <p:nvPr/>
        </p:nvSpPr>
        <p:spPr>
          <a:xfrm xmlns:a="http://schemas.openxmlformats.org/drawingml/2006/main">
            <a:off x="666750" y="5543550"/>
            <a:ext cx="9525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FFFFFF"/>
                </a:solidFill>
                <a:latin typeface="Arial"/>
                <a:ea typeface="Arial"/>
                <a:cs typeface="Arial"/>
              </a:defRPr>
            </a:defPPr>
          </a:lstStyle>
          <a:p xmlns:a="http://schemas.openxmlformats.org/drawingml/2006/main">
            <a:pPr>
              <a:defRPr sz="1950" b="0">
                <a:solidFill>
                  <a:srgbClr val="FFFFFF"/>
                </a:solidFill>
                <a:latin typeface="Arial"/>
                <a:ea typeface="Arial"/>
                <a:cs typeface="Arial"/>
              </a:defRPr>
            </a:pPr>
            <a:r>
              <a:rPr sz="1950" b="0">
                <a:solidFill>
                  <a:srgbClr val="FFFFFF"/>
                </a:solidFill>
                <a:latin typeface="Arial"/>
                <a:ea typeface="Arial"/>
                <a:cs typeface="Arial"/>
              </a:rPr>
              <a:t>VUT AI Solutions</a:t>
            </a:r>
          </a:p>
        </p:txBody>
      </p:sp>
    </p:spTree>
    <p:extLst>
      <p:ext uri="{BB962C8B-B14F-4D97-AF65-F5344CB8AC3E}">
        <p14:creationId xmlns:p14="http://schemas.microsoft.com/office/powerpoint/2010/main" val="2026510667"/>
      </p:ext>
    </p:extLst>
  </p:cSld>
</p:sld>
</file>

<file path=ppt/slides/slide2.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425EFD1-3808-4AB8-BDBF-FD5F0ECBD8C2}"/>
              </a:ext>
            </a:extLst>
          </p:cNvPr>
          <p:cNvSpPr>
            <a:spLocks xmlns:a="http://schemas.openxmlformats.org/drawingml/2006/main" noGrp="1"/>
          </p:cNvSpPr>
          <p:nvPr/>
        </p:nvSpPr>
        <p:spPr>
          <a:xfrm xmlns:a="http://schemas.openxmlformats.org/drawingml/2006/main">
            <a:off x="609600" y="5238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8324A"/>
                </a:solidFill>
                <a:latin typeface="Arial"/>
                <a:ea typeface="Arial"/>
                <a:cs typeface="Arial"/>
              </a:defRPr>
            </a:defPPr>
          </a:lstStyle>
          <a:p xmlns:a="http://schemas.openxmlformats.org/drawingml/2006/main">
            <a:pPr>
              <a:defRPr sz="3300" b="1">
                <a:solidFill>
                  <a:srgbClr val="18324A"/>
                </a:solidFill>
                <a:latin typeface="Arial"/>
                <a:ea typeface="Arial"/>
                <a:cs typeface="Arial"/>
              </a:defRPr>
            </a:pPr>
            <a:r>
              <a:rPr sz="3300" b="1">
                <a:solidFill>
                  <a:srgbClr val="18324A"/>
                </a:solidFill>
                <a:latin typeface="Arial"/>
                <a:ea typeface="Arial"/>
                <a:cs typeface="Arial"/>
              </a:rPr>
              <a:t>The retailer’s stock problem</a:t>
            </a:r>
          </a:p>
        </p:txBody>
      </p:sp>
      <p:sp>
        <p:nvSpPr>
          <p:cNvPr id="2" name="">
            <a:extLst xmlns:a="http://schemas.openxmlformats.org/drawingml/2006/main">
              <a:ext uri="{FF2B5EF4-FFF2-40B4-BE49-F238E27FC236}">
                <a16:creationId xmlns:a16="http://schemas.microsoft.com/office/drawing/2014/main" id="{4DF34C38-7A50-40E6-8564-667884839619}"/>
              </a:ext>
            </a:extLst>
          </p:cNvPr>
          <p:cNvSpPr>
            <a:spLocks xmlns:a="http://schemas.openxmlformats.org/drawingml/2006/main" noGrp="1"/>
          </p:cNvSpPr>
          <p:nvPr/>
        </p:nvSpPr>
        <p:spPr>
          <a:xfrm xmlns:a="http://schemas.openxmlformats.org/drawingml/2006/main">
            <a:off x="619125" y="5553075"/>
            <a:ext cx="10906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The manager needs an estimate before placing an order</a:t>
            </a:r>
          </a:p>
        </p:txBody>
      </p:sp>
      <p:sp>
        <p:nvSpPr>
          <p:cNvPr id="3" name="">
            <a:extLst xmlns:a="http://schemas.openxmlformats.org/drawingml/2006/main">
              <a:ext uri="{FF2B5EF4-FFF2-40B4-BE49-F238E27FC236}">
                <a16:creationId xmlns:a16="http://schemas.microsoft.com/office/drawing/2014/main" id="{28F79743-1127-4778-A993-55C38EA50701}"/>
              </a:ext>
            </a:extLst>
          </p:cNvPr>
          <p:cNvSpPr>
            <a:spLocks xmlns:a="http://schemas.openxmlformats.org/drawingml/2006/main" noGrp="1"/>
          </p:cNvSpPr>
          <p:nvPr/>
        </p:nvSpPr>
        <p:spPr>
          <a:xfrm xmlns:a="http://schemas.openxmlformats.org/drawingml/2006/main">
            <a:off x="619125" y="64198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536A78"/>
                </a:solidFill>
                <a:latin typeface="Arial"/>
                <a:ea typeface="Arial"/>
                <a:cs typeface="Arial"/>
              </a:defRPr>
            </a:defPPr>
          </a:lstStyle>
          <a:p xmlns:a="http://schemas.openxmlformats.org/drawingml/2006/main">
            <a:pPr>
              <a:defRPr sz="1050" b="0">
                <a:solidFill>
                  <a:srgbClr val="536A78"/>
                </a:solidFill>
                <a:latin typeface="Arial"/>
                <a:ea typeface="Arial"/>
                <a:cs typeface="Arial"/>
              </a:defRPr>
            </a:pPr>
            <a:r>
              <a:rPr sz="1050" b="0">
                <a:solidFill>
                  <a:srgbClr val="536A78"/>
                </a:solidFill>
                <a:latin typeface="Arial"/>
                <a:ea typeface="Arial"/>
                <a:cs typeface="Arial"/>
              </a:rPr>
              <a:t>StockSense AI     02</a:t>
            </a:r>
          </a:p>
        </p:txBody>
      </p:sp>
      <p:sp>
        <p:nvSpPr>
          <p:cNvPr id="4" name="">
            <a:extLst xmlns:a="http://schemas.openxmlformats.org/drawingml/2006/main">
              <a:ext uri="{FF2B5EF4-FFF2-40B4-BE49-F238E27FC236}">
                <a16:creationId xmlns:a16="http://schemas.microsoft.com/office/drawing/2014/main" id="{850F0089-EB83-4580-A047-B50C5555ACE0}"/>
              </a:ext>
            </a:extLst>
          </p:cNvPr>
          <p:cNvSpPr>
            <a:spLocks xmlns:a="http://schemas.openxmlformats.org/drawingml/2006/main" noGrp="1"/>
          </p:cNvSpPr>
          <p:nvPr/>
        </p:nvSpPr>
        <p:spPr>
          <a:xfrm xmlns:a="http://schemas.openxmlformats.org/drawingml/2006/main">
            <a:off x="647700" y="1828800"/>
            <a:ext cx="107442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8324A"/>
                </a:solidFill>
                <a:latin typeface="Arial"/>
                <a:ea typeface="Arial"/>
                <a:cs typeface="Arial"/>
              </a:defRPr>
            </a:defPPr>
          </a:lstStyle>
          <a:p xmlns:a="http://schemas.openxmlformats.org/drawingml/2006/main">
            <a:pPr>
              <a:defRPr sz="2175" b="0">
                <a:solidFill>
                  <a:srgbClr val="18324A"/>
                </a:solidFill>
                <a:latin typeface="Arial"/>
                <a:ea typeface="Arial"/>
                <a:cs typeface="Arial"/>
              </a:defRPr>
            </a:pPr>
            <a:r>
              <a:rPr sz="2175" b="0">
                <a:solidFill>
                  <a:srgbClr val="18324A"/>
                </a:solidFill>
                <a:latin typeface="Arial"/>
                <a:ea typeface="Arial"/>
                <a:cs typeface="Arial"/>
              </a:rPr>
              <a:t>Current process: check recent sales and choose an order manually.</a:t>
            </a:r>
          </a:p>
        </p:txBody>
      </p:sp>
      <p:sp>
        <p:nvSpPr>
          <p:cNvPr id="5" name="">
            <a:extLst xmlns:a="http://schemas.openxmlformats.org/drawingml/2006/main">
              <a:ext uri="{FF2B5EF4-FFF2-40B4-BE49-F238E27FC236}">
                <a16:creationId xmlns:a16="http://schemas.microsoft.com/office/drawing/2014/main" id="{2A789915-7CDD-44D7-B120-C212F70F9282}"/>
              </a:ext>
            </a:extLst>
          </p:cNvPr>
          <p:cNvSpPr>
            <a:spLocks xmlns:a="http://schemas.openxmlformats.org/drawingml/2006/main" noGrp="1"/>
          </p:cNvSpPr>
          <p:nvPr/>
        </p:nvSpPr>
        <p:spPr>
          <a:xfrm xmlns:a="http://schemas.openxmlformats.org/drawingml/2006/main">
            <a:off x="647700" y="2695575"/>
            <a:ext cx="107442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8324A"/>
                </a:solidFill>
                <a:latin typeface="Arial"/>
                <a:ea typeface="Arial"/>
                <a:cs typeface="Arial"/>
              </a:defRPr>
            </a:defPPr>
          </a:lstStyle>
          <a:p xmlns:a="http://schemas.openxmlformats.org/drawingml/2006/main">
            <a:pPr>
              <a:defRPr sz="2175" b="0">
                <a:solidFill>
                  <a:srgbClr val="18324A"/>
                </a:solidFill>
                <a:latin typeface="Arial"/>
                <a:ea typeface="Arial"/>
                <a:cs typeface="Arial"/>
              </a:defRPr>
            </a:pPr>
            <a:r>
              <a:rPr sz="2175" b="0">
                <a:solidFill>
                  <a:srgbClr val="18324A"/>
                </a:solidFill>
                <a:latin typeface="Arial"/>
                <a:ea typeface="Arial"/>
                <a:cs typeface="Arial"/>
              </a:rPr>
              <a:t>Too little stock can lead to shortages and missed sales.</a:t>
            </a:r>
          </a:p>
        </p:txBody>
      </p:sp>
      <p:sp>
        <p:nvSpPr>
          <p:cNvPr id="6" name="">
            <a:extLst xmlns:a="http://schemas.openxmlformats.org/drawingml/2006/main">
              <a:ext uri="{FF2B5EF4-FFF2-40B4-BE49-F238E27FC236}">
                <a16:creationId xmlns:a16="http://schemas.microsoft.com/office/drawing/2014/main" id="{E8550CCF-9684-4D00-82F4-BF05F823033D}"/>
              </a:ext>
            </a:extLst>
          </p:cNvPr>
          <p:cNvSpPr>
            <a:spLocks xmlns:a="http://schemas.openxmlformats.org/drawingml/2006/main" noGrp="1"/>
          </p:cNvSpPr>
          <p:nvPr/>
        </p:nvSpPr>
        <p:spPr>
          <a:xfrm xmlns:a="http://schemas.openxmlformats.org/drawingml/2006/main">
            <a:off x="647700" y="3562350"/>
            <a:ext cx="107442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8324A"/>
                </a:solidFill>
                <a:latin typeface="Arial"/>
                <a:ea typeface="Arial"/>
                <a:cs typeface="Arial"/>
              </a:defRPr>
            </a:defPPr>
          </a:lstStyle>
          <a:p xmlns:a="http://schemas.openxmlformats.org/drawingml/2006/main">
            <a:pPr>
              <a:defRPr sz="2175" b="0">
                <a:solidFill>
                  <a:srgbClr val="18324A"/>
                </a:solidFill>
                <a:latin typeface="Arial"/>
                <a:ea typeface="Arial"/>
                <a:cs typeface="Arial"/>
              </a:defRPr>
            </a:pPr>
            <a:r>
              <a:rPr sz="2175" b="0">
                <a:solidFill>
                  <a:srgbClr val="18324A"/>
                </a:solidFill>
                <a:latin typeface="Arial"/>
                <a:ea typeface="Arial"/>
                <a:cs typeface="Arial"/>
              </a:rPr>
              <a:t>Too much stock ties money up in slow-selling products.</a:t>
            </a:r>
          </a:p>
        </p:txBody>
      </p:sp>
      <p:sp>
        <p:nvSpPr>
          <p:cNvPr id="7" name="">
            <a:extLst xmlns:a="http://schemas.openxmlformats.org/drawingml/2006/main">
              <a:ext uri="{FF2B5EF4-FFF2-40B4-BE49-F238E27FC236}">
                <a16:creationId xmlns:a16="http://schemas.microsoft.com/office/drawing/2014/main" id="{20A3FF0B-38A4-47B0-84CD-83302D37F74D}"/>
              </a:ext>
            </a:extLst>
          </p:cNvPr>
          <p:cNvSpPr>
            <a:spLocks xmlns:a="http://schemas.openxmlformats.org/drawingml/2006/main" noGrp="1"/>
          </p:cNvSpPr>
          <p:nvPr/>
        </p:nvSpPr>
        <p:spPr>
          <a:xfrm xmlns:a="http://schemas.openxmlformats.org/drawingml/2006/main">
            <a:off x="647700" y="4429125"/>
            <a:ext cx="107442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8324A"/>
                </a:solidFill>
                <a:latin typeface="Arial"/>
                <a:ea typeface="Arial"/>
                <a:cs typeface="Arial"/>
              </a:defRPr>
            </a:defPPr>
          </a:lstStyle>
          <a:p xmlns:a="http://schemas.openxmlformats.org/drawingml/2006/main">
            <a:pPr>
              <a:defRPr sz="2175" b="0">
                <a:solidFill>
                  <a:srgbClr val="18324A"/>
                </a:solidFill>
                <a:latin typeface="Arial"/>
                <a:ea typeface="Arial"/>
                <a:cs typeface="Arial"/>
              </a:defRPr>
            </a:pPr>
            <a:r>
              <a:rPr sz="2175" b="0">
                <a:solidFill>
                  <a:srgbClr val="18324A"/>
                </a:solidFill>
                <a:latin typeface="Arial"/>
                <a:ea typeface="Arial"/>
                <a:cs typeface="Arial"/>
              </a:rPr>
              <a:t>Intended community benefit: more reliable access to goods.</a:t>
            </a:r>
          </a:p>
        </p:txBody>
      </p:sp>
    </p:spTree>
    <p:extLst>
      <p:ext uri="{BB962C8B-B14F-4D97-AF65-F5344CB8AC3E}">
        <p14:creationId xmlns:p14="http://schemas.microsoft.com/office/powerpoint/2010/main" val="1426605036"/>
      </p:ext>
    </p:extLst>
  </p:cSld>
</p:sld>
</file>

<file path=ppt/slides/slide3.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228C801-7613-413E-96EF-5B3E6E5871D0}"/>
              </a:ext>
            </a:extLst>
          </p:cNvPr>
          <p:cNvSpPr>
            <a:spLocks xmlns:a="http://schemas.openxmlformats.org/drawingml/2006/main" noGrp="1"/>
          </p:cNvSpPr>
          <p:nvPr/>
        </p:nvSpPr>
        <p:spPr>
          <a:xfrm xmlns:a="http://schemas.openxmlformats.org/drawingml/2006/main">
            <a:off x="609600" y="5238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8324A"/>
                </a:solidFill>
                <a:latin typeface="Arial"/>
                <a:ea typeface="Arial"/>
                <a:cs typeface="Arial"/>
              </a:defRPr>
            </a:defPPr>
          </a:lstStyle>
          <a:p xmlns:a="http://schemas.openxmlformats.org/drawingml/2006/main">
            <a:pPr>
              <a:defRPr sz="3300" b="1">
                <a:solidFill>
                  <a:srgbClr val="18324A"/>
                </a:solidFill>
                <a:latin typeface="Arial"/>
                <a:ea typeface="Arial"/>
                <a:cs typeface="Arial"/>
              </a:defRPr>
            </a:pPr>
            <a:r>
              <a:rPr sz="3300" b="1">
                <a:solidFill>
                  <a:srgbClr val="18324A"/>
                </a:solidFill>
                <a:latin typeface="Arial"/>
                <a:ea typeface="Arial"/>
                <a:cs typeface="Arial"/>
              </a:rPr>
              <a:t>Objectives and success criteria</a:t>
            </a:r>
          </a:p>
        </p:txBody>
      </p:sp>
      <p:sp>
        <p:nvSpPr>
          <p:cNvPr id="2" name="">
            <a:extLst xmlns:a="http://schemas.openxmlformats.org/drawingml/2006/main">
              <a:ext uri="{FF2B5EF4-FFF2-40B4-BE49-F238E27FC236}">
                <a16:creationId xmlns:a16="http://schemas.microsoft.com/office/drawing/2014/main" id="{E798E118-7162-4FEF-AA5A-02CBEB1C763C}"/>
              </a:ext>
            </a:extLst>
          </p:cNvPr>
          <p:cNvSpPr>
            <a:spLocks xmlns:a="http://schemas.openxmlformats.org/drawingml/2006/main" noGrp="1"/>
          </p:cNvSpPr>
          <p:nvPr/>
        </p:nvSpPr>
        <p:spPr>
          <a:xfrm xmlns:a="http://schemas.openxmlformats.org/drawingml/2006/main">
            <a:off x="619125" y="5553075"/>
            <a:ext cx="10906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Success means a working system with measured evidence</a:t>
            </a:r>
          </a:p>
        </p:txBody>
      </p:sp>
      <p:sp>
        <p:nvSpPr>
          <p:cNvPr id="3" name="">
            <a:extLst xmlns:a="http://schemas.openxmlformats.org/drawingml/2006/main">
              <a:ext uri="{FF2B5EF4-FFF2-40B4-BE49-F238E27FC236}">
                <a16:creationId xmlns:a16="http://schemas.microsoft.com/office/drawing/2014/main" id="{C2E05362-7DCE-4ED5-936F-AD06A351A2C2}"/>
              </a:ext>
            </a:extLst>
          </p:cNvPr>
          <p:cNvSpPr>
            <a:spLocks xmlns:a="http://schemas.openxmlformats.org/drawingml/2006/main" noGrp="1"/>
          </p:cNvSpPr>
          <p:nvPr/>
        </p:nvSpPr>
        <p:spPr>
          <a:xfrm xmlns:a="http://schemas.openxmlformats.org/drawingml/2006/main">
            <a:off x="619125" y="64198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536A78"/>
                </a:solidFill>
                <a:latin typeface="Arial"/>
                <a:ea typeface="Arial"/>
                <a:cs typeface="Arial"/>
              </a:defRPr>
            </a:defPPr>
          </a:lstStyle>
          <a:p xmlns:a="http://schemas.openxmlformats.org/drawingml/2006/main">
            <a:pPr>
              <a:defRPr sz="1050" b="0">
                <a:solidFill>
                  <a:srgbClr val="536A78"/>
                </a:solidFill>
                <a:latin typeface="Arial"/>
                <a:ea typeface="Arial"/>
                <a:cs typeface="Arial"/>
              </a:defRPr>
            </a:pPr>
            <a:r>
              <a:rPr sz="1050" b="0">
                <a:solidFill>
                  <a:srgbClr val="536A78"/>
                </a:solidFill>
                <a:latin typeface="Arial"/>
                <a:ea typeface="Arial"/>
                <a:cs typeface="Arial"/>
              </a:rPr>
              <a:t>StockSense AI     03</a:t>
            </a:r>
          </a:p>
        </p:txBody>
      </p:sp>
      <p:sp>
        <p:nvSpPr>
          <p:cNvPr id="4" name="">
            <a:extLst xmlns:a="http://schemas.openxmlformats.org/drawingml/2006/main">
              <a:ext uri="{FF2B5EF4-FFF2-40B4-BE49-F238E27FC236}">
                <a16:creationId xmlns:a16="http://schemas.microsoft.com/office/drawing/2014/main" id="{669B7631-7BA0-45BD-9803-096C491E8B3B}"/>
              </a:ext>
            </a:extLst>
          </p:cNvPr>
          <p:cNvSpPr>
            <a:spLocks xmlns:a="http://schemas.openxmlformats.org/drawingml/2006/main" noGrp="1"/>
          </p:cNvSpPr>
          <p:nvPr/>
        </p:nvSpPr>
        <p:spPr>
          <a:xfrm xmlns:a="http://schemas.openxmlformats.org/drawingml/2006/main">
            <a:off x="647700" y="1828800"/>
            <a:ext cx="107442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8324A"/>
                </a:solidFill>
                <a:latin typeface="Arial"/>
                <a:ea typeface="Arial"/>
                <a:cs typeface="Arial"/>
              </a:defRPr>
            </a:defPPr>
          </a:lstStyle>
          <a:p xmlns:a="http://schemas.openxmlformats.org/drawingml/2006/main">
            <a:pPr>
              <a:defRPr sz="2250" b="0">
                <a:solidFill>
                  <a:srgbClr val="18324A"/>
                </a:solidFill>
                <a:latin typeface="Arial"/>
                <a:ea typeface="Arial"/>
                <a:cs typeface="Arial"/>
              </a:defRPr>
            </a:pPr>
            <a:r>
              <a:rPr sz="2250" b="0">
                <a:solidFill>
                  <a:srgbClr val="18324A"/>
                </a:solidFill>
                <a:latin typeface="Arial"/>
                <a:ea typeface="Arial"/>
                <a:cs typeface="Arial"/>
              </a:rPr>
              <a:t>Forecast: seven dated estimates for each of five products.</a:t>
            </a:r>
          </a:p>
        </p:txBody>
      </p:sp>
      <p:sp>
        <p:nvSpPr>
          <p:cNvPr id="5" name="">
            <a:extLst xmlns:a="http://schemas.openxmlformats.org/drawingml/2006/main">
              <a:ext uri="{FF2B5EF4-FFF2-40B4-BE49-F238E27FC236}">
                <a16:creationId xmlns:a16="http://schemas.microsoft.com/office/drawing/2014/main" id="{3146E7A7-CCFD-4163-B58F-B68C113B9D75}"/>
              </a:ext>
            </a:extLst>
          </p:cNvPr>
          <p:cNvSpPr>
            <a:spLocks xmlns:a="http://schemas.openxmlformats.org/drawingml/2006/main" noGrp="1"/>
          </p:cNvSpPr>
          <p:nvPr/>
        </p:nvSpPr>
        <p:spPr>
          <a:xfrm xmlns:a="http://schemas.openxmlformats.org/drawingml/2006/main">
            <a:off x="647700" y="2695575"/>
            <a:ext cx="107442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8324A"/>
                </a:solidFill>
                <a:latin typeface="Arial"/>
                <a:ea typeface="Arial"/>
                <a:cs typeface="Arial"/>
              </a:defRPr>
            </a:defPPr>
          </a:lstStyle>
          <a:p xmlns:a="http://schemas.openxmlformats.org/drawingml/2006/main">
            <a:pPr>
              <a:defRPr sz="2250" b="0">
                <a:solidFill>
                  <a:srgbClr val="18324A"/>
                </a:solidFill>
                <a:latin typeface="Arial"/>
                <a:ea typeface="Arial"/>
                <a:cs typeface="Arial"/>
              </a:defRPr>
            </a:pPr>
            <a:r>
              <a:rPr sz="2250" b="0">
                <a:solidFill>
                  <a:srgbClr val="18324A"/>
                </a:solidFill>
                <a:latin typeface="Arial"/>
                <a:ea typeface="Arial"/>
                <a:cs typeface="Arial"/>
              </a:rPr>
              <a:t>Accuracy: lower daily error than the weekly benchmark.</a:t>
            </a:r>
          </a:p>
        </p:txBody>
      </p:sp>
      <p:sp>
        <p:nvSpPr>
          <p:cNvPr id="6" name="">
            <a:extLst xmlns:a="http://schemas.openxmlformats.org/drawingml/2006/main">
              <a:ext uri="{FF2B5EF4-FFF2-40B4-BE49-F238E27FC236}">
                <a16:creationId xmlns:a16="http://schemas.microsoft.com/office/drawing/2014/main" id="{2CC6E68B-B798-45B4-81AF-979AA41ACBF7}"/>
              </a:ext>
            </a:extLst>
          </p:cNvPr>
          <p:cNvSpPr>
            <a:spLocks xmlns:a="http://schemas.openxmlformats.org/drawingml/2006/main" noGrp="1"/>
          </p:cNvSpPr>
          <p:nvPr/>
        </p:nvSpPr>
        <p:spPr>
          <a:xfrm xmlns:a="http://schemas.openxmlformats.org/drawingml/2006/main">
            <a:off x="647700" y="3562350"/>
            <a:ext cx="107442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8324A"/>
                </a:solidFill>
                <a:latin typeface="Arial"/>
                <a:ea typeface="Arial"/>
                <a:cs typeface="Arial"/>
              </a:defRPr>
            </a:defPPr>
          </a:lstStyle>
          <a:p xmlns:a="http://schemas.openxmlformats.org/drawingml/2006/main">
            <a:pPr>
              <a:defRPr sz="2250" b="0">
                <a:solidFill>
                  <a:srgbClr val="18324A"/>
                </a:solidFill>
                <a:latin typeface="Arial"/>
                <a:ea typeface="Arial"/>
                <a:cs typeface="Arial"/>
              </a:defRPr>
            </a:pPr>
            <a:r>
              <a:rPr sz="2250" b="0">
                <a:solidFill>
                  <a:srgbClr val="18324A"/>
                </a:solidFill>
                <a:latin typeface="Arial"/>
                <a:ea typeface="Arial"/>
                <a:cs typeface="Arial"/>
              </a:rPr>
              <a:t>Stock planning: show the calculation and reject invalid inputs.</a:t>
            </a:r>
          </a:p>
        </p:txBody>
      </p:sp>
      <p:sp>
        <p:nvSpPr>
          <p:cNvPr id="7" name="">
            <a:extLst xmlns:a="http://schemas.openxmlformats.org/drawingml/2006/main">
              <a:ext uri="{FF2B5EF4-FFF2-40B4-BE49-F238E27FC236}">
                <a16:creationId xmlns:a16="http://schemas.microsoft.com/office/drawing/2014/main" id="{CB9972CC-0476-479D-AFE3-EAED88027532}"/>
              </a:ext>
            </a:extLst>
          </p:cNvPr>
          <p:cNvSpPr>
            <a:spLocks xmlns:a="http://schemas.openxmlformats.org/drawingml/2006/main" noGrp="1"/>
          </p:cNvSpPr>
          <p:nvPr/>
        </p:nvSpPr>
        <p:spPr>
          <a:xfrm xmlns:a="http://schemas.openxmlformats.org/drawingml/2006/main">
            <a:off x="647700" y="4429125"/>
            <a:ext cx="107442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8324A"/>
                </a:solidFill>
                <a:latin typeface="Arial"/>
                <a:ea typeface="Arial"/>
                <a:cs typeface="Arial"/>
              </a:defRPr>
            </a:defPPr>
          </a:lstStyle>
          <a:p xmlns:a="http://schemas.openxmlformats.org/drawingml/2006/main">
            <a:pPr>
              <a:defRPr sz="2250" b="0">
                <a:solidFill>
                  <a:srgbClr val="18324A"/>
                </a:solidFill>
                <a:latin typeface="Arial"/>
                <a:ea typeface="Arial"/>
                <a:cs typeface="Arial"/>
              </a:defRPr>
            </a:pPr>
            <a:r>
              <a:rPr sz="2250" b="0">
                <a:solidFill>
                  <a:srgbClr val="18324A"/>
                </a:solidFill>
                <a:latin typeface="Arial"/>
                <a:ea typeface="Arial"/>
                <a:cs typeface="Arial"/>
              </a:rPr>
              <a:t>Text assistant: recognise at least 20 of 25 supported requests.</a:t>
            </a:r>
          </a:p>
        </p:txBody>
      </p:sp>
    </p:spTree>
    <p:extLst>
      <p:ext uri="{BB962C8B-B14F-4D97-AF65-F5344CB8AC3E}">
        <p14:creationId xmlns:p14="http://schemas.microsoft.com/office/powerpoint/2010/main" val="1708888463"/>
      </p:ext>
    </p:extLst>
  </p:cSld>
</p:sld>
</file>

<file path=ppt/slides/slide4.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AD68AB8-0017-438B-87C3-6A078EBB0533}"/>
              </a:ext>
            </a:extLst>
          </p:cNvPr>
          <p:cNvSpPr>
            <a:spLocks xmlns:a="http://schemas.openxmlformats.org/drawingml/2006/main" noGrp="1"/>
          </p:cNvSpPr>
          <p:nvPr/>
        </p:nvSpPr>
        <p:spPr>
          <a:xfrm xmlns:a="http://schemas.openxmlformats.org/drawingml/2006/main">
            <a:off x="609600" y="5238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8324A"/>
                </a:solidFill>
                <a:latin typeface="Arial"/>
                <a:ea typeface="Arial"/>
                <a:cs typeface="Arial"/>
              </a:defRPr>
            </a:defPPr>
          </a:lstStyle>
          <a:p xmlns:a="http://schemas.openxmlformats.org/drawingml/2006/main">
            <a:pPr>
              <a:defRPr sz="3300" b="1">
                <a:solidFill>
                  <a:srgbClr val="18324A"/>
                </a:solidFill>
                <a:latin typeface="Arial"/>
                <a:ea typeface="Arial"/>
                <a:cs typeface="Arial"/>
              </a:defRPr>
            </a:pPr>
            <a:r>
              <a:rPr sz="3300" b="1">
                <a:solidFill>
                  <a:srgbClr val="18324A"/>
                </a:solidFill>
                <a:latin typeface="Arial"/>
                <a:ea typeface="Arial"/>
                <a:cs typeface="Arial"/>
              </a:rPr>
              <a:t>Requirements, constraints and risks</a:t>
            </a:r>
          </a:p>
        </p:txBody>
      </p:sp>
      <p:sp>
        <p:nvSpPr>
          <p:cNvPr id="2" name="">
            <a:extLst xmlns:a="http://schemas.openxmlformats.org/drawingml/2006/main">
              <a:ext uri="{FF2B5EF4-FFF2-40B4-BE49-F238E27FC236}">
                <a16:creationId xmlns:a16="http://schemas.microsoft.com/office/drawing/2014/main" id="{F8A231BD-D46D-4033-BA3E-C8C0A3D63908}"/>
              </a:ext>
            </a:extLst>
          </p:cNvPr>
          <p:cNvSpPr>
            <a:spLocks xmlns:a="http://schemas.openxmlformats.org/drawingml/2006/main" noGrp="1"/>
          </p:cNvSpPr>
          <p:nvPr/>
        </p:nvSpPr>
        <p:spPr>
          <a:xfrm xmlns:a="http://schemas.openxmlformats.org/drawingml/2006/main">
            <a:off x="619125" y="5553075"/>
            <a:ext cx="10906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A small scope makes the solution easier to test and explain</a:t>
            </a:r>
          </a:p>
        </p:txBody>
      </p:sp>
      <p:sp>
        <p:nvSpPr>
          <p:cNvPr id="3" name="">
            <a:extLst xmlns:a="http://schemas.openxmlformats.org/drawingml/2006/main">
              <a:ext uri="{FF2B5EF4-FFF2-40B4-BE49-F238E27FC236}">
                <a16:creationId xmlns:a16="http://schemas.microsoft.com/office/drawing/2014/main" id="{C49B3CF7-B9DE-4C6E-AC4A-153DFF7AA8C1}"/>
              </a:ext>
            </a:extLst>
          </p:cNvPr>
          <p:cNvSpPr>
            <a:spLocks xmlns:a="http://schemas.openxmlformats.org/drawingml/2006/main" noGrp="1"/>
          </p:cNvSpPr>
          <p:nvPr/>
        </p:nvSpPr>
        <p:spPr>
          <a:xfrm xmlns:a="http://schemas.openxmlformats.org/drawingml/2006/main">
            <a:off x="619125" y="64198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536A78"/>
                </a:solidFill>
                <a:latin typeface="Arial"/>
                <a:ea typeface="Arial"/>
                <a:cs typeface="Arial"/>
              </a:defRPr>
            </a:defPPr>
          </a:lstStyle>
          <a:p xmlns:a="http://schemas.openxmlformats.org/drawingml/2006/main">
            <a:pPr>
              <a:defRPr sz="1050" b="0">
                <a:solidFill>
                  <a:srgbClr val="536A78"/>
                </a:solidFill>
                <a:latin typeface="Arial"/>
                <a:ea typeface="Arial"/>
                <a:cs typeface="Arial"/>
              </a:defRPr>
            </a:pPr>
            <a:r>
              <a:rPr sz="1050" b="0">
                <a:solidFill>
                  <a:srgbClr val="536A78"/>
                </a:solidFill>
                <a:latin typeface="Arial"/>
                <a:ea typeface="Arial"/>
                <a:cs typeface="Arial"/>
              </a:rPr>
              <a:t>StockSense AI     04</a:t>
            </a:r>
          </a:p>
        </p:txBody>
      </p:sp>
      <p:sp>
        <p:nvSpPr>
          <p:cNvPr id="4" name="">
            <a:extLst xmlns:a="http://schemas.openxmlformats.org/drawingml/2006/main">
              <a:ext uri="{FF2B5EF4-FFF2-40B4-BE49-F238E27FC236}">
                <a16:creationId xmlns:a16="http://schemas.microsoft.com/office/drawing/2014/main" id="{15CA5D3B-C6FE-47C1-8A86-9B3C65693A31}"/>
              </a:ext>
            </a:extLst>
          </p:cNvPr>
          <p:cNvSpPr>
            <a:spLocks xmlns:a="http://schemas.openxmlformats.org/drawingml/2006/main" noGrp="1"/>
          </p:cNvSpPr>
          <p:nvPr/>
        </p:nvSpPr>
        <p:spPr>
          <a:xfrm xmlns:a="http://schemas.openxmlformats.org/drawingml/2006/main">
            <a:off x="647700" y="1828800"/>
            <a:ext cx="107442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8324A"/>
                </a:solidFill>
                <a:latin typeface="Arial"/>
                <a:ea typeface="Arial"/>
                <a:cs typeface="Arial"/>
              </a:defRPr>
            </a:defPPr>
          </a:lstStyle>
          <a:p xmlns:a="http://schemas.openxmlformats.org/drawingml/2006/main">
            <a:pPr>
              <a:defRPr sz="2175" b="0">
                <a:solidFill>
                  <a:srgbClr val="18324A"/>
                </a:solidFill>
                <a:latin typeface="Arial"/>
                <a:ea typeface="Arial"/>
                <a:cs typeface="Arial"/>
              </a:defRPr>
            </a:pPr>
            <a:r>
              <a:rPr sz="2175" b="0">
                <a:solidFill>
                  <a:srgbClr val="18324A"/>
                </a:solidFill>
                <a:latin typeface="Arial"/>
                <a:ea typeface="Arial"/>
                <a:cs typeface="Arial"/>
              </a:rPr>
              <a:t>Required: product selection, history, forecasts and stock inputs.</a:t>
            </a:r>
          </a:p>
        </p:txBody>
      </p:sp>
      <p:sp>
        <p:nvSpPr>
          <p:cNvPr id="5" name="">
            <a:extLst xmlns:a="http://schemas.openxmlformats.org/drawingml/2006/main">
              <a:ext uri="{FF2B5EF4-FFF2-40B4-BE49-F238E27FC236}">
                <a16:creationId xmlns:a16="http://schemas.microsoft.com/office/drawing/2014/main" id="{B3928476-AA80-4B4B-AF62-9911AA6EB6A7}"/>
              </a:ext>
            </a:extLst>
          </p:cNvPr>
          <p:cNvSpPr>
            <a:spLocks xmlns:a="http://schemas.openxmlformats.org/drawingml/2006/main" noGrp="1"/>
          </p:cNvSpPr>
          <p:nvPr/>
        </p:nvSpPr>
        <p:spPr>
          <a:xfrm xmlns:a="http://schemas.openxmlformats.org/drawingml/2006/main">
            <a:off x="647700" y="2695575"/>
            <a:ext cx="107442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8324A"/>
                </a:solidFill>
                <a:latin typeface="Arial"/>
                <a:ea typeface="Arial"/>
                <a:cs typeface="Arial"/>
              </a:defRPr>
            </a:defPPr>
          </a:lstStyle>
          <a:p xmlns:a="http://schemas.openxmlformats.org/drawingml/2006/main">
            <a:pPr>
              <a:defRPr sz="2175" b="0">
                <a:solidFill>
                  <a:srgbClr val="18324A"/>
                </a:solidFill>
                <a:latin typeface="Arial"/>
                <a:ea typeface="Arial"/>
                <a:cs typeface="Arial"/>
              </a:defRPr>
            </a:pPr>
            <a:r>
              <a:rPr sz="2175" b="0">
                <a:solidFill>
                  <a:srgbClr val="18324A"/>
                </a:solidFill>
                <a:latin typeface="Arial"/>
                <a:ea typeface="Arial"/>
                <a:cs typeface="Arial"/>
              </a:rPr>
              <a:t>Scope: one store, five products and a seven-day horizon.</a:t>
            </a:r>
          </a:p>
        </p:txBody>
      </p:sp>
      <p:sp>
        <p:nvSpPr>
          <p:cNvPr id="6" name="">
            <a:extLst xmlns:a="http://schemas.openxmlformats.org/drawingml/2006/main">
              <a:ext uri="{FF2B5EF4-FFF2-40B4-BE49-F238E27FC236}">
                <a16:creationId xmlns:a16="http://schemas.microsoft.com/office/drawing/2014/main" id="{1600601D-25FE-471B-9BC5-D6C31B6717EB}"/>
              </a:ext>
            </a:extLst>
          </p:cNvPr>
          <p:cNvSpPr>
            <a:spLocks xmlns:a="http://schemas.openxmlformats.org/drawingml/2006/main" noGrp="1"/>
          </p:cNvSpPr>
          <p:nvPr/>
        </p:nvSpPr>
        <p:spPr>
          <a:xfrm xmlns:a="http://schemas.openxmlformats.org/drawingml/2006/main">
            <a:off x="647700" y="3562350"/>
            <a:ext cx="107442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8324A"/>
                </a:solidFill>
                <a:latin typeface="Arial"/>
                <a:ea typeface="Arial"/>
                <a:cs typeface="Arial"/>
              </a:defRPr>
            </a:defPPr>
          </a:lstStyle>
          <a:p xmlns:a="http://schemas.openxmlformats.org/drawingml/2006/main">
            <a:pPr>
              <a:defRPr sz="2175" b="0">
                <a:solidFill>
                  <a:srgbClr val="18324A"/>
                </a:solidFill>
                <a:latin typeface="Arial"/>
                <a:ea typeface="Arial"/>
                <a:cs typeface="Arial"/>
              </a:defRPr>
            </a:pPr>
            <a:r>
              <a:rPr sz="2175" b="0">
                <a:solidFill>
                  <a:srgbClr val="18324A"/>
                </a:solidFill>
                <a:latin typeface="Arial"/>
                <a:ea typeface="Arial"/>
                <a:cs typeface="Arial"/>
              </a:rPr>
              <a:t>Risks: future data entering training and invalid stock inputs.</a:t>
            </a:r>
          </a:p>
        </p:txBody>
      </p:sp>
      <p:sp>
        <p:nvSpPr>
          <p:cNvPr id="7" name="">
            <a:extLst xmlns:a="http://schemas.openxmlformats.org/drawingml/2006/main">
              <a:ext uri="{FF2B5EF4-FFF2-40B4-BE49-F238E27FC236}">
                <a16:creationId xmlns:a16="http://schemas.microsoft.com/office/drawing/2014/main" id="{407AEF69-5F5D-4D78-9711-342295E36D2F}"/>
              </a:ext>
            </a:extLst>
          </p:cNvPr>
          <p:cNvSpPr>
            <a:spLocks xmlns:a="http://schemas.openxmlformats.org/drawingml/2006/main" noGrp="1"/>
          </p:cNvSpPr>
          <p:nvPr/>
        </p:nvSpPr>
        <p:spPr>
          <a:xfrm xmlns:a="http://schemas.openxmlformats.org/drawingml/2006/main">
            <a:off x="647700" y="4429125"/>
            <a:ext cx="107442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8324A"/>
                </a:solidFill>
                <a:latin typeface="Arial"/>
                <a:ea typeface="Arial"/>
                <a:cs typeface="Arial"/>
              </a:defRPr>
            </a:defPPr>
          </a:lstStyle>
          <a:p xmlns:a="http://schemas.openxmlformats.org/drawingml/2006/main">
            <a:pPr>
              <a:defRPr sz="2175" b="0">
                <a:solidFill>
                  <a:srgbClr val="18324A"/>
                </a:solidFill>
                <a:latin typeface="Arial"/>
                <a:ea typeface="Arial"/>
                <a:cs typeface="Arial"/>
              </a:defRPr>
            </a:pPr>
            <a:r>
              <a:rPr sz="2175" b="0">
                <a:solidFill>
                  <a:srgbClr val="18324A"/>
                </a:solidFill>
                <a:latin typeface="Arial"/>
                <a:ea typeface="Arial"/>
                <a:cs typeface="Arial"/>
              </a:rPr>
              <a:t>Responses: time-based splits, validation and saved local models.</a:t>
            </a:r>
          </a:p>
        </p:txBody>
      </p:sp>
    </p:spTree>
    <p:extLst>
      <p:ext uri="{BB962C8B-B14F-4D97-AF65-F5344CB8AC3E}">
        <p14:creationId xmlns:p14="http://schemas.microsoft.com/office/powerpoint/2010/main" val="1291847163"/>
      </p:ext>
    </p:extLst>
  </p:cSld>
</p:sld>
</file>

<file path=ppt/slides/slide5.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1D6E0D5-227B-4382-BBB8-2E7C93257FF2}"/>
              </a:ext>
            </a:extLst>
          </p:cNvPr>
          <p:cNvSpPr>
            <a:spLocks xmlns:a="http://schemas.openxmlformats.org/drawingml/2006/main" noGrp="1"/>
          </p:cNvSpPr>
          <p:nvPr/>
        </p:nvSpPr>
        <p:spPr>
          <a:xfrm xmlns:a="http://schemas.openxmlformats.org/drawingml/2006/main">
            <a:off x="609600" y="5238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8324A"/>
                </a:solidFill>
                <a:latin typeface="Arial"/>
                <a:ea typeface="Arial"/>
                <a:cs typeface="Arial"/>
              </a:defRPr>
            </a:defPPr>
          </a:lstStyle>
          <a:p xmlns:a="http://schemas.openxmlformats.org/drawingml/2006/main">
            <a:pPr>
              <a:defRPr sz="3300" b="1">
                <a:solidFill>
                  <a:srgbClr val="18324A"/>
                </a:solidFill>
                <a:latin typeface="Arial"/>
                <a:ea typeface="Arial"/>
                <a:cs typeface="Arial"/>
              </a:defRPr>
            </a:pPr>
            <a:r>
              <a:rPr sz="3300" b="1">
                <a:solidFill>
                  <a:srgbClr val="18324A"/>
                </a:solidFill>
                <a:latin typeface="Arial"/>
                <a:ea typeface="Arial"/>
                <a:cs typeface="Arial"/>
              </a:rPr>
              <a:t>The dataset and its four fields</a:t>
            </a:r>
          </a:p>
        </p:txBody>
      </p:sp>
      <p:sp>
        <p:nvSpPr>
          <p:cNvPr id="2" name="">
            <a:extLst xmlns:a="http://schemas.openxmlformats.org/drawingml/2006/main">
              <a:ext uri="{FF2B5EF4-FFF2-40B4-BE49-F238E27FC236}">
                <a16:creationId xmlns:a16="http://schemas.microsoft.com/office/drawing/2014/main" id="{34E2FC13-DAE8-43B2-89E0-BF3B28B3DBDB}"/>
              </a:ext>
            </a:extLst>
          </p:cNvPr>
          <p:cNvSpPr>
            <a:spLocks xmlns:a="http://schemas.openxmlformats.org/drawingml/2006/main" noGrp="1"/>
          </p:cNvSpPr>
          <p:nvPr/>
        </p:nvSpPr>
        <p:spPr>
          <a:xfrm xmlns:a="http://schemas.openxmlformats.org/drawingml/2006/main">
            <a:off x="619125" y="64198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536A78"/>
                </a:solidFill>
                <a:latin typeface="Arial"/>
                <a:ea typeface="Arial"/>
                <a:cs typeface="Arial"/>
              </a:defRPr>
            </a:defPPr>
          </a:lstStyle>
          <a:p xmlns:a="http://schemas.openxmlformats.org/drawingml/2006/main">
            <a:pPr>
              <a:defRPr sz="1050" b="0">
                <a:solidFill>
                  <a:srgbClr val="536A78"/>
                </a:solidFill>
                <a:latin typeface="Arial"/>
                <a:ea typeface="Arial"/>
                <a:cs typeface="Arial"/>
              </a:defRPr>
            </a:pPr>
            <a:r>
              <a:rPr sz="1050" b="0">
                <a:solidFill>
                  <a:srgbClr val="536A78"/>
                </a:solidFill>
                <a:latin typeface="Arial"/>
                <a:ea typeface="Arial"/>
                <a:cs typeface="Arial"/>
              </a:rPr>
              <a:t>StockSense AI     05</a:t>
            </a:r>
          </a:p>
        </p:txBody>
      </p:sp>
      <p:sp>
        <p:nvSpPr>
          <p:cNvPr id="3" name="">
            <a:extLst xmlns:a="http://schemas.openxmlformats.org/drawingml/2006/main">
              <a:ext uri="{FF2B5EF4-FFF2-40B4-BE49-F238E27FC236}">
                <a16:creationId xmlns:a16="http://schemas.microsoft.com/office/drawing/2014/main" id="{0D06BFF2-5607-4DD4-A165-E209D9554698}"/>
              </a:ext>
            </a:extLst>
          </p:cNvPr>
          <p:cNvSpPr>
            <a:spLocks xmlns:a="http://schemas.openxmlformats.org/drawingml/2006/main" noGrp="1"/>
          </p:cNvSpPr>
          <p:nvPr/>
        </p:nvSpPr>
        <p:spPr>
          <a:xfrm xmlns:a="http://schemas.openxmlformats.org/drawingml/2006/main">
            <a:off x="647700" y="1657350"/>
            <a:ext cx="10858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2013–2017     913,000 source rows     9,130 selected rows</a:t>
            </a:r>
          </a:p>
        </p:txBody>
      </p:sp>
      <p:graphicFrame>
        <p:nvGraphicFramePr>
          <p:cNvPr id="4" name="">
            <a:extLst xmlns:a="http://schemas.openxmlformats.org/drawingml/2006/main">
              <a:ext uri="{FF2B5EF4-FFF2-40B4-BE49-F238E27FC236}">
                <a16:creationId xmlns:a16="http://schemas.microsoft.com/office/drawing/2014/main" id="{EB574D25-1875-4F2B-A1F9-0D9A21DF9302}"/>
              </a:ext>
            </a:extLst>
          </p:cNvPr>
          <p:cNvGraphicFramePr/>
          <p:nvPr/>
        </p:nvGraphicFramePr>
        <p:xfrm>
          <a:off xmlns:a="http://schemas.openxmlformats.org/drawingml/2006/main" x="647700" y="2447925"/>
          <a:ext xmlns:a="http://schemas.openxmlformats.org/drawingml/2006/main" cx="10858500" cy="2857500"/>
        </p:xfrm>
        <a:graphic xmlns:a="http://schemas.openxmlformats.org/drawingml/2006/main">
          <a:graphicData uri="http://schemas.openxmlformats.org/drawingml/2006/table">
            <a:tbl>
              <a:tblPr/>
              <a:tblGrid>
                <a:gridCol w="1714500"/>
                <a:gridCol w="2619375"/>
                <a:gridCol w="2238375"/>
                <a:gridCol w="4286250"/>
              </a:tblGrid>
              <a:tr h="571500">
                <a:tc>
                  <a:txBody>
                    <a:bodyPr/>
                    <a:lstStyle/>
                    <a:p>
                      <a:r>
                        <a:rPr sz="1875" b="1">
                          <a:solidFill>
                            <a:srgbClr val="FFFFFF"/>
                          </a:solidFill>
                          <a:latin typeface="Arial"/>
                          <a:ea typeface="Arial"/>
                          <a:cs typeface="Arial"/>
                        </a:rPr>
                        <a:t>Field</a:t>
                      </a:r>
                    </a:p>
                  </a:txBody>
                  <a:tcPr marL="91440" marR="91440" marT="45720" marB="45720">
                    <a:lnL w="9525">
                      <a:solidFill>
                        <a:srgbClr val="DCE5E2"/>
                      </a:solidFill>
                      <a:prstDash val="solid"/>
                    </a:lnL>
                    <a:lnR w="9525">
                      <a:solidFill>
                        <a:srgbClr val="DCE5E2"/>
                      </a:solidFill>
                      <a:prstDash val="solid"/>
                    </a:lnR>
                    <a:lnT w="9525">
                      <a:solidFill>
                        <a:srgbClr val="DCE5E2"/>
                      </a:solidFill>
                      <a:prstDash val="solid"/>
                    </a:lnT>
                    <a:lnB w="9525">
                      <a:solidFill>
                        <a:srgbClr val="DCE5E2"/>
                      </a:solidFill>
                      <a:prstDash val="solid"/>
                    </a:lnB>
                    <a:solidFill>
                      <a:srgbClr val="11263E"/>
                    </a:solidFill>
                  </a:tcPr>
                </a:tc>
                <a:tc>
                  <a:txBody>
                    <a:bodyPr/>
                    <a:lstStyle/>
                    <a:p>
                      <a:r>
                        <a:rPr sz="1875" b="1">
                          <a:solidFill>
                            <a:srgbClr val="FFFFFF"/>
                          </a:solidFill>
                          <a:latin typeface="Arial"/>
                          <a:ea typeface="Arial"/>
                          <a:cs typeface="Arial"/>
                        </a:rPr>
                        <a:t>Type</a:t>
                      </a:r>
                    </a:p>
                  </a:txBody>
                  <a:tcPr marL="91440" marR="91440" marT="45720" marB="45720">
                    <a:lnR w="9525">
                      <a:solidFill>
                        <a:srgbClr val="DCE5E2"/>
                      </a:solidFill>
                      <a:prstDash val="solid"/>
                    </a:lnR>
                    <a:lnT w="9525">
                      <a:solidFill>
                        <a:srgbClr val="DCE5E2"/>
                      </a:solidFill>
                      <a:prstDash val="solid"/>
                    </a:lnT>
                    <a:lnB w="9525">
                      <a:solidFill>
                        <a:srgbClr val="DCE5E2"/>
                      </a:solidFill>
                      <a:prstDash val="solid"/>
                    </a:lnB>
                    <a:solidFill>
                      <a:srgbClr val="11263E"/>
                    </a:solidFill>
                  </a:tcPr>
                </a:tc>
                <a:tc>
                  <a:txBody>
                    <a:bodyPr/>
                    <a:lstStyle/>
                    <a:p>
                      <a:r>
                        <a:rPr sz="1875" b="1">
                          <a:solidFill>
                            <a:srgbClr val="FFFFFF"/>
                          </a:solidFill>
                          <a:latin typeface="Arial"/>
                          <a:ea typeface="Arial"/>
                          <a:cs typeface="Arial"/>
                        </a:rPr>
                        <a:t>Example</a:t>
                      </a:r>
                    </a:p>
                  </a:txBody>
                  <a:tcPr marL="91440" marR="91440" marT="45720" marB="45720">
                    <a:lnR w="9525">
                      <a:solidFill>
                        <a:srgbClr val="DCE5E2"/>
                      </a:solidFill>
                      <a:prstDash val="solid"/>
                    </a:lnR>
                    <a:lnT w="9525">
                      <a:solidFill>
                        <a:srgbClr val="DCE5E2"/>
                      </a:solidFill>
                      <a:prstDash val="solid"/>
                    </a:lnT>
                    <a:lnB w="9525">
                      <a:solidFill>
                        <a:srgbClr val="DCE5E2"/>
                      </a:solidFill>
                      <a:prstDash val="solid"/>
                    </a:lnB>
                    <a:solidFill>
                      <a:srgbClr val="11263E"/>
                    </a:solidFill>
                  </a:tcPr>
                </a:tc>
                <a:tc>
                  <a:txBody>
                    <a:bodyPr/>
                    <a:lstStyle/>
                    <a:p>
                      <a:r>
                        <a:rPr sz="1875" b="1">
                          <a:solidFill>
                            <a:srgbClr val="FFFFFF"/>
                          </a:solidFill>
                          <a:latin typeface="Arial"/>
                          <a:ea typeface="Arial"/>
                          <a:cs typeface="Arial"/>
                        </a:rPr>
                        <a:t>Meaning</a:t>
                      </a:r>
                    </a:p>
                  </a:txBody>
                  <a:tcPr marL="91440" marR="91440" marT="45720" marB="45720">
                    <a:lnR w="9525">
                      <a:solidFill>
                        <a:srgbClr val="DCE5E2"/>
                      </a:solidFill>
                      <a:prstDash val="solid"/>
                    </a:lnR>
                    <a:lnT w="9525">
                      <a:solidFill>
                        <a:srgbClr val="DCE5E2"/>
                      </a:solidFill>
                      <a:prstDash val="solid"/>
                    </a:lnT>
                    <a:lnB w="9525">
                      <a:solidFill>
                        <a:srgbClr val="DCE5E2"/>
                      </a:solidFill>
                      <a:prstDash val="solid"/>
                    </a:lnB>
                    <a:solidFill>
                      <a:srgbClr val="11263E"/>
                    </a:solidFill>
                  </a:tcPr>
                </a:tc>
              </a:tr>
              <a:tr h="571500">
                <a:tc>
                  <a:txBody>
                    <a:bodyPr/>
                    <a:lstStyle/>
                    <a:p>
                      <a:r>
                        <a:rPr sz="1875" b="0">
                          <a:solidFill>
                            <a:srgbClr val="18324A"/>
                          </a:solidFill>
                          <a:latin typeface="Arial"/>
                          <a:ea typeface="Arial"/>
                          <a:cs typeface="Arial"/>
                        </a:rPr>
                        <a:t>date</a:t>
                      </a:r>
                    </a:p>
                  </a:txBody>
                  <a:tcPr marL="91440" marR="91440" marT="45720" marB="45720">
                    <a:lnL w="9525">
                      <a:solidFill>
                        <a:srgbClr val="DCE5E2"/>
                      </a:solidFill>
                      <a:prstDash val="solid"/>
                    </a:lnL>
                    <a:lnR w="9525">
                      <a:solidFill>
                        <a:srgbClr val="DCE5E2"/>
                      </a:solidFill>
                      <a:prstDash val="solid"/>
                    </a:lnR>
                    <a:lnB w="9525">
                      <a:solidFill>
                        <a:srgbClr val="DCE5E2"/>
                      </a:solidFill>
                      <a:prstDash val="solid"/>
                    </a:lnB>
                    <a:solidFill>
                      <a:srgbClr val="FFFFFF"/>
                    </a:solidFill>
                  </a:tcPr>
                </a:tc>
                <a:tc>
                  <a:txBody>
                    <a:bodyPr/>
                    <a:lstStyle/>
                    <a:p>
                      <a:r>
                        <a:rPr sz="1875" b="0">
                          <a:solidFill>
                            <a:srgbClr val="18324A"/>
                          </a:solidFill>
                          <a:latin typeface="Arial"/>
                          <a:ea typeface="Arial"/>
                          <a:cs typeface="Arial"/>
                        </a:rPr>
                        <a:t>Temporal</a:t>
                      </a:r>
                    </a:p>
                  </a:txBody>
                  <a:tcPr marL="91440" marR="91440" marT="45720" marB="45720">
                    <a:lnR w="9525">
                      <a:solidFill>
                        <a:srgbClr val="DCE5E2"/>
                      </a:solidFill>
                      <a:prstDash val="solid"/>
                    </a:lnR>
                    <a:lnB w="9525">
                      <a:solidFill>
                        <a:srgbClr val="DCE5E2"/>
                      </a:solidFill>
                      <a:prstDash val="solid"/>
                    </a:lnB>
                    <a:solidFill>
                      <a:srgbClr val="FFFFFF"/>
                    </a:solidFill>
                  </a:tcPr>
                </a:tc>
                <a:tc>
                  <a:txBody>
                    <a:bodyPr/>
                    <a:lstStyle/>
                    <a:p>
                      <a:r>
                        <a:rPr sz="1875" b="0">
                          <a:solidFill>
                            <a:srgbClr val="18324A"/>
                          </a:solidFill>
                          <a:latin typeface="Arial"/>
                          <a:ea typeface="Arial"/>
                          <a:cs typeface="Arial"/>
                        </a:rPr>
                        <a:t>2013-01-01</a:t>
                      </a:r>
                    </a:p>
                  </a:txBody>
                  <a:tcPr marL="91440" marR="91440" marT="45720" marB="45720">
                    <a:lnR w="9525">
                      <a:solidFill>
                        <a:srgbClr val="DCE5E2"/>
                      </a:solidFill>
                      <a:prstDash val="solid"/>
                    </a:lnR>
                    <a:lnB w="9525">
                      <a:solidFill>
                        <a:srgbClr val="DCE5E2"/>
                      </a:solidFill>
                      <a:prstDash val="solid"/>
                    </a:lnB>
                    <a:solidFill>
                      <a:srgbClr val="FFFFFF"/>
                    </a:solidFill>
                  </a:tcPr>
                </a:tc>
                <a:tc>
                  <a:txBody>
                    <a:bodyPr/>
                    <a:lstStyle/>
                    <a:p>
                      <a:r>
                        <a:rPr sz="1875" b="0">
                          <a:solidFill>
                            <a:srgbClr val="18324A"/>
                          </a:solidFill>
                          <a:latin typeface="Arial"/>
                          <a:ea typeface="Arial"/>
                          <a:cs typeface="Arial"/>
                        </a:rPr>
                        <a:t>Day of the sale</a:t>
                      </a:r>
                    </a:p>
                  </a:txBody>
                  <a:tcPr marL="91440" marR="91440" marT="45720" marB="45720">
                    <a:lnR w="9525">
                      <a:solidFill>
                        <a:srgbClr val="DCE5E2"/>
                      </a:solidFill>
                      <a:prstDash val="solid"/>
                    </a:lnR>
                    <a:lnB w="9525">
                      <a:solidFill>
                        <a:srgbClr val="DCE5E2"/>
                      </a:solidFill>
                      <a:prstDash val="solid"/>
                    </a:lnB>
                    <a:solidFill>
                      <a:srgbClr val="FFFFFF"/>
                    </a:solidFill>
                  </a:tcPr>
                </a:tc>
              </a:tr>
              <a:tr h="571500">
                <a:tc>
                  <a:txBody>
                    <a:bodyPr/>
                    <a:lstStyle/>
                    <a:p>
                      <a:r>
                        <a:rPr sz="1875" b="0">
                          <a:solidFill>
                            <a:srgbClr val="18324A"/>
                          </a:solidFill>
                          <a:latin typeface="Arial"/>
                          <a:ea typeface="Arial"/>
                          <a:cs typeface="Arial"/>
                        </a:rPr>
                        <a:t>store</a:t>
                      </a:r>
                    </a:p>
                  </a:txBody>
                  <a:tcPr marL="91440" marR="91440" marT="45720" marB="45720">
                    <a:lnL w="9525">
                      <a:solidFill>
                        <a:srgbClr val="DCE5E2"/>
                      </a:solidFill>
                      <a:prstDash val="solid"/>
                    </a:lnL>
                    <a:lnR w="9525">
                      <a:solidFill>
                        <a:srgbClr val="DCE5E2"/>
                      </a:solidFill>
                      <a:prstDash val="solid"/>
                    </a:lnR>
                    <a:lnB w="9525">
                      <a:solidFill>
                        <a:srgbClr val="DCE5E2"/>
                      </a:solidFill>
                      <a:prstDash val="solid"/>
                    </a:lnB>
                    <a:solidFill>
                      <a:srgbClr val="FFFFFF"/>
                    </a:solidFill>
                  </a:tcPr>
                </a:tc>
                <a:tc>
                  <a:txBody>
                    <a:bodyPr/>
                    <a:lstStyle/>
                    <a:p>
                      <a:r>
                        <a:rPr sz="1875" b="0">
                          <a:solidFill>
                            <a:srgbClr val="18324A"/>
                          </a:solidFill>
                          <a:latin typeface="Arial"/>
                          <a:ea typeface="Arial"/>
                          <a:cs typeface="Arial"/>
                        </a:rPr>
                        <a:t>Categorical ID</a:t>
                      </a:r>
                    </a:p>
                  </a:txBody>
                  <a:tcPr marL="91440" marR="91440" marT="45720" marB="45720">
                    <a:lnR w="9525">
                      <a:solidFill>
                        <a:srgbClr val="DCE5E2"/>
                      </a:solidFill>
                      <a:prstDash val="solid"/>
                    </a:lnR>
                    <a:lnB w="9525">
                      <a:solidFill>
                        <a:srgbClr val="DCE5E2"/>
                      </a:solidFill>
                      <a:prstDash val="solid"/>
                    </a:lnB>
                    <a:solidFill>
                      <a:srgbClr val="FFFFFF"/>
                    </a:solidFill>
                  </a:tcPr>
                </a:tc>
                <a:tc>
                  <a:txBody>
                    <a:bodyPr/>
                    <a:lstStyle/>
                    <a:p>
                      <a:r>
                        <a:rPr sz="1875" b="0">
                          <a:solidFill>
                            <a:srgbClr val="18324A"/>
                          </a:solidFill>
                          <a:latin typeface="Arial"/>
                          <a:ea typeface="Arial"/>
                          <a:cs typeface="Arial"/>
                        </a:rPr>
                        <a:t>1</a:t>
                      </a:r>
                    </a:p>
                  </a:txBody>
                  <a:tcPr marL="91440" marR="91440" marT="45720" marB="45720">
                    <a:lnR w="9525">
                      <a:solidFill>
                        <a:srgbClr val="DCE5E2"/>
                      </a:solidFill>
                      <a:prstDash val="solid"/>
                    </a:lnR>
                    <a:lnB w="9525">
                      <a:solidFill>
                        <a:srgbClr val="DCE5E2"/>
                      </a:solidFill>
                      <a:prstDash val="solid"/>
                    </a:lnB>
                    <a:solidFill>
                      <a:srgbClr val="FFFFFF"/>
                    </a:solidFill>
                  </a:tcPr>
                </a:tc>
                <a:tc>
                  <a:txBody>
                    <a:bodyPr/>
                    <a:lstStyle/>
                    <a:p>
                      <a:r>
                        <a:rPr sz="1875" b="0">
                          <a:solidFill>
                            <a:srgbClr val="18324A"/>
                          </a:solidFill>
                          <a:latin typeface="Arial"/>
                          <a:ea typeface="Arial"/>
                          <a:cs typeface="Arial"/>
                        </a:rPr>
                        <a:t>Anonymous store</a:t>
                      </a:r>
                    </a:p>
                  </a:txBody>
                  <a:tcPr marL="91440" marR="91440" marT="45720" marB="45720">
                    <a:lnR w="9525">
                      <a:solidFill>
                        <a:srgbClr val="DCE5E2"/>
                      </a:solidFill>
                      <a:prstDash val="solid"/>
                    </a:lnR>
                    <a:lnB w="9525">
                      <a:solidFill>
                        <a:srgbClr val="DCE5E2"/>
                      </a:solidFill>
                      <a:prstDash val="solid"/>
                    </a:lnB>
                    <a:solidFill>
                      <a:srgbClr val="FFFFFF"/>
                    </a:solidFill>
                  </a:tcPr>
                </a:tc>
              </a:tr>
              <a:tr h="571500">
                <a:tc>
                  <a:txBody>
                    <a:bodyPr/>
                    <a:lstStyle/>
                    <a:p>
                      <a:r>
                        <a:rPr sz="1875" b="0">
                          <a:solidFill>
                            <a:srgbClr val="18324A"/>
                          </a:solidFill>
                          <a:latin typeface="Arial"/>
                          <a:ea typeface="Arial"/>
                          <a:cs typeface="Arial"/>
                        </a:rPr>
                        <a:t>item</a:t>
                      </a:r>
                    </a:p>
                  </a:txBody>
                  <a:tcPr marL="91440" marR="91440" marT="45720" marB="45720">
                    <a:lnL w="9525">
                      <a:solidFill>
                        <a:srgbClr val="DCE5E2"/>
                      </a:solidFill>
                      <a:prstDash val="solid"/>
                    </a:lnL>
                    <a:lnR w="9525">
                      <a:solidFill>
                        <a:srgbClr val="DCE5E2"/>
                      </a:solidFill>
                      <a:prstDash val="solid"/>
                    </a:lnR>
                    <a:lnB w="9525">
                      <a:solidFill>
                        <a:srgbClr val="DCE5E2"/>
                      </a:solidFill>
                      <a:prstDash val="solid"/>
                    </a:lnB>
                    <a:solidFill>
                      <a:srgbClr val="FFFFFF"/>
                    </a:solidFill>
                  </a:tcPr>
                </a:tc>
                <a:tc>
                  <a:txBody>
                    <a:bodyPr/>
                    <a:lstStyle/>
                    <a:p>
                      <a:r>
                        <a:rPr sz="1875" b="0">
                          <a:solidFill>
                            <a:srgbClr val="18324A"/>
                          </a:solidFill>
                          <a:latin typeface="Arial"/>
                          <a:ea typeface="Arial"/>
                          <a:cs typeface="Arial"/>
                        </a:rPr>
                        <a:t>Categorical ID</a:t>
                      </a:r>
                    </a:p>
                  </a:txBody>
                  <a:tcPr marL="91440" marR="91440" marT="45720" marB="45720">
                    <a:lnR w="9525">
                      <a:solidFill>
                        <a:srgbClr val="DCE5E2"/>
                      </a:solidFill>
                      <a:prstDash val="solid"/>
                    </a:lnR>
                    <a:lnB w="9525">
                      <a:solidFill>
                        <a:srgbClr val="DCE5E2"/>
                      </a:solidFill>
                      <a:prstDash val="solid"/>
                    </a:lnB>
                    <a:solidFill>
                      <a:srgbClr val="FFFFFF"/>
                    </a:solidFill>
                  </a:tcPr>
                </a:tc>
                <a:tc>
                  <a:txBody>
                    <a:bodyPr/>
                    <a:lstStyle/>
                    <a:p>
                      <a:r>
                        <a:rPr sz="1875" b="0">
                          <a:solidFill>
                            <a:srgbClr val="18324A"/>
                          </a:solidFill>
                          <a:latin typeface="Arial"/>
                          <a:ea typeface="Arial"/>
                          <a:cs typeface="Arial"/>
                        </a:rPr>
                        <a:t>1</a:t>
                      </a:r>
                    </a:p>
                  </a:txBody>
                  <a:tcPr marL="91440" marR="91440" marT="45720" marB="45720">
                    <a:lnR w="9525">
                      <a:solidFill>
                        <a:srgbClr val="DCE5E2"/>
                      </a:solidFill>
                      <a:prstDash val="solid"/>
                    </a:lnR>
                    <a:lnB w="9525">
                      <a:solidFill>
                        <a:srgbClr val="DCE5E2"/>
                      </a:solidFill>
                      <a:prstDash val="solid"/>
                    </a:lnB>
                    <a:solidFill>
                      <a:srgbClr val="FFFFFF"/>
                    </a:solidFill>
                  </a:tcPr>
                </a:tc>
                <a:tc>
                  <a:txBody>
                    <a:bodyPr/>
                    <a:lstStyle/>
                    <a:p>
                      <a:r>
                        <a:rPr sz="1875" b="0">
                          <a:solidFill>
                            <a:srgbClr val="18324A"/>
                          </a:solidFill>
                          <a:latin typeface="Arial"/>
                          <a:ea typeface="Arial"/>
                          <a:cs typeface="Arial"/>
                        </a:rPr>
                        <a:t>Anonymous product</a:t>
                      </a:r>
                    </a:p>
                  </a:txBody>
                  <a:tcPr marL="91440" marR="91440" marT="45720" marB="45720">
                    <a:lnR w="9525">
                      <a:solidFill>
                        <a:srgbClr val="DCE5E2"/>
                      </a:solidFill>
                      <a:prstDash val="solid"/>
                    </a:lnR>
                    <a:lnB w="9525">
                      <a:solidFill>
                        <a:srgbClr val="DCE5E2"/>
                      </a:solidFill>
                      <a:prstDash val="solid"/>
                    </a:lnB>
                    <a:solidFill>
                      <a:srgbClr val="FFFFFF"/>
                    </a:solidFill>
                  </a:tcPr>
                </a:tc>
              </a:tr>
              <a:tr h="571500">
                <a:tc>
                  <a:txBody>
                    <a:bodyPr/>
                    <a:lstStyle/>
                    <a:p>
                      <a:r>
                        <a:rPr sz="1875" b="0">
                          <a:solidFill>
                            <a:srgbClr val="18324A"/>
                          </a:solidFill>
                          <a:latin typeface="Arial"/>
                          <a:ea typeface="Arial"/>
                          <a:cs typeface="Arial"/>
                        </a:rPr>
                        <a:t>sales</a:t>
                      </a:r>
                    </a:p>
                  </a:txBody>
                  <a:tcPr marL="91440" marR="91440" marT="45720" marB="45720">
                    <a:lnL w="9525">
                      <a:solidFill>
                        <a:srgbClr val="DCE5E2"/>
                      </a:solidFill>
                      <a:prstDash val="solid"/>
                    </a:lnL>
                    <a:lnR w="9525">
                      <a:solidFill>
                        <a:srgbClr val="DCE5E2"/>
                      </a:solidFill>
                      <a:prstDash val="solid"/>
                    </a:lnR>
                    <a:lnB w="9525">
                      <a:solidFill>
                        <a:srgbClr val="DCE5E2"/>
                      </a:solidFill>
                      <a:prstDash val="solid"/>
                    </a:lnB>
                    <a:solidFill>
                      <a:srgbClr val="FFFFFF"/>
                    </a:solidFill>
                  </a:tcPr>
                </a:tc>
                <a:tc>
                  <a:txBody>
                    <a:bodyPr/>
                    <a:lstStyle/>
                    <a:p>
                      <a:r>
                        <a:rPr sz="1875" b="0">
                          <a:solidFill>
                            <a:srgbClr val="18324A"/>
                          </a:solidFill>
                          <a:latin typeface="Arial"/>
                          <a:ea typeface="Arial"/>
                          <a:cs typeface="Arial"/>
                        </a:rPr>
                        <a:t>Numerical count</a:t>
                      </a:r>
                    </a:p>
                  </a:txBody>
                  <a:tcPr marL="91440" marR="91440" marT="45720" marB="45720">
                    <a:lnR w="9525">
                      <a:solidFill>
                        <a:srgbClr val="DCE5E2"/>
                      </a:solidFill>
                      <a:prstDash val="solid"/>
                    </a:lnR>
                    <a:lnB w="9525">
                      <a:solidFill>
                        <a:srgbClr val="DCE5E2"/>
                      </a:solidFill>
                      <a:prstDash val="solid"/>
                    </a:lnB>
                    <a:solidFill>
                      <a:srgbClr val="FFFFFF"/>
                    </a:solidFill>
                  </a:tcPr>
                </a:tc>
                <a:tc>
                  <a:txBody>
                    <a:bodyPr/>
                    <a:lstStyle/>
                    <a:p>
                      <a:r>
                        <a:rPr sz="1875" b="0">
                          <a:solidFill>
                            <a:srgbClr val="18324A"/>
                          </a:solidFill>
                          <a:latin typeface="Arial"/>
                          <a:ea typeface="Arial"/>
                          <a:cs typeface="Arial"/>
                        </a:rPr>
                        <a:t>13</a:t>
                      </a:r>
                    </a:p>
                  </a:txBody>
                  <a:tcPr marL="91440" marR="91440" marT="45720" marB="45720">
                    <a:lnR w="9525">
                      <a:solidFill>
                        <a:srgbClr val="DCE5E2"/>
                      </a:solidFill>
                      <a:prstDash val="solid"/>
                    </a:lnR>
                    <a:lnB w="9525">
                      <a:solidFill>
                        <a:srgbClr val="DCE5E2"/>
                      </a:solidFill>
                      <a:prstDash val="solid"/>
                    </a:lnB>
                    <a:solidFill>
                      <a:srgbClr val="FFFFFF"/>
                    </a:solidFill>
                  </a:tcPr>
                </a:tc>
                <a:tc>
                  <a:txBody>
                    <a:bodyPr/>
                    <a:lstStyle/>
                    <a:p>
                      <a:r>
                        <a:rPr sz="1875" b="0">
                          <a:solidFill>
                            <a:srgbClr val="18324A"/>
                          </a:solidFill>
                          <a:latin typeface="Arial"/>
                          <a:ea typeface="Arial"/>
                          <a:cs typeface="Arial"/>
                        </a:rPr>
                        <a:t>Units sold that day</a:t>
                      </a:r>
                    </a:p>
                  </a:txBody>
                  <a:tcPr marL="91440" marR="91440" marT="45720" marB="45720">
                    <a:lnR w="9525">
                      <a:solidFill>
                        <a:srgbClr val="DCE5E2"/>
                      </a:solidFill>
                      <a:prstDash val="solid"/>
                    </a:lnR>
                    <a:lnB w="9525">
                      <a:solidFill>
                        <a:srgbClr val="DCE5E2"/>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2394713E-7D03-4D17-99B0-695171AC2693}"/>
              </a:ext>
            </a:extLst>
          </p:cNvPr>
          <p:cNvSpPr>
            <a:spLocks xmlns:a="http://schemas.openxmlformats.org/drawingml/2006/main" noGrp="1"/>
          </p:cNvSpPr>
          <p:nvPr/>
        </p:nvSpPr>
        <p:spPr>
          <a:xfrm xmlns:a="http://schemas.openxmlformats.org/drawingml/2006/main">
            <a:off x="647700" y="5581650"/>
            <a:ext cx="10858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087E79"/>
                </a:solidFill>
                <a:latin typeface="Arial"/>
                <a:ea typeface="Arial"/>
                <a:cs typeface="Arial"/>
              </a:defRPr>
            </a:defPPr>
          </a:lstStyle>
          <a:p xmlns:a="http://schemas.openxmlformats.org/drawingml/2006/main">
            <a:pPr>
              <a:defRPr sz="2025" b="1">
                <a:solidFill>
                  <a:srgbClr val="087E79"/>
                </a:solidFill>
                <a:latin typeface="Arial"/>
                <a:ea typeface="Arial"/>
                <a:cs typeface="Arial"/>
              </a:defRPr>
            </a:pPr>
            <a:r>
              <a:rPr sz="2025" b="1">
                <a:solidFill>
                  <a:srgbClr val="087E79"/>
                </a:solidFill>
                <a:latin typeface="Arial"/>
                <a:ea typeface="Arial"/>
                <a:cs typeface="Arial"/>
              </a:rPr>
              <a:t>Store and product numbers identify categories, not quantities.</a:t>
            </a:r>
          </a:p>
        </p:txBody>
      </p:sp>
    </p:spTree>
    <p:extLst>
      <p:ext uri="{BB962C8B-B14F-4D97-AF65-F5344CB8AC3E}">
        <p14:creationId xmlns:p14="http://schemas.microsoft.com/office/powerpoint/2010/main" val="1188452315"/>
      </p:ext>
    </p:extLst>
  </p:cSld>
</p:sld>
</file>

<file path=ppt/slides/slide6.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5F7D709-D29C-49DC-A8D1-24CF1E11305E}"/>
              </a:ext>
            </a:extLst>
          </p:cNvPr>
          <p:cNvSpPr>
            <a:spLocks xmlns:a="http://schemas.openxmlformats.org/drawingml/2006/main" noGrp="1"/>
          </p:cNvSpPr>
          <p:nvPr/>
        </p:nvSpPr>
        <p:spPr>
          <a:xfrm xmlns:a="http://schemas.openxmlformats.org/drawingml/2006/main">
            <a:off x="609600" y="5238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8324A"/>
                </a:solidFill>
                <a:latin typeface="Arial"/>
                <a:ea typeface="Arial"/>
                <a:cs typeface="Arial"/>
              </a:defRPr>
            </a:defPPr>
          </a:lstStyle>
          <a:p xmlns:a="http://schemas.openxmlformats.org/drawingml/2006/main">
            <a:pPr>
              <a:defRPr sz="3300" b="1">
                <a:solidFill>
                  <a:srgbClr val="18324A"/>
                </a:solidFill>
                <a:latin typeface="Arial"/>
                <a:ea typeface="Arial"/>
                <a:cs typeface="Arial"/>
              </a:defRPr>
            </a:pPr>
            <a:r>
              <a:rPr sz="3300" b="1">
                <a:solidFill>
                  <a:srgbClr val="18324A"/>
                </a:solidFill>
                <a:latin typeface="Arial"/>
                <a:ea typeface="Arial"/>
                <a:cs typeface="Arial"/>
              </a:rPr>
              <a:t>The data shows a weekly pattern</a:t>
            </a:r>
          </a:p>
        </p:txBody>
      </p:sp>
      <p:sp>
        <p:nvSpPr>
          <p:cNvPr id="2" name="">
            <a:extLst xmlns:a="http://schemas.openxmlformats.org/drawingml/2006/main">
              <a:ext uri="{FF2B5EF4-FFF2-40B4-BE49-F238E27FC236}">
                <a16:creationId xmlns:a16="http://schemas.microsoft.com/office/drawing/2014/main" id="{C0A354E3-56A2-4948-A318-AACCEF209ADA}"/>
              </a:ext>
            </a:extLst>
          </p:cNvPr>
          <p:cNvSpPr>
            <a:spLocks xmlns:a="http://schemas.openxmlformats.org/drawingml/2006/main" noGrp="1"/>
          </p:cNvSpPr>
          <p:nvPr/>
        </p:nvSpPr>
        <p:spPr>
          <a:xfrm xmlns:a="http://schemas.openxmlformats.org/drawingml/2006/main">
            <a:off x="619125" y="64198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536A78"/>
                </a:solidFill>
                <a:latin typeface="Arial"/>
                <a:ea typeface="Arial"/>
                <a:cs typeface="Arial"/>
              </a:defRPr>
            </a:defPPr>
          </a:lstStyle>
          <a:p xmlns:a="http://schemas.openxmlformats.org/drawingml/2006/main">
            <a:pPr>
              <a:defRPr sz="1050" b="0">
                <a:solidFill>
                  <a:srgbClr val="536A78"/>
                </a:solidFill>
                <a:latin typeface="Arial"/>
                <a:ea typeface="Arial"/>
                <a:cs typeface="Arial"/>
              </a:defRPr>
            </a:pPr>
            <a:r>
              <a:rPr sz="1050" b="0">
                <a:solidFill>
                  <a:srgbClr val="536A78"/>
                </a:solidFill>
                <a:latin typeface="Arial"/>
                <a:ea typeface="Arial"/>
                <a:cs typeface="Arial"/>
              </a:rPr>
              <a:t>StockSense AI     06</a:t>
            </a:r>
          </a:p>
        </p:txBody>
      </p:sp>
      <p:pic>
        <p:nvPicPr>
          <p:cNvPr id="3" name="">
            <a:extLst xmlns:a="http://schemas.openxmlformats.org/drawingml/2006/main">
              <a:ext uri="{FF2B5EF4-FFF2-40B4-BE49-F238E27FC236}">
                <a16:creationId xmlns:a16="http://schemas.microsoft.com/office/drawing/2014/main" id="{873B51D0-C9C3-4EF0-99A5-907A61540FFE}"/>
              </a:ext>
            </a:extLst>
          </p:cNvPr>
          <p:cNvPicPr>
            <a:picLocks xmlns:a="http://schemas.openxmlformats.org/drawingml/2006/main" noChangeAspect="1"/>
          </p:cNvPicPr>
          <p:nvPr/>
        </p:nvPicPr>
        <p:blipFill>
          <a:blip xmlns:r="http://schemas.openxmlformats.org/officeDocument/2006/relationships" xmlns:a="http://schemas.openxmlformats.org/drawingml/2006/main" r:embed="R8d7ca130380241a5"/>
          <a:stretch xmlns:a="http://schemas.openxmlformats.org/drawingml/2006/main"/>
        </p:blipFill>
        <p:spPr>
          <a:xfrm xmlns:a="http://schemas.openxmlformats.org/drawingml/2006/main">
            <a:off x="868176" y="1762125"/>
            <a:ext cx="6598024" cy="35052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1B84F4CF-5C8F-42C2-B139-0DFD3CE41DE1}"/>
              </a:ext>
            </a:extLst>
          </p:cNvPr>
          <p:cNvSpPr>
            <a:spLocks xmlns:a="http://schemas.openxmlformats.org/drawingml/2006/main" noGrp="1"/>
          </p:cNvSpPr>
          <p:nvPr/>
        </p:nvSpPr>
        <p:spPr>
          <a:xfrm xmlns:a="http://schemas.openxmlformats.org/drawingml/2006/main">
            <a:off x="8239125" y="2076450"/>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8324A"/>
                </a:solidFill>
                <a:latin typeface="Arial"/>
                <a:ea typeface="Arial"/>
                <a:cs typeface="Arial"/>
              </a:defRPr>
            </a:defPPr>
          </a:lstStyle>
          <a:p xmlns:a="http://schemas.openxmlformats.org/drawingml/2006/main">
            <a:pPr>
              <a:defRPr sz="2100" b="1">
                <a:solidFill>
                  <a:srgbClr val="18324A"/>
                </a:solidFill>
                <a:latin typeface="Arial"/>
                <a:ea typeface="Arial"/>
                <a:cs typeface="Arial"/>
              </a:defRPr>
            </a:pPr>
            <a:r>
              <a:rPr sz="2100" b="1">
                <a:solidFill>
                  <a:srgbClr val="18324A"/>
                </a:solidFill>
                <a:latin typeface="Arial"/>
                <a:ea typeface="Arial"/>
                <a:cs typeface="Arial"/>
              </a:rPr>
              <a:t>Monday</a:t>
            </a:r>
          </a:p>
        </p:txBody>
      </p:sp>
      <p:sp>
        <p:nvSpPr>
          <p:cNvPr id="5" name="">
            <a:extLst xmlns:a="http://schemas.openxmlformats.org/drawingml/2006/main">
              <a:ext uri="{FF2B5EF4-FFF2-40B4-BE49-F238E27FC236}">
                <a16:creationId xmlns:a16="http://schemas.microsoft.com/office/drawing/2014/main" id="{32E4957C-1F6C-4222-B485-C1ABE4F5DB00}"/>
              </a:ext>
            </a:extLst>
          </p:cNvPr>
          <p:cNvSpPr>
            <a:spLocks xmlns:a="http://schemas.openxmlformats.org/drawingml/2006/main" noGrp="1"/>
          </p:cNvSpPr>
          <p:nvPr/>
        </p:nvSpPr>
        <p:spPr>
          <a:xfrm xmlns:a="http://schemas.openxmlformats.org/drawingml/2006/main">
            <a:off x="8239125" y="2552700"/>
            <a:ext cx="323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087E79"/>
                </a:solidFill>
                <a:latin typeface="Arial"/>
                <a:ea typeface="Arial"/>
                <a:cs typeface="Arial"/>
              </a:defRPr>
            </a:defPPr>
          </a:lstStyle>
          <a:p xmlns:a="http://schemas.openxmlformats.org/drawingml/2006/main">
            <a:pPr>
              <a:defRPr sz="2850" b="1">
                <a:solidFill>
                  <a:srgbClr val="087E79"/>
                </a:solidFill>
                <a:latin typeface="Arial"/>
                <a:ea typeface="Arial"/>
                <a:cs typeface="Arial"/>
              </a:defRPr>
            </a:pPr>
            <a:r>
              <a:rPr sz="2850" b="1">
                <a:solidFill>
                  <a:srgbClr val="087E79"/>
                </a:solidFill>
                <a:latin typeface="Arial"/>
                <a:ea typeface="Arial"/>
                <a:cs typeface="Arial"/>
              </a:rPr>
              <a:t>21.88 units</a:t>
            </a:r>
          </a:p>
        </p:txBody>
      </p:sp>
      <p:sp>
        <p:nvSpPr>
          <p:cNvPr id="6" name="">
            <a:extLst xmlns:a="http://schemas.openxmlformats.org/drawingml/2006/main">
              <a:ext uri="{FF2B5EF4-FFF2-40B4-BE49-F238E27FC236}">
                <a16:creationId xmlns:a16="http://schemas.microsoft.com/office/drawing/2014/main" id="{8AF045E6-B11A-40EA-BFD8-1FB1D51BC054}"/>
              </a:ext>
            </a:extLst>
          </p:cNvPr>
          <p:cNvSpPr>
            <a:spLocks xmlns:a="http://schemas.openxmlformats.org/drawingml/2006/main" noGrp="1"/>
          </p:cNvSpPr>
          <p:nvPr/>
        </p:nvSpPr>
        <p:spPr>
          <a:xfrm xmlns:a="http://schemas.openxmlformats.org/drawingml/2006/main">
            <a:off x="8239125" y="3638550"/>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8324A"/>
                </a:solidFill>
                <a:latin typeface="Arial"/>
                <a:ea typeface="Arial"/>
                <a:cs typeface="Arial"/>
              </a:defRPr>
            </a:defPPr>
          </a:lstStyle>
          <a:p xmlns:a="http://schemas.openxmlformats.org/drawingml/2006/main">
            <a:pPr>
              <a:defRPr sz="2100" b="1">
                <a:solidFill>
                  <a:srgbClr val="18324A"/>
                </a:solidFill>
                <a:latin typeface="Arial"/>
                <a:ea typeface="Arial"/>
                <a:cs typeface="Arial"/>
              </a:defRPr>
            </a:pPr>
            <a:r>
              <a:rPr sz="2100" b="1">
                <a:solidFill>
                  <a:srgbClr val="18324A"/>
                </a:solidFill>
                <a:latin typeface="Arial"/>
                <a:ea typeface="Arial"/>
                <a:cs typeface="Arial"/>
              </a:rPr>
              <a:t>Sunday</a:t>
            </a:r>
          </a:p>
        </p:txBody>
      </p:sp>
      <p:sp>
        <p:nvSpPr>
          <p:cNvPr id="7" name="">
            <a:extLst xmlns:a="http://schemas.openxmlformats.org/drawingml/2006/main">
              <a:ext uri="{FF2B5EF4-FFF2-40B4-BE49-F238E27FC236}">
                <a16:creationId xmlns:a16="http://schemas.microsoft.com/office/drawing/2014/main" id="{67C52CDF-7FDE-47A0-AC7D-12DD08DA68D6}"/>
              </a:ext>
            </a:extLst>
          </p:cNvPr>
          <p:cNvSpPr>
            <a:spLocks xmlns:a="http://schemas.openxmlformats.org/drawingml/2006/main" noGrp="1"/>
          </p:cNvSpPr>
          <p:nvPr/>
        </p:nvSpPr>
        <p:spPr>
          <a:xfrm xmlns:a="http://schemas.openxmlformats.org/drawingml/2006/main">
            <a:off x="8239125" y="4114800"/>
            <a:ext cx="323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087E79"/>
                </a:solidFill>
                <a:latin typeface="Arial"/>
                <a:ea typeface="Arial"/>
                <a:cs typeface="Arial"/>
              </a:defRPr>
            </a:defPPr>
          </a:lstStyle>
          <a:p xmlns:a="http://schemas.openxmlformats.org/drawingml/2006/main">
            <a:pPr>
              <a:defRPr sz="2850" b="1">
                <a:solidFill>
                  <a:srgbClr val="087E79"/>
                </a:solidFill>
                <a:latin typeface="Arial"/>
                <a:ea typeface="Arial"/>
                <a:cs typeface="Arial"/>
              </a:defRPr>
            </a:pPr>
            <a:r>
              <a:rPr sz="2850" b="1">
                <a:solidFill>
                  <a:srgbClr val="087E79"/>
                </a:solidFill>
                <a:latin typeface="Arial"/>
                <a:ea typeface="Arial"/>
                <a:cs typeface="Arial"/>
              </a:rPr>
              <a:t>33.01 units</a:t>
            </a:r>
          </a:p>
        </p:txBody>
      </p:sp>
      <p:sp>
        <p:nvSpPr>
          <p:cNvPr id="8" name="">
            <a:extLst xmlns:a="http://schemas.openxmlformats.org/drawingml/2006/main">
              <a:ext uri="{FF2B5EF4-FFF2-40B4-BE49-F238E27FC236}">
                <a16:creationId xmlns:a16="http://schemas.microsoft.com/office/drawing/2014/main" id="{A9C7D5CD-6997-41FE-9169-494D8D544F10}"/>
              </a:ext>
            </a:extLst>
          </p:cNvPr>
          <p:cNvSpPr>
            <a:spLocks xmlns:a="http://schemas.openxmlformats.org/drawingml/2006/main" noGrp="1"/>
          </p:cNvSpPr>
          <p:nvPr/>
        </p:nvSpPr>
        <p:spPr>
          <a:xfrm xmlns:a="http://schemas.openxmlformats.org/drawingml/2006/main">
            <a:off x="647700" y="5610225"/>
            <a:ext cx="1066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Weekday patterns help us choose useful forecast inputs.</a:t>
            </a:r>
          </a:p>
        </p:txBody>
      </p:sp>
    </p:spTree>
    <p:extLst>
      <p:ext uri="{BB962C8B-B14F-4D97-AF65-F5344CB8AC3E}">
        <p14:creationId xmlns:p14="http://schemas.microsoft.com/office/powerpoint/2010/main" val="593678929"/>
      </p:ext>
    </p:extLst>
  </p:cSld>
</p:sld>
</file>

<file path=ppt/slides/slide7.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96EF627-5402-43A1-B82A-855533567EDD}"/>
              </a:ext>
            </a:extLst>
          </p:cNvPr>
          <p:cNvSpPr>
            <a:spLocks xmlns:a="http://schemas.openxmlformats.org/drawingml/2006/main" noGrp="1"/>
          </p:cNvSpPr>
          <p:nvPr/>
        </p:nvSpPr>
        <p:spPr>
          <a:xfrm xmlns:a="http://schemas.openxmlformats.org/drawingml/2006/main">
            <a:off x="609600" y="5238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8324A"/>
                </a:solidFill>
                <a:latin typeface="Arial"/>
                <a:ea typeface="Arial"/>
                <a:cs typeface="Arial"/>
              </a:defRPr>
            </a:defPPr>
          </a:lstStyle>
          <a:p xmlns:a="http://schemas.openxmlformats.org/drawingml/2006/main">
            <a:pPr>
              <a:defRPr sz="3300" b="1">
                <a:solidFill>
                  <a:srgbClr val="18324A"/>
                </a:solidFill>
                <a:latin typeface="Arial"/>
                <a:ea typeface="Arial"/>
                <a:cs typeface="Arial"/>
              </a:defRPr>
            </a:pPr>
            <a:r>
              <a:rPr sz="3300" b="1">
                <a:solidFill>
                  <a:srgbClr val="18324A"/>
                </a:solidFill>
                <a:latin typeface="Arial"/>
                <a:ea typeface="Arial"/>
                <a:cs typeface="Arial"/>
              </a:rPr>
              <a:t>How past sales become a forecast</a:t>
            </a:r>
          </a:p>
        </p:txBody>
      </p:sp>
      <p:sp>
        <p:nvSpPr>
          <p:cNvPr id="2" name="">
            <a:extLst xmlns:a="http://schemas.openxmlformats.org/drawingml/2006/main">
              <a:ext uri="{FF2B5EF4-FFF2-40B4-BE49-F238E27FC236}">
                <a16:creationId xmlns:a16="http://schemas.microsoft.com/office/drawing/2014/main" id="{9BD681B9-5332-46DB-A6BD-85B11277D3E4}"/>
              </a:ext>
            </a:extLst>
          </p:cNvPr>
          <p:cNvSpPr>
            <a:spLocks xmlns:a="http://schemas.openxmlformats.org/drawingml/2006/main" noGrp="1"/>
          </p:cNvSpPr>
          <p:nvPr/>
        </p:nvSpPr>
        <p:spPr>
          <a:xfrm xmlns:a="http://schemas.openxmlformats.org/drawingml/2006/main">
            <a:off x="619125" y="5553075"/>
            <a:ext cx="10906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Features are the inputs. Future daily sales are the targets.</a:t>
            </a:r>
          </a:p>
        </p:txBody>
      </p:sp>
      <p:sp>
        <p:nvSpPr>
          <p:cNvPr id="3" name="">
            <a:extLst xmlns:a="http://schemas.openxmlformats.org/drawingml/2006/main">
              <a:ext uri="{FF2B5EF4-FFF2-40B4-BE49-F238E27FC236}">
                <a16:creationId xmlns:a16="http://schemas.microsoft.com/office/drawing/2014/main" id="{43036C9F-5249-49A3-AA9A-523522E2ABED}"/>
              </a:ext>
            </a:extLst>
          </p:cNvPr>
          <p:cNvSpPr>
            <a:spLocks xmlns:a="http://schemas.openxmlformats.org/drawingml/2006/main" noGrp="1"/>
          </p:cNvSpPr>
          <p:nvPr/>
        </p:nvSpPr>
        <p:spPr>
          <a:xfrm xmlns:a="http://schemas.openxmlformats.org/drawingml/2006/main">
            <a:off x="619125" y="64198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536A78"/>
                </a:solidFill>
                <a:latin typeface="Arial"/>
                <a:ea typeface="Arial"/>
                <a:cs typeface="Arial"/>
              </a:defRPr>
            </a:defPPr>
          </a:lstStyle>
          <a:p xmlns:a="http://schemas.openxmlformats.org/drawingml/2006/main">
            <a:pPr>
              <a:defRPr sz="1050" b="0">
                <a:solidFill>
                  <a:srgbClr val="536A78"/>
                </a:solidFill>
                <a:latin typeface="Arial"/>
                <a:ea typeface="Arial"/>
                <a:cs typeface="Arial"/>
              </a:defRPr>
            </a:pPr>
            <a:r>
              <a:rPr sz="1050" b="0">
                <a:solidFill>
                  <a:srgbClr val="536A78"/>
                </a:solidFill>
                <a:latin typeface="Arial"/>
                <a:ea typeface="Arial"/>
                <a:cs typeface="Arial"/>
              </a:rPr>
              <a:t>StockSense AI     07</a:t>
            </a:r>
          </a:p>
        </p:txBody>
      </p:sp>
      <p:sp>
        <p:nvSpPr>
          <p:cNvPr id="4" name="">
            <a:extLst xmlns:a="http://schemas.openxmlformats.org/drawingml/2006/main">
              <a:ext uri="{FF2B5EF4-FFF2-40B4-BE49-F238E27FC236}">
                <a16:creationId xmlns:a16="http://schemas.microsoft.com/office/drawing/2014/main" id="{052D1592-2203-4531-AB63-E83E6BD493A0}"/>
              </a:ext>
            </a:extLst>
          </p:cNvPr>
          <p:cNvSpPr>
            <a:spLocks xmlns:a="http://schemas.openxmlformats.org/drawingml/2006/main" noGrp="1"/>
          </p:cNvSpPr>
          <p:nvPr/>
        </p:nvSpPr>
        <p:spPr>
          <a:xfrm xmlns:a="http://schemas.openxmlformats.org/drawingml/2006/main">
            <a:off x="647700" y="1828800"/>
            <a:ext cx="107442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8324A"/>
                </a:solidFill>
                <a:latin typeface="Arial"/>
                <a:ea typeface="Arial"/>
                <a:cs typeface="Arial"/>
              </a:defRPr>
            </a:defPPr>
          </a:lstStyle>
          <a:p xmlns:a="http://schemas.openxmlformats.org/drawingml/2006/main">
            <a:pPr>
              <a:defRPr sz="2250" b="0">
                <a:solidFill>
                  <a:srgbClr val="18324A"/>
                </a:solidFill>
                <a:latin typeface="Arial"/>
                <a:ea typeface="Arial"/>
                <a:cs typeface="Arial"/>
              </a:defRPr>
            </a:pPr>
            <a:r>
              <a:rPr sz="2250" b="0">
                <a:solidFill>
                  <a:srgbClr val="18324A"/>
                </a:solidFill>
                <a:latin typeface="Arial"/>
                <a:ea typeface="Arial"/>
                <a:cs typeface="Arial"/>
              </a:rPr>
              <a:t>1. Select store 1 and products 1 to 5.</a:t>
            </a:r>
          </a:p>
        </p:txBody>
      </p:sp>
      <p:sp>
        <p:nvSpPr>
          <p:cNvPr id="5" name="">
            <a:extLst xmlns:a="http://schemas.openxmlformats.org/drawingml/2006/main">
              <a:ext uri="{FF2B5EF4-FFF2-40B4-BE49-F238E27FC236}">
                <a16:creationId xmlns:a16="http://schemas.microsoft.com/office/drawing/2014/main" id="{399A2591-A357-4381-B631-8A66D51DA72D}"/>
              </a:ext>
            </a:extLst>
          </p:cNvPr>
          <p:cNvSpPr>
            <a:spLocks xmlns:a="http://schemas.openxmlformats.org/drawingml/2006/main" noGrp="1"/>
          </p:cNvSpPr>
          <p:nvPr/>
        </p:nvSpPr>
        <p:spPr>
          <a:xfrm xmlns:a="http://schemas.openxmlformats.org/drawingml/2006/main">
            <a:off x="647700" y="2695575"/>
            <a:ext cx="107442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8324A"/>
                </a:solidFill>
                <a:latin typeface="Arial"/>
                <a:ea typeface="Arial"/>
                <a:cs typeface="Arial"/>
              </a:defRPr>
            </a:defPPr>
          </a:lstStyle>
          <a:p xmlns:a="http://schemas.openxmlformats.org/drawingml/2006/main">
            <a:pPr>
              <a:defRPr sz="2250" b="0">
                <a:solidFill>
                  <a:srgbClr val="18324A"/>
                </a:solidFill>
                <a:latin typeface="Arial"/>
                <a:ea typeface="Arial"/>
                <a:cs typeface="Arial"/>
              </a:defRPr>
            </a:pPr>
            <a:r>
              <a:rPr sz="2250" b="0">
                <a:solidFill>
                  <a:srgbClr val="18324A"/>
                </a:solidFill>
                <a:latin typeface="Arial"/>
                <a:ea typeface="Arial"/>
                <a:cs typeface="Arial"/>
              </a:rPr>
              <a:t>2. Check dates and sales, then sort each product’s history.</a:t>
            </a:r>
          </a:p>
        </p:txBody>
      </p:sp>
      <p:sp>
        <p:nvSpPr>
          <p:cNvPr id="6" name="">
            <a:extLst xmlns:a="http://schemas.openxmlformats.org/drawingml/2006/main">
              <a:ext uri="{FF2B5EF4-FFF2-40B4-BE49-F238E27FC236}">
                <a16:creationId xmlns:a16="http://schemas.microsoft.com/office/drawing/2014/main" id="{95881E1A-0ACB-409F-B2EF-581C2E3C740F}"/>
              </a:ext>
            </a:extLst>
          </p:cNvPr>
          <p:cNvSpPr>
            <a:spLocks xmlns:a="http://schemas.openxmlformats.org/drawingml/2006/main" noGrp="1"/>
          </p:cNvSpPr>
          <p:nvPr/>
        </p:nvSpPr>
        <p:spPr>
          <a:xfrm xmlns:a="http://schemas.openxmlformats.org/drawingml/2006/main">
            <a:off x="647700" y="3562350"/>
            <a:ext cx="107442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8324A"/>
                </a:solidFill>
                <a:latin typeface="Arial"/>
                <a:ea typeface="Arial"/>
                <a:cs typeface="Arial"/>
              </a:defRPr>
            </a:defPPr>
          </a:lstStyle>
          <a:p xmlns:a="http://schemas.openxmlformats.org/drawingml/2006/main">
            <a:pPr>
              <a:defRPr sz="2250" b="0">
                <a:solidFill>
                  <a:srgbClr val="18324A"/>
                </a:solidFill>
                <a:latin typeface="Arial"/>
                <a:ea typeface="Arial"/>
                <a:cs typeface="Arial"/>
              </a:defRPr>
            </a:pPr>
            <a:r>
              <a:rPr sz="2250" b="0">
                <a:solidFill>
                  <a:srgbClr val="18324A"/>
                </a:solidFill>
                <a:latin typeface="Arial"/>
                <a:ea typeface="Arial"/>
                <a:cs typeface="Arial"/>
              </a:rPr>
              <a:t>3. Use past sales, recent averages and calendar information.</a:t>
            </a:r>
          </a:p>
        </p:txBody>
      </p:sp>
      <p:sp>
        <p:nvSpPr>
          <p:cNvPr id="7" name="">
            <a:extLst xmlns:a="http://schemas.openxmlformats.org/drawingml/2006/main">
              <a:ext uri="{FF2B5EF4-FFF2-40B4-BE49-F238E27FC236}">
                <a16:creationId xmlns:a16="http://schemas.microsoft.com/office/drawing/2014/main" id="{40438A57-6808-42B0-BBA6-D4D381B716ED}"/>
              </a:ext>
            </a:extLst>
          </p:cNvPr>
          <p:cNvSpPr>
            <a:spLocks xmlns:a="http://schemas.openxmlformats.org/drawingml/2006/main" noGrp="1"/>
          </p:cNvSpPr>
          <p:nvPr/>
        </p:nvSpPr>
        <p:spPr>
          <a:xfrm xmlns:a="http://schemas.openxmlformats.org/drawingml/2006/main">
            <a:off x="647700" y="4429125"/>
            <a:ext cx="107442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8324A"/>
                </a:solidFill>
                <a:latin typeface="Arial"/>
                <a:ea typeface="Arial"/>
                <a:cs typeface="Arial"/>
              </a:defRPr>
            </a:defPPr>
          </a:lstStyle>
          <a:p xmlns:a="http://schemas.openxmlformats.org/drawingml/2006/main">
            <a:pPr>
              <a:defRPr sz="2250" b="0">
                <a:solidFill>
                  <a:srgbClr val="18324A"/>
                </a:solidFill>
                <a:latin typeface="Arial"/>
                <a:ea typeface="Arial"/>
                <a:cs typeface="Arial"/>
              </a:defRPr>
            </a:pPr>
            <a:r>
              <a:rPr sz="2250" b="0">
                <a:solidFill>
                  <a:srgbClr val="18324A"/>
                </a:solidFill>
                <a:latin typeface="Arial"/>
                <a:ea typeface="Arial"/>
                <a:cs typeface="Arial"/>
              </a:rPr>
              <a:t>4. Predict the next seven daily sales quantities.</a:t>
            </a:r>
          </a:p>
        </p:txBody>
      </p:sp>
    </p:spTree>
    <p:extLst>
      <p:ext uri="{BB962C8B-B14F-4D97-AF65-F5344CB8AC3E}">
        <p14:creationId xmlns:p14="http://schemas.microsoft.com/office/powerpoint/2010/main" val="869230764"/>
      </p:ext>
    </p:extLst>
  </p:cSld>
</p:sld>
</file>

<file path=ppt/slides/slide8.xml><?xml version="1.0" encoding="utf-8"?>
<p:sld xmlns:p="http://schemas.openxmlformats.org/presentationml/2006/main">
  <p:cSld>
    <p:bg>
      <p:bgPr>
        <a:solidFill xmlns:a="http://schemas.openxmlformats.org/drawingml/2006/main">
          <a:srgbClr val="11263E"/>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52BD019-04C8-4F58-A238-CCF309CC58E7}"/>
              </a:ext>
            </a:extLst>
          </p:cNvPr>
          <p:cNvSpPr>
            <a:spLocks xmlns:a="http://schemas.openxmlformats.org/drawingml/2006/main" noGrp="1"/>
          </p:cNvSpPr>
          <p:nvPr/>
        </p:nvSpPr>
        <p:spPr>
          <a:xfrm xmlns:a="http://schemas.openxmlformats.org/drawingml/2006/main">
            <a:off x="609600" y="5238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FFFFFF"/>
                </a:solidFill>
                <a:latin typeface="Arial"/>
                <a:ea typeface="Arial"/>
                <a:cs typeface="Arial"/>
              </a:defRPr>
            </a:defPPr>
          </a:lstStyle>
          <a:p xmlns:a="http://schemas.openxmlformats.org/drawingml/2006/main">
            <a:pPr>
              <a:defRPr sz="3300" b="1">
                <a:solidFill>
                  <a:srgbClr val="FFFFFF"/>
                </a:solidFill>
                <a:latin typeface="Arial"/>
                <a:ea typeface="Arial"/>
                <a:cs typeface="Arial"/>
              </a:defRPr>
            </a:pPr>
            <a:r>
              <a:rPr sz="3300" b="1">
                <a:solidFill>
                  <a:srgbClr val="FFFFFF"/>
                </a:solidFill>
                <a:latin typeface="Arial"/>
                <a:ea typeface="Arial"/>
                <a:cs typeface="Arial"/>
              </a:rPr>
              <a:t>Training, validation and final testing</a:t>
            </a:r>
          </a:p>
        </p:txBody>
      </p:sp>
      <p:sp>
        <p:nvSpPr>
          <p:cNvPr id="2" name="">
            <a:extLst xmlns:a="http://schemas.openxmlformats.org/drawingml/2006/main">
              <a:ext uri="{FF2B5EF4-FFF2-40B4-BE49-F238E27FC236}">
                <a16:creationId xmlns:a16="http://schemas.microsoft.com/office/drawing/2014/main" id="{B5D4E57F-0179-440B-8B47-5B502E24CA77}"/>
              </a:ext>
            </a:extLst>
          </p:cNvPr>
          <p:cNvSpPr>
            <a:spLocks xmlns:a="http://schemas.openxmlformats.org/drawingml/2006/main" noGrp="1"/>
          </p:cNvSpPr>
          <p:nvPr/>
        </p:nvSpPr>
        <p:spPr>
          <a:xfrm xmlns:a="http://schemas.openxmlformats.org/drawingml/2006/main">
            <a:off x="619125" y="5553075"/>
            <a:ext cx="10906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A9E7D7"/>
                </a:solidFill>
                <a:latin typeface="Arial"/>
                <a:ea typeface="Arial"/>
                <a:cs typeface="Arial"/>
              </a:defRPr>
            </a:defPPr>
          </a:lstStyle>
          <a:p xmlns:a="http://schemas.openxmlformats.org/drawingml/2006/main">
            <a:pPr>
              <a:defRPr sz="1875" b="1">
                <a:solidFill>
                  <a:srgbClr val="A9E7D7"/>
                </a:solidFill>
                <a:latin typeface="Arial"/>
                <a:ea typeface="Arial"/>
                <a:cs typeface="Arial"/>
              </a:defRPr>
            </a:pPr>
            <a:r>
              <a:rPr sz="1875" b="1">
                <a:solidFill>
                  <a:srgbClr val="A9E7D7"/>
                </a:solidFill>
                <a:latin typeface="Arial"/>
                <a:ea typeface="Arial"/>
                <a:cs typeface="Arial"/>
              </a:rPr>
              <a:t>We chose the model before looking at the final test results</a:t>
            </a:r>
          </a:p>
        </p:txBody>
      </p:sp>
      <p:sp>
        <p:nvSpPr>
          <p:cNvPr id="3" name="">
            <a:extLst xmlns:a="http://schemas.openxmlformats.org/drawingml/2006/main">
              <a:ext uri="{FF2B5EF4-FFF2-40B4-BE49-F238E27FC236}">
                <a16:creationId xmlns:a16="http://schemas.microsoft.com/office/drawing/2014/main" id="{17A9B06D-EE7B-4B21-9E7D-0CBA02C378AA}"/>
              </a:ext>
            </a:extLst>
          </p:cNvPr>
          <p:cNvSpPr>
            <a:spLocks xmlns:a="http://schemas.openxmlformats.org/drawingml/2006/main" noGrp="1"/>
          </p:cNvSpPr>
          <p:nvPr/>
        </p:nvSpPr>
        <p:spPr>
          <a:xfrm xmlns:a="http://schemas.openxmlformats.org/drawingml/2006/main">
            <a:off x="619125" y="64198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A9E7D7"/>
                </a:solidFill>
                <a:latin typeface="Arial"/>
                <a:ea typeface="Arial"/>
                <a:cs typeface="Arial"/>
              </a:defRPr>
            </a:defPPr>
          </a:lstStyle>
          <a:p xmlns:a="http://schemas.openxmlformats.org/drawingml/2006/main">
            <a:pPr>
              <a:defRPr sz="1050" b="0">
                <a:solidFill>
                  <a:srgbClr val="A9E7D7"/>
                </a:solidFill>
                <a:latin typeface="Arial"/>
                <a:ea typeface="Arial"/>
                <a:cs typeface="Arial"/>
              </a:defRPr>
            </a:pPr>
            <a:r>
              <a:rPr sz="1050" b="0">
                <a:solidFill>
                  <a:srgbClr val="A9E7D7"/>
                </a:solidFill>
                <a:latin typeface="Arial"/>
                <a:ea typeface="Arial"/>
                <a:cs typeface="Arial"/>
              </a:rPr>
              <a:t>StockSense AI     08</a:t>
            </a:r>
          </a:p>
        </p:txBody>
      </p:sp>
      <p:sp>
        <p:nvSpPr>
          <p:cNvPr id="4" name="">
            <a:extLst xmlns:a="http://schemas.openxmlformats.org/drawingml/2006/main">
              <a:ext uri="{FF2B5EF4-FFF2-40B4-BE49-F238E27FC236}">
                <a16:creationId xmlns:a16="http://schemas.microsoft.com/office/drawing/2014/main" id="{C4421D53-9810-4F54-96D7-1595C50CA028}"/>
              </a:ext>
            </a:extLst>
          </p:cNvPr>
          <p:cNvSpPr>
            <a:spLocks xmlns:a="http://schemas.openxmlformats.org/drawingml/2006/main" noGrp="1"/>
          </p:cNvSpPr>
          <p:nvPr/>
        </p:nvSpPr>
        <p:spPr>
          <a:xfrm xmlns:a="http://schemas.openxmlformats.org/drawingml/2006/main">
            <a:off x="666750" y="2114550"/>
            <a:ext cx="31908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A9E7D7"/>
                </a:solidFill>
                <a:latin typeface="Arial"/>
                <a:ea typeface="Arial"/>
                <a:cs typeface="Arial"/>
              </a:defRPr>
            </a:defPPr>
          </a:lstStyle>
          <a:p xmlns:a="http://schemas.openxmlformats.org/drawingml/2006/main">
            <a:pPr>
              <a:defRPr sz="3600" b="1">
                <a:solidFill>
                  <a:srgbClr val="A9E7D7"/>
                </a:solidFill>
                <a:latin typeface="Arial"/>
                <a:ea typeface="Arial"/>
                <a:cs typeface="Arial"/>
              </a:defRPr>
            </a:pPr>
            <a:r>
              <a:rPr sz="3600" b="1">
                <a:solidFill>
                  <a:srgbClr val="A9E7D7"/>
                </a:solidFill>
                <a:latin typeface="Arial"/>
                <a:ea typeface="Arial"/>
                <a:cs typeface="Arial"/>
              </a:rPr>
              <a:t>2013–2015</a:t>
            </a:r>
          </a:p>
        </p:txBody>
      </p:sp>
      <p:sp>
        <p:nvSpPr>
          <p:cNvPr id="5" name="">
            <a:extLst xmlns:a="http://schemas.openxmlformats.org/drawingml/2006/main">
              <a:ext uri="{FF2B5EF4-FFF2-40B4-BE49-F238E27FC236}">
                <a16:creationId xmlns:a16="http://schemas.microsoft.com/office/drawing/2014/main" id="{F43B9AA5-47E1-4843-846C-D7F51457AA28}"/>
              </a:ext>
            </a:extLst>
          </p:cNvPr>
          <p:cNvSpPr>
            <a:spLocks xmlns:a="http://schemas.openxmlformats.org/drawingml/2006/main" noGrp="1"/>
          </p:cNvSpPr>
          <p:nvPr/>
        </p:nvSpPr>
        <p:spPr>
          <a:xfrm xmlns:a="http://schemas.openxmlformats.org/drawingml/2006/main">
            <a:off x="666750" y="3048000"/>
            <a:ext cx="3190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FFFFFF"/>
                </a:solidFill>
                <a:latin typeface="Arial"/>
                <a:ea typeface="Arial"/>
                <a:cs typeface="Arial"/>
              </a:defRPr>
            </a:defPPr>
          </a:lstStyle>
          <a:p xmlns:a="http://schemas.openxmlformats.org/drawingml/2006/main">
            <a:pPr>
              <a:defRPr sz="2250" b="1">
                <a:solidFill>
                  <a:srgbClr val="FFFFFF"/>
                </a:solidFill>
                <a:latin typeface="Arial"/>
                <a:ea typeface="Arial"/>
                <a:cs typeface="Arial"/>
              </a:defRPr>
            </a:pPr>
            <a:r>
              <a:rPr sz="2250" b="1">
                <a:solidFill>
                  <a:srgbClr val="FFFFFF"/>
                </a:solidFill>
                <a:latin typeface="Arial"/>
                <a:ea typeface="Arial"/>
                <a:cs typeface="Arial"/>
              </a:rPr>
              <a:t>TRAIN</a:t>
            </a:r>
          </a:p>
        </p:txBody>
      </p:sp>
      <p:sp>
        <p:nvSpPr>
          <p:cNvPr id="6" name="">
            <a:extLst xmlns:a="http://schemas.openxmlformats.org/drawingml/2006/main">
              <a:ext uri="{FF2B5EF4-FFF2-40B4-BE49-F238E27FC236}">
                <a16:creationId xmlns:a16="http://schemas.microsoft.com/office/drawing/2014/main" id="{552AB731-CD06-492A-A81B-C54ECE0C21DA}"/>
              </a:ext>
            </a:extLst>
          </p:cNvPr>
          <p:cNvSpPr>
            <a:spLocks xmlns:a="http://schemas.openxmlformats.org/drawingml/2006/main" noGrp="1"/>
          </p:cNvSpPr>
          <p:nvPr/>
        </p:nvSpPr>
        <p:spPr>
          <a:xfrm xmlns:a="http://schemas.openxmlformats.org/drawingml/2006/main">
            <a:off x="666750" y="3724275"/>
            <a:ext cx="31908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FFFFFF"/>
                </a:solidFill>
                <a:latin typeface="Arial"/>
                <a:ea typeface="Arial"/>
                <a:cs typeface="Arial"/>
              </a:defRPr>
            </a:defPPr>
          </a:lstStyle>
          <a:p xmlns:a="http://schemas.openxmlformats.org/drawingml/2006/main">
            <a:pPr>
              <a:defRPr sz="2100" b="0">
                <a:solidFill>
                  <a:srgbClr val="FFFFFF"/>
                </a:solidFill>
                <a:latin typeface="Arial"/>
                <a:ea typeface="Arial"/>
                <a:cs typeface="Arial"/>
              </a:defRPr>
            </a:pPr>
            <a:r>
              <a:rPr sz="2100" b="0">
                <a:solidFill>
                  <a:srgbClr val="FFFFFF"/>
                </a:solidFill>
                <a:latin typeface="Arial"/>
                <a:ea typeface="Arial"/>
                <a:cs typeface="Arial"/>
              </a:rPr>
              <a:t>Learn from history</a:t>
            </a:r>
          </a:p>
        </p:txBody>
      </p:sp>
      <p:sp>
        <p:nvSpPr>
          <p:cNvPr id="7" name="">
            <a:extLst xmlns:a="http://schemas.openxmlformats.org/drawingml/2006/main">
              <a:ext uri="{FF2B5EF4-FFF2-40B4-BE49-F238E27FC236}">
                <a16:creationId xmlns:a16="http://schemas.microsoft.com/office/drawing/2014/main" id="{E100F6AA-C23B-4698-BFEE-114AF538E3C8}"/>
              </a:ext>
            </a:extLst>
          </p:cNvPr>
          <p:cNvSpPr>
            <a:spLocks xmlns:a="http://schemas.openxmlformats.org/drawingml/2006/main" noGrp="1"/>
          </p:cNvSpPr>
          <p:nvPr/>
        </p:nvSpPr>
        <p:spPr>
          <a:xfrm xmlns:a="http://schemas.openxmlformats.org/drawingml/2006/main">
            <a:off x="4524375" y="2114550"/>
            <a:ext cx="31908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A9E7D7"/>
                </a:solidFill>
                <a:latin typeface="Arial"/>
                <a:ea typeface="Arial"/>
                <a:cs typeface="Arial"/>
              </a:defRPr>
            </a:defPPr>
          </a:lstStyle>
          <a:p xmlns:a="http://schemas.openxmlformats.org/drawingml/2006/main">
            <a:pPr>
              <a:defRPr sz="3600" b="1">
                <a:solidFill>
                  <a:srgbClr val="A9E7D7"/>
                </a:solidFill>
                <a:latin typeface="Arial"/>
                <a:ea typeface="Arial"/>
                <a:cs typeface="Arial"/>
              </a:defRPr>
            </a:pPr>
            <a:r>
              <a:rPr sz="3600" b="1">
                <a:solidFill>
                  <a:srgbClr val="A9E7D7"/>
                </a:solidFill>
                <a:latin typeface="Arial"/>
                <a:ea typeface="Arial"/>
                <a:cs typeface="Arial"/>
              </a:rPr>
              <a:t>2016</a:t>
            </a:r>
          </a:p>
        </p:txBody>
      </p:sp>
      <p:sp>
        <p:nvSpPr>
          <p:cNvPr id="8" name="">
            <a:extLst xmlns:a="http://schemas.openxmlformats.org/drawingml/2006/main">
              <a:ext uri="{FF2B5EF4-FFF2-40B4-BE49-F238E27FC236}">
                <a16:creationId xmlns:a16="http://schemas.microsoft.com/office/drawing/2014/main" id="{6B6E20A1-3828-4235-8DB8-371199EA53B7}"/>
              </a:ext>
            </a:extLst>
          </p:cNvPr>
          <p:cNvSpPr>
            <a:spLocks xmlns:a="http://schemas.openxmlformats.org/drawingml/2006/main" noGrp="1"/>
          </p:cNvSpPr>
          <p:nvPr/>
        </p:nvSpPr>
        <p:spPr>
          <a:xfrm xmlns:a="http://schemas.openxmlformats.org/drawingml/2006/main">
            <a:off x="4524375" y="3048000"/>
            <a:ext cx="3190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FFFFFF"/>
                </a:solidFill>
                <a:latin typeface="Arial"/>
                <a:ea typeface="Arial"/>
                <a:cs typeface="Arial"/>
              </a:defRPr>
            </a:defPPr>
          </a:lstStyle>
          <a:p xmlns:a="http://schemas.openxmlformats.org/drawingml/2006/main">
            <a:pPr>
              <a:defRPr sz="2250" b="1">
                <a:solidFill>
                  <a:srgbClr val="FFFFFF"/>
                </a:solidFill>
                <a:latin typeface="Arial"/>
                <a:ea typeface="Arial"/>
                <a:cs typeface="Arial"/>
              </a:defRPr>
            </a:pPr>
            <a:r>
              <a:rPr sz="2250" b="1">
                <a:solidFill>
                  <a:srgbClr val="FFFFFF"/>
                </a:solidFill>
                <a:latin typeface="Arial"/>
                <a:ea typeface="Arial"/>
                <a:cs typeface="Arial"/>
              </a:rPr>
              <a:t>VALIDATE</a:t>
            </a:r>
          </a:p>
        </p:txBody>
      </p:sp>
      <p:sp>
        <p:nvSpPr>
          <p:cNvPr id="9" name="">
            <a:extLst xmlns:a="http://schemas.openxmlformats.org/drawingml/2006/main">
              <a:ext uri="{FF2B5EF4-FFF2-40B4-BE49-F238E27FC236}">
                <a16:creationId xmlns:a16="http://schemas.microsoft.com/office/drawing/2014/main" id="{F8485E72-E1D7-4C72-B945-A03AA7EA3226}"/>
              </a:ext>
            </a:extLst>
          </p:cNvPr>
          <p:cNvSpPr>
            <a:spLocks xmlns:a="http://schemas.openxmlformats.org/drawingml/2006/main" noGrp="1"/>
          </p:cNvSpPr>
          <p:nvPr/>
        </p:nvSpPr>
        <p:spPr>
          <a:xfrm xmlns:a="http://schemas.openxmlformats.org/drawingml/2006/main">
            <a:off x="4524375" y="3724275"/>
            <a:ext cx="31908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FFFFFF"/>
                </a:solidFill>
                <a:latin typeface="Arial"/>
                <a:ea typeface="Arial"/>
                <a:cs typeface="Arial"/>
              </a:defRPr>
            </a:defPPr>
          </a:lstStyle>
          <a:p xmlns:a="http://schemas.openxmlformats.org/drawingml/2006/main">
            <a:pPr>
              <a:defRPr sz="2100" b="0">
                <a:solidFill>
                  <a:srgbClr val="FFFFFF"/>
                </a:solidFill>
                <a:latin typeface="Arial"/>
                <a:ea typeface="Arial"/>
                <a:cs typeface="Arial"/>
              </a:defRPr>
            </a:pPr>
            <a:r>
              <a:rPr sz="2100" b="0">
                <a:solidFill>
                  <a:srgbClr val="FFFFFF"/>
                </a:solidFill>
                <a:latin typeface="Arial"/>
                <a:ea typeface="Arial"/>
                <a:cs typeface="Arial"/>
              </a:rPr>
              <a:t>Choose the method</a:t>
            </a:r>
          </a:p>
        </p:txBody>
      </p:sp>
      <p:sp>
        <p:nvSpPr>
          <p:cNvPr id="10" name="">
            <a:extLst xmlns:a="http://schemas.openxmlformats.org/drawingml/2006/main">
              <a:ext uri="{FF2B5EF4-FFF2-40B4-BE49-F238E27FC236}">
                <a16:creationId xmlns:a16="http://schemas.microsoft.com/office/drawing/2014/main" id="{F2588152-1FA1-4A1E-BC27-E110E94A33A9}"/>
              </a:ext>
            </a:extLst>
          </p:cNvPr>
          <p:cNvSpPr>
            <a:spLocks xmlns:a="http://schemas.openxmlformats.org/drawingml/2006/main" noGrp="1"/>
          </p:cNvSpPr>
          <p:nvPr/>
        </p:nvSpPr>
        <p:spPr>
          <a:xfrm xmlns:a="http://schemas.openxmlformats.org/drawingml/2006/main">
            <a:off x="8382000" y="2114550"/>
            <a:ext cx="31908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A9E7D7"/>
                </a:solidFill>
                <a:latin typeface="Arial"/>
                <a:ea typeface="Arial"/>
                <a:cs typeface="Arial"/>
              </a:defRPr>
            </a:defPPr>
          </a:lstStyle>
          <a:p xmlns:a="http://schemas.openxmlformats.org/drawingml/2006/main">
            <a:pPr>
              <a:defRPr sz="3600" b="1">
                <a:solidFill>
                  <a:srgbClr val="A9E7D7"/>
                </a:solidFill>
                <a:latin typeface="Arial"/>
                <a:ea typeface="Arial"/>
                <a:cs typeface="Arial"/>
              </a:defRPr>
            </a:pPr>
            <a:r>
              <a:rPr sz="3600" b="1">
                <a:solidFill>
                  <a:srgbClr val="A9E7D7"/>
                </a:solidFill>
                <a:latin typeface="Arial"/>
                <a:ea typeface="Arial"/>
                <a:cs typeface="Arial"/>
              </a:rPr>
              <a:t>2017</a:t>
            </a:r>
          </a:p>
        </p:txBody>
      </p:sp>
      <p:sp>
        <p:nvSpPr>
          <p:cNvPr id="11" name="">
            <a:extLst xmlns:a="http://schemas.openxmlformats.org/drawingml/2006/main">
              <a:ext uri="{FF2B5EF4-FFF2-40B4-BE49-F238E27FC236}">
                <a16:creationId xmlns:a16="http://schemas.microsoft.com/office/drawing/2014/main" id="{3CB4B7D5-131A-4568-8C90-CDBB850A8D1F}"/>
              </a:ext>
            </a:extLst>
          </p:cNvPr>
          <p:cNvSpPr>
            <a:spLocks xmlns:a="http://schemas.openxmlformats.org/drawingml/2006/main" noGrp="1"/>
          </p:cNvSpPr>
          <p:nvPr/>
        </p:nvSpPr>
        <p:spPr>
          <a:xfrm xmlns:a="http://schemas.openxmlformats.org/drawingml/2006/main">
            <a:off x="8382000" y="3048000"/>
            <a:ext cx="3190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FFFFFF"/>
                </a:solidFill>
                <a:latin typeface="Arial"/>
                <a:ea typeface="Arial"/>
                <a:cs typeface="Arial"/>
              </a:defRPr>
            </a:defPPr>
          </a:lstStyle>
          <a:p xmlns:a="http://schemas.openxmlformats.org/drawingml/2006/main">
            <a:pPr>
              <a:defRPr sz="2250" b="1">
                <a:solidFill>
                  <a:srgbClr val="FFFFFF"/>
                </a:solidFill>
                <a:latin typeface="Arial"/>
                <a:ea typeface="Arial"/>
                <a:cs typeface="Arial"/>
              </a:defRPr>
            </a:pPr>
            <a:r>
              <a:rPr sz="2250" b="1">
                <a:solidFill>
                  <a:srgbClr val="FFFFFF"/>
                </a:solidFill>
                <a:latin typeface="Arial"/>
                <a:ea typeface="Arial"/>
                <a:cs typeface="Arial"/>
              </a:rPr>
              <a:t>TEST</a:t>
            </a:r>
          </a:p>
        </p:txBody>
      </p:sp>
      <p:sp>
        <p:nvSpPr>
          <p:cNvPr id="12" name="">
            <a:extLst xmlns:a="http://schemas.openxmlformats.org/drawingml/2006/main">
              <a:ext uri="{FF2B5EF4-FFF2-40B4-BE49-F238E27FC236}">
                <a16:creationId xmlns:a16="http://schemas.microsoft.com/office/drawing/2014/main" id="{EC3C923B-1F88-4555-8C08-D4C3A5AC49A2}"/>
              </a:ext>
            </a:extLst>
          </p:cNvPr>
          <p:cNvSpPr>
            <a:spLocks xmlns:a="http://schemas.openxmlformats.org/drawingml/2006/main" noGrp="1"/>
          </p:cNvSpPr>
          <p:nvPr/>
        </p:nvSpPr>
        <p:spPr>
          <a:xfrm xmlns:a="http://schemas.openxmlformats.org/drawingml/2006/main">
            <a:off x="8382000" y="3724275"/>
            <a:ext cx="31908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FFFFFF"/>
                </a:solidFill>
                <a:latin typeface="Arial"/>
                <a:ea typeface="Arial"/>
                <a:cs typeface="Arial"/>
              </a:defRPr>
            </a:defPPr>
          </a:lstStyle>
          <a:p xmlns:a="http://schemas.openxmlformats.org/drawingml/2006/main">
            <a:pPr>
              <a:defRPr sz="2100" b="0">
                <a:solidFill>
                  <a:srgbClr val="FFFFFF"/>
                </a:solidFill>
                <a:latin typeface="Arial"/>
                <a:ea typeface="Arial"/>
                <a:cs typeface="Arial"/>
              </a:defRPr>
            </a:pPr>
            <a:r>
              <a:rPr sz="2100" b="0">
                <a:solidFill>
                  <a:srgbClr val="FFFFFF"/>
                </a:solidFill>
                <a:latin typeface="Arial"/>
                <a:ea typeface="Arial"/>
                <a:cs typeface="Arial"/>
              </a:rPr>
              <a:t>Check later results</a:t>
            </a:r>
          </a:p>
        </p:txBody>
      </p:sp>
    </p:spTree>
    <p:extLst>
      <p:ext uri="{BB962C8B-B14F-4D97-AF65-F5344CB8AC3E}">
        <p14:creationId xmlns:p14="http://schemas.microsoft.com/office/powerpoint/2010/main" val="10079264"/>
      </p:ext>
    </p:extLst>
  </p:cSld>
</p:sld>
</file>

<file path=ppt/slides/slide9.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23C88D4-0A7E-4545-AAE0-6A0C8CE06673}"/>
              </a:ext>
            </a:extLst>
          </p:cNvPr>
          <p:cNvSpPr>
            <a:spLocks xmlns:a="http://schemas.openxmlformats.org/drawingml/2006/main" noGrp="1"/>
          </p:cNvSpPr>
          <p:nvPr/>
        </p:nvSpPr>
        <p:spPr>
          <a:xfrm xmlns:a="http://schemas.openxmlformats.org/drawingml/2006/main">
            <a:off x="609600" y="5238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8324A"/>
                </a:solidFill>
                <a:latin typeface="Arial"/>
                <a:ea typeface="Arial"/>
                <a:cs typeface="Arial"/>
              </a:defRPr>
            </a:defPPr>
          </a:lstStyle>
          <a:p xmlns:a="http://schemas.openxmlformats.org/drawingml/2006/main">
            <a:pPr>
              <a:defRPr sz="3300" b="1">
                <a:solidFill>
                  <a:srgbClr val="18324A"/>
                </a:solidFill>
                <a:latin typeface="Arial"/>
                <a:ea typeface="Arial"/>
                <a:cs typeface="Arial"/>
              </a:defRPr>
            </a:pPr>
            <a:r>
              <a:rPr sz="3300" b="1">
                <a:solidFill>
                  <a:srgbClr val="18324A"/>
                </a:solidFill>
                <a:latin typeface="Arial"/>
                <a:ea typeface="Arial"/>
                <a:cs typeface="Arial"/>
              </a:rPr>
              <a:t>The three forecasting methods</a:t>
            </a:r>
          </a:p>
        </p:txBody>
      </p:sp>
      <p:sp>
        <p:nvSpPr>
          <p:cNvPr id="2" name="">
            <a:extLst xmlns:a="http://schemas.openxmlformats.org/drawingml/2006/main">
              <a:ext uri="{FF2B5EF4-FFF2-40B4-BE49-F238E27FC236}">
                <a16:creationId xmlns:a16="http://schemas.microsoft.com/office/drawing/2014/main" id="{1463E2A1-6D93-4C5D-9B0D-FF5B64EB35DB}"/>
              </a:ext>
            </a:extLst>
          </p:cNvPr>
          <p:cNvSpPr>
            <a:spLocks xmlns:a="http://schemas.openxmlformats.org/drawingml/2006/main" noGrp="1"/>
          </p:cNvSpPr>
          <p:nvPr/>
        </p:nvSpPr>
        <p:spPr>
          <a:xfrm xmlns:a="http://schemas.openxmlformats.org/drawingml/2006/main">
            <a:off x="619125" y="5553075"/>
            <a:ext cx="10906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The benchmark tells us whether machine learning adds value</a:t>
            </a:r>
          </a:p>
        </p:txBody>
      </p:sp>
      <p:sp>
        <p:nvSpPr>
          <p:cNvPr id="3" name="">
            <a:extLst xmlns:a="http://schemas.openxmlformats.org/drawingml/2006/main">
              <a:ext uri="{FF2B5EF4-FFF2-40B4-BE49-F238E27FC236}">
                <a16:creationId xmlns:a16="http://schemas.microsoft.com/office/drawing/2014/main" id="{F2DCC10E-761D-41AE-9FE2-F2DFBBCA6C87}"/>
              </a:ext>
            </a:extLst>
          </p:cNvPr>
          <p:cNvSpPr>
            <a:spLocks xmlns:a="http://schemas.openxmlformats.org/drawingml/2006/main" noGrp="1"/>
          </p:cNvSpPr>
          <p:nvPr/>
        </p:nvSpPr>
        <p:spPr>
          <a:xfrm xmlns:a="http://schemas.openxmlformats.org/drawingml/2006/main">
            <a:off x="619125" y="64198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536A78"/>
                </a:solidFill>
                <a:latin typeface="Arial"/>
                <a:ea typeface="Arial"/>
                <a:cs typeface="Arial"/>
              </a:defRPr>
            </a:defPPr>
          </a:lstStyle>
          <a:p xmlns:a="http://schemas.openxmlformats.org/drawingml/2006/main">
            <a:pPr>
              <a:defRPr sz="1050" b="0">
                <a:solidFill>
                  <a:srgbClr val="536A78"/>
                </a:solidFill>
                <a:latin typeface="Arial"/>
                <a:ea typeface="Arial"/>
                <a:cs typeface="Arial"/>
              </a:defRPr>
            </a:pPr>
            <a:r>
              <a:rPr sz="1050" b="0">
                <a:solidFill>
                  <a:srgbClr val="536A78"/>
                </a:solidFill>
                <a:latin typeface="Arial"/>
                <a:ea typeface="Arial"/>
                <a:cs typeface="Arial"/>
              </a:rPr>
              <a:t>StockSense AI     09</a:t>
            </a:r>
          </a:p>
        </p:txBody>
      </p:sp>
      <p:sp>
        <p:nvSpPr>
          <p:cNvPr id="4" name="">
            <a:extLst xmlns:a="http://schemas.openxmlformats.org/drawingml/2006/main">
              <a:ext uri="{FF2B5EF4-FFF2-40B4-BE49-F238E27FC236}">
                <a16:creationId xmlns:a16="http://schemas.microsoft.com/office/drawing/2014/main" id="{25E82CED-29BF-437F-B1F6-431E394A020C}"/>
              </a:ext>
            </a:extLst>
          </p:cNvPr>
          <p:cNvSpPr>
            <a:spLocks xmlns:a="http://schemas.openxmlformats.org/drawingml/2006/main" noGrp="1"/>
          </p:cNvSpPr>
          <p:nvPr/>
        </p:nvSpPr>
        <p:spPr>
          <a:xfrm xmlns:a="http://schemas.openxmlformats.org/drawingml/2006/main">
            <a:off x="647700" y="1952625"/>
            <a:ext cx="3810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087E79"/>
                </a:solidFill>
                <a:latin typeface="Arial"/>
                <a:ea typeface="Arial"/>
                <a:cs typeface="Arial"/>
              </a:defRPr>
            </a:defPPr>
          </a:lstStyle>
          <a:p xmlns:a="http://schemas.openxmlformats.org/drawingml/2006/main">
            <a:pPr>
              <a:defRPr sz="2400" b="1">
                <a:solidFill>
                  <a:srgbClr val="087E79"/>
                </a:solidFill>
                <a:latin typeface="Arial"/>
                <a:ea typeface="Arial"/>
                <a:cs typeface="Arial"/>
              </a:defRPr>
            </a:pPr>
            <a:r>
              <a:rPr sz="2400" b="1">
                <a:solidFill>
                  <a:srgbClr val="087E79"/>
                </a:solidFill>
                <a:latin typeface="Arial"/>
                <a:ea typeface="Arial"/>
                <a:cs typeface="Arial"/>
              </a:rPr>
              <a:t>Weekly benchmark</a:t>
            </a:r>
          </a:p>
        </p:txBody>
      </p:sp>
      <p:sp>
        <p:nvSpPr>
          <p:cNvPr id="5" name="">
            <a:extLst xmlns:a="http://schemas.openxmlformats.org/drawingml/2006/main">
              <a:ext uri="{FF2B5EF4-FFF2-40B4-BE49-F238E27FC236}">
                <a16:creationId xmlns:a16="http://schemas.microsoft.com/office/drawing/2014/main" id="{418F9D38-3543-42F5-B764-0D30538D0687}"/>
              </a:ext>
            </a:extLst>
          </p:cNvPr>
          <p:cNvSpPr>
            <a:spLocks xmlns:a="http://schemas.openxmlformats.org/drawingml/2006/main" noGrp="1"/>
          </p:cNvSpPr>
          <p:nvPr/>
        </p:nvSpPr>
        <p:spPr>
          <a:xfrm xmlns:a="http://schemas.openxmlformats.org/drawingml/2006/main">
            <a:off x="4667250" y="1952625"/>
            <a:ext cx="657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8324A"/>
                </a:solidFill>
                <a:latin typeface="Arial"/>
                <a:ea typeface="Arial"/>
                <a:cs typeface="Arial"/>
              </a:defRPr>
            </a:defPPr>
          </a:lstStyle>
          <a:p xmlns:a="http://schemas.openxmlformats.org/drawingml/2006/main">
            <a:pPr>
              <a:defRPr sz="2175" b="0">
                <a:solidFill>
                  <a:srgbClr val="18324A"/>
                </a:solidFill>
                <a:latin typeface="Arial"/>
                <a:ea typeface="Arial"/>
                <a:cs typeface="Arial"/>
              </a:defRPr>
            </a:pPr>
            <a:r>
              <a:rPr sz="2175" b="0">
                <a:solidFill>
                  <a:srgbClr val="18324A"/>
                </a:solidFill>
                <a:latin typeface="Arial"/>
                <a:ea typeface="Arial"/>
                <a:cs typeface="Arial"/>
              </a:rPr>
              <a:t>Repeat last week’s sales on matching weekdays.</a:t>
            </a:r>
          </a:p>
        </p:txBody>
      </p:sp>
      <p:sp>
        <p:nvSpPr>
          <p:cNvPr id="6" name="">
            <a:extLst xmlns:a="http://schemas.openxmlformats.org/drawingml/2006/main">
              <a:ext uri="{FF2B5EF4-FFF2-40B4-BE49-F238E27FC236}">
                <a16:creationId xmlns:a16="http://schemas.microsoft.com/office/drawing/2014/main" id="{438F9C65-FF94-4DF4-896E-F727C9AAD3CC}"/>
              </a:ext>
            </a:extLst>
          </p:cNvPr>
          <p:cNvSpPr>
            <a:spLocks xmlns:a="http://schemas.openxmlformats.org/drawingml/2006/main" noGrp="1"/>
          </p:cNvSpPr>
          <p:nvPr/>
        </p:nvSpPr>
        <p:spPr>
          <a:xfrm xmlns:a="http://schemas.openxmlformats.org/drawingml/2006/main">
            <a:off x="647700" y="3162300"/>
            <a:ext cx="3810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087E79"/>
                </a:solidFill>
                <a:latin typeface="Arial"/>
                <a:ea typeface="Arial"/>
                <a:cs typeface="Arial"/>
              </a:defRPr>
            </a:defPPr>
          </a:lstStyle>
          <a:p xmlns:a="http://schemas.openxmlformats.org/drawingml/2006/main">
            <a:pPr>
              <a:defRPr sz="2400" b="1">
                <a:solidFill>
                  <a:srgbClr val="087E79"/>
                </a:solidFill>
                <a:latin typeface="Arial"/>
                <a:ea typeface="Arial"/>
                <a:cs typeface="Arial"/>
              </a:defRPr>
            </a:pPr>
            <a:r>
              <a:rPr sz="2400" b="1">
                <a:solidFill>
                  <a:srgbClr val="087E79"/>
                </a:solidFill>
                <a:latin typeface="Arial"/>
                <a:ea typeface="Arial"/>
                <a:cs typeface="Arial"/>
              </a:rPr>
              <a:t>Random forest</a:t>
            </a:r>
          </a:p>
        </p:txBody>
      </p:sp>
      <p:sp>
        <p:nvSpPr>
          <p:cNvPr id="7" name="">
            <a:extLst xmlns:a="http://schemas.openxmlformats.org/drawingml/2006/main">
              <a:ext uri="{FF2B5EF4-FFF2-40B4-BE49-F238E27FC236}">
                <a16:creationId xmlns:a16="http://schemas.microsoft.com/office/drawing/2014/main" id="{4E76A22D-B7C9-4C21-9CC5-DE31F0124A03}"/>
              </a:ext>
            </a:extLst>
          </p:cNvPr>
          <p:cNvSpPr>
            <a:spLocks xmlns:a="http://schemas.openxmlformats.org/drawingml/2006/main" noGrp="1"/>
          </p:cNvSpPr>
          <p:nvPr/>
        </p:nvSpPr>
        <p:spPr>
          <a:xfrm xmlns:a="http://schemas.openxmlformats.org/drawingml/2006/main">
            <a:off x="4667250" y="3162300"/>
            <a:ext cx="6572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8324A"/>
                </a:solidFill>
                <a:latin typeface="Arial"/>
                <a:ea typeface="Arial"/>
                <a:cs typeface="Arial"/>
              </a:defRPr>
            </a:defPPr>
          </a:lstStyle>
          <a:p xmlns:a="http://schemas.openxmlformats.org/drawingml/2006/main">
            <a:pPr>
              <a:defRPr sz="2175" b="0">
                <a:solidFill>
                  <a:srgbClr val="18324A"/>
                </a:solidFill>
                <a:latin typeface="Arial"/>
                <a:ea typeface="Arial"/>
                <a:cs typeface="Arial"/>
              </a:defRPr>
            </a:pPr>
            <a:r>
              <a:rPr sz="2175" b="0">
                <a:solidFill>
                  <a:srgbClr val="18324A"/>
                </a:solidFill>
                <a:latin typeface="Arial"/>
                <a:ea typeface="Arial"/>
                <a:cs typeface="Arial"/>
              </a:rPr>
              <a:t>Combine decision trees using sales and calendar features.</a:t>
            </a:r>
          </a:p>
        </p:txBody>
      </p:sp>
      <p:sp>
        <p:nvSpPr>
          <p:cNvPr id="8" name="">
            <a:extLst xmlns:a="http://schemas.openxmlformats.org/drawingml/2006/main">
              <a:ext uri="{FF2B5EF4-FFF2-40B4-BE49-F238E27FC236}">
                <a16:creationId xmlns:a16="http://schemas.microsoft.com/office/drawing/2014/main" id="{BAD920B4-A616-4D16-BC2B-78646E02E669}"/>
              </a:ext>
            </a:extLst>
          </p:cNvPr>
          <p:cNvSpPr>
            <a:spLocks xmlns:a="http://schemas.openxmlformats.org/drawingml/2006/main" noGrp="1"/>
          </p:cNvSpPr>
          <p:nvPr/>
        </p:nvSpPr>
        <p:spPr>
          <a:xfrm xmlns:a="http://schemas.openxmlformats.org/drawingml/2006/main">
            <a:off x="647700" y="4371975"/>
            <a:ext cx="3810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087E79"/>
                </a:solidFill>
                <a:latin typeface="Arial"/>
                <a:ea typeface="Arial"/>
                <a:cs typeface="Arial"/>
              </a:defRPr>
            </a:defPPr>
          </a:lstStyle>
          <a:p xmlns:a="http://schemas.openxmlformats.org/drawingml/2006/main">
            <a:pPr>
              <a:defRPr sz="2400" b="1">
                <a:solidFill>
                  <a:srgbClr val="087E79"/>
                </a:solidFill>
                <a:latin typeface="Arial"/>
                <a:ea typeface="Arial"/>
                <a:cs typeface="Arial"/>
              </a:defRPr>
            </a:pPr>
            <a:r>
              <a:rPr sz="2400" b="1">
                <a:solidFill>
                  <a:srgbClr val="087E79"/>
                </a:solidFill>
                <a:latin typeface="Arial"/>
                <a:ea typeface="Arial"/>
                <a:cs typeface="Arial"/>
              </a:rPr>
              <a:t>Small LSTM</a:t>
            </a:r>
          </a:p>
        </p:txBody>
      </p:sp>
      <p:sp>
        <p:nvSpPr>
          <p:cNvPr id="9" name="">
            <a:extLst xmlns:a="http://schemas.openxmlformats.org/drawingml/2006/main">
              <a:ext uri="{FF2B5EF4-FFF2-40B4-BE49-F238E27FC236}">
                <a16:creationId xmlns:a16="http://schemas.microsoft.com/office/drawing/2014/main" id="{222A8D32-D0C5-4C65-8FC5-DE5930E21A84}"/>
              </a:ext>
            </a:extLst>
          </p:cNvPr>
          <p:cNvSpPr>
            <a:spLocks xmlns:a="http://schemas.openxmlformats.org/drawingml/2006/main" noGrp="1"/>
          </p:cNvSpPr>
          <p:nvPr/>
        </p:nvSpPr>
        <p:spPr>
          <a:xfrm xmlns:a="http://schemas.openxmlformats.org/drawingml/2006/main">
            <a:off x="4667250" y="4371975"/>
            <a:ext cx="6572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8324A"/>
                </a:solidFill>
                <a:latin typeface="Arial"/>
                <a:ea typeface="Arial"/>
                <a:cs typeface="Arial"/>
              </a:defRPr>
            </a:defPPr>
          </a:lstStyle>
          <a:p xmlns:a="http://schemas.openxmlformats.org/drawingml/2006/main">
            <a:pPr>
              <a:defRPr sz="2175" b="0">
                <a:solidFill>
                  <a:srgbClr val="18324A"/>
                </a:solidFill>
                <a:latin typeface="Arial"/>
                <a:ea typeface="Arial"/>
                <a:cs typeface="Arial"/>
              </a:defRPr>
            </a:pPr>
            <a:r>
              <a:rPr sz="2175" b="0">
                <a:solidFill>
                  <a:srgbClr val="18324A"/>
                </a:solidFill>
                <a:latin typeface="Arial"/>
                <a:ea typeface="Arial"/>
                <a:cs typeface="Arial"/>
              </a:rPr>
              <a:t>Use a neural network to learn from a sequence of sales.</a:t>
            </a:r>
          </a:p>
        </p:txBody>
      </p:sp>
    </p:spTree>
    <p:extLst>
      <p:ext uri="{BB962C8B-B14F-4D97-AF65-F5344CB8AC3E}">
        <p14:creationId xmlns:p14="http://schemas.microsoft.com/office/powerpoint/2010/main" val="607833134"/>
      </p:ext>
    </p:extLst>
  </p:cSld>
</p:sld>
</file>

<file path=ppt/slides/slide10.xml><?xml version="1.0" encoding="utf-8"?>
<p:sld xmlns:p="http://schemas.openxmlformats.org/presentationml/2006/main">
  <p:cSld>
    <p:bg>
      <p:bgPr>
        <a:solidFill xmlns:a="http://schemas.openxmlformats.org/drawingml/2006/main">
          <a:srgbClr val="11263E"/>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3509286-8D64-48FF-9312-307931972672}"/>
              </a:ext>
            </a:extLst>
          </p:cNvPr>
          <p:cNvSpPr>
            <a:spLocks xmlns:a="http://schemas.openxmlformats.org/drawingml/2006/main" noGrp="1"/>
          </p:cNvSpPr>
          <p:nvPr/>
        </p:nvSpPr>
        <p:spPr>
          <a:xfrm xmlns:a="http://schemas.openxmlformats.org/drawingml/2006/main">
            <a:off x="609600" y="5238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FFFFFF"/>
                </a:solidFill>
                <a:latin typeface="Arial"/>
                <a:ea typeface="Arial"/>
                <a:cs typeface="Arial"/>
              </a:defRPr>
            </a:defPPr>
          </a:lstStyle>
          <a:p xmlns:a="http://schemas.openxmlformats.org/drawingml/2006/main">
            <a:pPr>
              <a:defRPr sz="3300" b="1">
                <a:solidFill>
                  <a:srgbClr val="FFFFFF"/>
                </a:solidFill>
                <a:latin typeface="Arial"/>
                <a:ea typeface="Arial"/>
                <a:cs typeface="Arial"/>
              </a:defRPr>
            </a:pPr>
            <a:r>
              <a:rPr sz="3300" b="1">
                <a:solidFill>
                  <a:srgbClr val="FFFFFF"/>
                </a:solidFill>
                <a:latin typeface="Arial"/>
                <a:ea typeface="Arial"/>
                <a:cs typeface="Arial"/>
              </a:rPr>
              <a:t>The LSTM deep-learning comparison</a:t>
            </a:r>
          </a:p>
        </p:txBody>
      </p:sp>
      <p:sp>
        <p:nvSpPr>
          <p:cNvPr id="2" name="">
            <a:extLst xmlns:a="http://schemas.openxmlformats.org/drawingml/2006/main">
              <a:ext uri="{FF2B5EF4-FFF2-40B4-BE49-F238E27FC236}">
                <a16:creationId xmlns:a16="http://schemas.microsoft.com/office/drawing/2014/main" id="{7DFCDA16-50ED-4893-96B0-B58127E13A5D}"/>
              </a:ext>
            </a:extLst>
          </p:cNvPr>
          <p:cNvSpPr>
            <a:spLocks xmlns:a="http://schemas.openxmlformats.org/drawingml/2006/main" noGrp="1"/>
          </p:cNvSpPr>
          <p:nvPr/>
        </p:nvSpPr>
        <p:spPr>
          <a:xfrm xmlns:a="http://schemas.openxmlformats.org/drawingml/2006/main">
            <a:off x="619125" y="5553075"/>
            <a:ext cx="10906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A9E7D7"/>
                </a:solidFill>
                <a:latin typeface="Arial"/>
                <a:ea typeface="Arial"/>
                <a:cs typeface="Arial"/>
              </a:defRPr>
            </a:defPPr>
          </a:lstStyle>
          <a:p xmlns:a="http://schemas.openxmlformats.org/drawingml/2006/main">
            <a:pPr>
              <a:defRPr sz="1875" b="1">
                <a:solidFill>
                  <a:srgbClr val="A9E7D7"/>
                </a:solidFill>
                <a:latin typeface="Arial"/>
                <a:ea typeface="Arial"/>
                <a:cs typeface="Arial"/>
              </a:defRPr>
            </a:pPr>
            <a:r>
              <a:rPr sz="1875" b="1">
                <a:solidFill>
                  <a:srgbClr val="A9E7D7"/>
                </a:solidFill>
                <a:latin typeface="Arial"/>
                <a:ea typeface="Arial"/>
                <a:cs typeface="Arial"/>
              </a:rPr>
              <a:t>The LSTM learns sequence patterns from past daily sales</a:t>
            </a:r>
          </a:p>
        </p:txBody>
      </p:sp>
      <p:sp>
        <p:nvSpPr>
          <p:cNvPr id="3" name="">
            <a:extLst xmlns:a="http://schemas.openxmlformats.org/drawingml/2006/main">
              <a:ext uri="{FF2B5EF4-FFF2-40B4-BE49-F238E27FC236}">
                <a16:creationId xmlns:a16="http://schemas.microsoft.com/office/drawing/2014/main" id="{DA1E3C5B-E938-4F51-995D-0DB688CD4C1F}"/>
              </a:ext>
            </a:extLst>
          </p:cNvPr>
          <p:cNvSpPr>
            <a:spLocks xmlns:a="http://schemas.openxmlformats.org/drawingml/2006/main" noGrp="1"/>
          </p:cNvSpPr>
          <p:nvPr/>
        </p:nvSpPr>
        <p:spPr>
          <a:xfrm xmlns:a="http://schemas.openxmlformats.org/drawingml/2006/main">
            <a:off x="619125" y="64198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A9E7D7"/>
                </a:solidFill>
                <a:latin typeface="Arial"/>
                <a:ea typeface="Arial"/>
                <a:cs typeface="Arial"/>
              </a:defRPr>
            </a:defPPr>
          </a:lstStyle>
          <a:p xmlns:a="http://schemas.openxmlformats.org/drawingml/2006/main">
            <a:pPr>
              <a:defRPr sz="1050" b="0">
                <a:solidFill>
                  <a:srgbClr val="A9E7D7"/>
                </a:solidFill>
                <a:latin typeface="Arial"/>
                <a:ea typeface="Arial"/>
                <a:cs typeface="Arial"/>
              </a:defRPr>
            </a:pPr>
            <a:r>
              <a:rPr sz="1050" b="0">
                <a:solidFill>
                  <a:srgbClr val="A9E7D7"/>
                </a:solidFill>
                <a:latin typeface="Arial"/>
                <a:ea typeface="Arial"/>
                <a:cs typeface="Arial"/>
              </a:rPr>
              <a:t>StockSense AI     10</a:t>
            </a:r>
          </a:p>
        </p:txBody>
      </p:sp>
      <p:sp>
        <p:nvSpPr>
          <p:cNvPr id="4" name="">
            <a:extLst xmlns:a="http://schemas.openxmlformats.org/drawingml/2006/main">
              <a:ext uri="{FF2B5EF4-FFF2-40B4-BE49-F238E27FC236}">
                <a16:creationId xmlns:a16="http://schemas.microsoft.com/office/drawing/2014/main" id="{E347E3ED-2021-4EA5-B2F8-8F3ABDE7B741}"/>
              </a:ext>
            </a:extLst>
          </p:cNvPr>
          <p:cNvSpPr>
            <a:spLocks xmlns:a="http://schemas.openxmlformats.org/drawingml/2006/main" noGrp="1"/>
          </p:cNvSpPr>
          <p:nvPr/>
        </p:nvSpPr>
        <p:spPr>
          <a:xfrm xmlns:a="http://schemas.openxmlformats.org/drawingml/2006/main">
            <a:off x="666750" y="2009775"/>
            <a:ext cx="28575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7500" b="1">
                <a:solidFill>
                  <a:srgbClr val="A9E7D7"/>
                </a:solidFill>
                <a:latin typeface="Arial"/>
                <a:ea typeface="Arial"/>
                <a:cs typeface="Arial"/>
              </a:defRPr>
            </a:defPPr>
          </a:lstStyle>
          <a:p xmlns:a="http://schemas.openxmlformats.org/drawingml/2006/main">
            <a:pPr>
              <a:defRPr sz="7500" b="1">
                <a:solidFill>
                  <a:srgbClr val="A9E7D7"/>
                </a:solidFill>
                <a:latin typeface="Arial"/>
                <a:ea typeface="Arial"/>
                <a:cs typeface="Arial"/>
              </a:defRPr>
            </a:pPr>
            <a:r>
              <a:rPr sz="7500" b="1">
                <a:solidFill>
                  <a:srgbClr val="A9E7D7"/>
                </a:solidFill>
                <a:latin typeface="Arial"/>
                <a:ea typeface="Arial"/>
                <a:cs typeface="Arial"/>
              </a:rPr>
              <a:t>28</a:t>
            </a:r>
          </a:p>
        </p:txBody>
      </p:sp>
      <p:sp>
        <p:nvSpPr>
          <p:cNvPr id="5" name="">
            <a:extLst xmlns:a="http://schemas.openxmlformats.org/drawingml/2006/main">
              <a:ext uri="{FF2B5EF4-FFF2-40B4-BE49-F238E27FC236}">
                <a16:creationId xmlns:a16="http://schemas.microsoft.com/office/drawing/2014/main" id="{635AFC96-E8EC-4D6B-858B-6CE61FE484A8}"/>
              </a:ext>
            </a:extLst>
          </p:cNvPr>
          <p:cNvSpPr>
            <a:spLocks xmlns:a="http://schemas.openxmlformats.org/drawingml/2006/main" noGrp="1"/>
          </p:cNvSpPr>
          <p:nvPr/>
        </p:nvSpPr>
        <p:spPr>
          <a:xfrm xmlns:a="http://schemas.openxmlformats.org/drawingml/2006/main">
            <a:off x="666750" y="3362325"/>
            <a:ext cx="295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FFFFF"/>
                </a:solidFill>
                <a:latin typeface="Arial"/>
                <a:ea typeface="Arial"/>
                <a:cs typeface="Arial"/>
              </a:defRPr>
            </a:defPPr>
          </a:lstStyle>
          <a:p xmlns:a="http://schemas.openxmlformats.org/drawingml/2006/main">
            <a:pPr>
              <a:defRPr sz="2175" b="0">
                <a:solidFill>
                  <a:srgbClr val="FFFFFF"/>
                </a:solidFill>
                <a:latin typeface="Arial"/>
                <a:ea typeface="Arial"/>
                <a:cs typeface="Arial"/>
              </a:defRPr>
            </a:pPr>
            <a:r>
              <a:rPr sz="2175" b="0">
                <a:solidFill>
                  <a:srgbClr val="FFFFFF"/>
                </a:solidFill>
                <a:latin typeface="Arial"/>
                <a:ea typeface="Arial"/>
                <a:cs typeface="Arial"/>
              </a:rPr>
              <a:t>past sales days</a:t>
            </a:r>
          </a:p>
        </p:txBody>
      </p:sp>
      <p:sp>
        <p:nvSpPr>
          <p:cNvPr id="6" name="">
            <a:extLst xmlns:a="http://schemas.openxmlformats.org/drawingml/2006/main">
              <a:ext uri="{FF2B5EF4-FFF2-40B4-BE49-F238E27FC236}">
                <a16:creationId xmlns:a16="http://schemas.microsoft.com/office/drawing/2014/main" id="{893C40DE-9F44-48E4-A846-488B8D2BDD4B}"/>
              </a:ext>
            </a:extLst>
          </p:cNvPr>
          <p:cNvSpPr>
            <a:spLocks xmlns:a="http://schemas.openxmlformats.org/drawingml/2006/main" noGrp="1"/>
          </p:cNvSpPr>
          <p:nvPr/>
        </p:nvSpPr>
        <p:spPr>
          <a:xfrm xmlns:a="http://schemas.openxmlformats.org/drawingml/2006/main">
            <a:off x="4667250" y="2009775"/>
            <a:ext cx="28575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7500" b="1">
                <a:solidFill>
                  <a:srgbClr val="A9E7D7"/>
                </a:solidFill>
                <a:latin typeface="Arial"/>
                <a:ea typeface="Arial"/>
                <a:cs typeface="Arial"/>
              </a:defRPr>
            </a:defPPr>
          </a:lstStyle>
          <a:p xmlns:a="http://schemas.openxmlformats.org/drawingml/2006/main">
            <a:pPr>
              <a:defRPr sz="7500" b="1">
                <a:solidFill>
                  <a:srgbClr val="A9E7D7"/>
                </a:solidFill>
                <a:latin typeface="Arial"/>
                <a:ea typeface="Arial"/>
                <a:cs typeface="Arial"/>
              </a:defRPr>
            </a:pPr>
            <a:r>
              <a:rPr sz="7500" b="1">
                <a:solidFill>
                  <a:srgbClr val="A9E7D7"/>
                </a:solidFill>
                <a:latin typeface="Arial"/>
                <a:ea typeface="Arial"/>
                <a:cs typeface="Arial"/>
              </a:rPr>
              <a:t>16</a:t>
            </a:r>
          </a:p>
        </p:txBody>
      </p:sp>
      <p:sp>
        <p:nvSpPr>
          <p:cNvPr id="7" name="">
            <a:extLst xmlns:a="http://schemas.openxmlformats.org/drawingml/2006/main">
              <a:ext uri="{FF2B5EF4-FFF2-40B4-BE49-F238E27FC236}">
                <a16:creationId xmlns:a16="http://schemas.microsoft.com/office/drawing/2014/main" id="{797346C7-B6DA-4BD1-9A1B-9465583915D7}"/>
              </a:ext>
            </a:extLst>
          </p:cNvPr>
          <p:cNvSpPr>
            <a:spLocks xmlns:a="http://schemas.openxmlformats.org/drawingml/2006/main" noGrp="1"/>
          </p:cNvSpPr>
          <p:nvPr/>
        </p:nvSpPr>
        <p:spPr>
          <a:xfrm xmlns:a="http://schemas.openxmlformats.org/drawingml/2006/main">
            <a:off x="4667250" y="3362325"/>
            <a:ext cx="295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FFFFF"/>
                </a:solidFill>
                <a:latin typeface="Arial"/>
                <a:ea typeface="Arial"/>
                <a:cs typeface="Arial"/>
              </a:defRPr>
            </a:defPPr>
          </a:lstStyle>
          <a:p xmlns:a="http://schemas.openxmlformats.org/drawingml/2006/main">
            <a:pPr>
              <a:defRPr sz="2175" b="0">
                <a:solidFill>
                  <a:srgbClr val="FFFFFF"/>
                </a:solidFill>
                <a:latin typeface="Arial"/>
                <a:ea typeface="Arial"/>
                <a:cs typeface="Arial"/>
              </a:defRPr>
            </a:pPr>
            <a:r>
              <a:rPr sz="2175" b="0">
                <a:solidFill>
                  <a:srgbClr val="FFFFFF"/>
                </a:solidFill>
                <a:latin typeface="Arial"/>
                <a:ea typeface="Arial"/>
                <a:cs typeface="Arial"/>
              </a:rPr>
              <a:t>LSTM units</a:t>
            </a:r>
          </a:p>
        </p:txBody>
      </p:sp>
      <p:sp>
        <p:nvSpPr>
          <p:cNvPr id="8" name="">
            <a:extLst xmlns:a="http://schemas.openxmlformats.org/drawingml/2006/main">
              <a:ext uri="{FF2B5EF4-FFF2-40B4-BE49-F238E27FC236}">
                <a16:creationId xmlns:a16="http://schemas.microsoft.com/office/drawing/2014/main" id="{A9CA5CEB-9E83-4523-BE6F-3A53D5C2C373}"/>
              </a:ext>
            </a:extLst>
          </p:cNvPr>
          <p:cNvSpPr>
            <a:spLocks xmlns:a="http://schemas.openxmlformats.org/drawingml/2006/main" noGrp="1"/>
          </p:cNvSpPr>
          <p:nvPr/>
        </p:nvSpPr>
        <p:spPr>
          <a:xfrm xmlns:a="http://schemas.openxmlformats.org/drawingml/2006/main">
            <a:off x="8763000" y="2009775"/>
            <a:ext cx="28575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7500" b="1">
                <a:solidFill>
                  <a:srgbClr val="A9E7D7"/>
                </a:solidFill>
                <a:latin typeface="Arial"/>
                <a:ea typeface="Arial"/>
                <a:cs typeface="Arial"/>
              </a:defRPr>
            </a:defPPr>
          </a:lstStyle>
          <a:p xmlns:a="http://schemas.openxmlformats.org/drawingml/2006/main">
            <a:pPr>
              <a:defRPr sz="7500" b="1">
                <a:solidFill>
                  <a:srgbClr val="A9E7D7"/>
                </a:solidFill>
                <a:latin typeface="Arial"/>
                <a:ea typeface="Arial"/>
                <a:cs typeface="Arial"/>
              </a:defRPr>
            </a:pPr>
            <a:r>
              <a:rPr sz="7500" b="1">
                <a:solidFill>
                  <a:srgbClr val="A9E7D7"/>
                </a:solidFill>
                <a:latin typeface="Arial"/>
                <a:ea typeface="Arial"/>
                <a:cs typeface="Arial"/>
              </a:rPr>
              <a:t>7</a:t>
            </a:r>
          </a:p>
        </p:txBody>
      </p:sp>
      <p:sp>
        <p:nvSpPr>
          <p:cNvPr id="9" name="">
            <a:extLst xmlns:a="http://schemas.openxmlformats.org/drawingml/2006/main">
              <a:ext uri="{FF2B5EF4-FFF2-40B4-BE49-F238E27FC236}">
                <a16:creationId xmlns:a16="http://schemas.microsoft.com/office/drawing/2014/main" id="{1814D466-0C5A-46D1-9238-B2546AC44A5B}"/>
              </a:ext>
            </a:extLst>
          </p:cNvPr>
          <p:cNvSpPr>
            <a:spLocks xmlns:a="http://schemas.openxmlformats.org/drawingml/2006/main" noGrp="1"/>
          </p:cNvSpPr>
          <p:nvPr/>
        </p:nvSpPr>
        <p:spPr>
          <a:xfrm xmlns:a="http://schemas.openxmlformats.org/drawingml/2006/main">
            <a:off x="8763000" y="3362325"/>
            <a:ext cx="295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FFFFF"/>
                </a:solidFill>
                <a:latin typeface="Arial"/>
                <a:ea typeface="Arial"/>
                <a:cs typeface="Arial"/>
              </a:defRPr>
            </a:defPPr>
          </a:lstStyle>
          <a:p xmlns:a="http://schemas.openxmlformats.org/drawingml/2006/main">
            <a:pPr>
              <a:defRPr sz="2175" b="0">
                <a:solidFill>
                  <a:srgbClr val="FFFFFF"/>
                </a:solidFill>
                <a:latin typeface="Arial"/>
                <a:ea typeface="Arial"/>
                <a:cs typeface="Arial"/>
              </a:defRPr>
            </a:pPr>
            <a:r>
              <a:rPr sz="2175" b="0">
                <a:solidFill>
                  <a:srgbClr val="FFFFFF"/>
                </a:solidFill>
                <a:latin typeface="Arial"/>
                <a:ea typeface="Arial"/>
                <a:cs typeface="Arial"/>
              </a:rPr>
              <a:t>predicted days</a:t>
            </a:r>
          </a:p>
        </p:txBody>
      </p:sp>
      <p:sp>
        <p:nvSpPr>
          <p:cNvPr id="10" name="">
            <a:extLst xmlns:a="http://schemas.openxmlformats.org/drawingml/2006/main">
              <a:ext uri="{FF2B5EF4-FFF2-40B4-BE49-F238E27FC236}">
                <a16:creationId xmlns:a16="http://schemas.microsoft.com/office/drawing/2014/main" id="{5923777B-1E0B-40AB-B6D9-D181EE867628}"/>
              </a:ext>
            </a:extLst>
          </p:cNvPr>
          <p:cNvSpPr>
            <a:spLocks xmlns:a="http://schemas.openxmlformats.org/drawingml/2006/main" noGrp="1"/>
          </p:cNvSpPr>
          <p:nvPr/>
        </p:nvSpPr>
        <p:spPr>
          <a:xfrm xmlns:a="http://schemas.openxmlformats.org/drawingml/2006/main">
            <a:off x="666750" y="4543425"/>
            <a:ext cx="1057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FFFFF"/>
                </a:solidFill>
                <a:latin typeface="Arial"/>
                <a:ea typeface="Arial"/>
                <a:cs typeface="Arial"/>
              </a:defRPr>
            </a:defPPr>
          </a:lstStyle>
          <a:p xmlns:a="http://schemas.openxmlformats.org/drawingml/2006/main">
            <a:pPr>
              <a:defRPr sz="2175" b="0">
                <a:solidFill>
                  <a:srgbClr val="FFFFFF"/>
                </a:solidFill>
                <a:latin typeface="Arial"/>
                <a:ea typeface="Arial"/>
                <a:cs typeface="Arial"/>
              </a:defRPr>
            </a:pPr>
            <a:r>
              <a:rPr sz="2175" b="0">
                <a:solidFill>
                  <a:srgbClr val="FFFFFF"/>
                </a:solidFill>
                <a:latin typeface="Arial"/>
                <a:ea typeface="Arial"/>
                <a:cs typeface="Arial"/>
              </a:rPr>
              <a:t>Early stopping checks whether validation error still improves.</a:t>
            </a:r>
          </a:p>
        </p:txBody>
      </p:sp>
    </p:spTree>
    <p:extLst>
      <p:ext uri="{BB962C8B-B14F-4D97-AF65-F5344CB8AC3E}">
        <p14:creationId xmlns:p14="http://schemas.microsoft.com/office/powerpoint/2010/main" val="1288991184"/>
      </p:ext>
    </p:extLst>
  </p:cSld>
</p:sld>
</file>

<file path=ppt/slides/slide11.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75EF3B0-194B-4991-A535-52EFEB201979}"/>
              </a:ext>
            </a:extLst>
          </p:cNvPr>
          <p:cNvSpPr>
            <a:spLocks xmlns:a="http://schemas.openxmlformats.org/drawingml/2006/main" noGrp="1"/>
          </p:cNvSpPr>
          <p:nvPr/>
        </p:nvSpPr>
        <p:spPr>
          <a:xfrm xmlns:a="http://schemas.openxmlformats.org/drawingml/2006/main">
            <a:off x="609600" y="5238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8324A"/>
                </a:solidFill>
                <a:latin typeface="Arial"/>
                <a:ea typeface="Arial"/>
                <a:cs typeface="Arial"/>
              </a:defRPr>
            </a:defPPr>
          </a:lstStyle>
          <a:p xmlns:a="http://schemas.openxmlformats.org/drawingml/2006/main">
            <a:pPr>
              <a:defRPr sz="3300" b="1">
                <a:solidFill>
                  <a:srgbClr val="18324A"/>
                </a:solidFill>
                <a:latin typeface="Arial"/>
                <a:ea typeface="Arial"/>
                <a:cs typeface="Arial"/>
              </a:defRPr>
            </a:pPr>
            <a:r>
              <a:rPr sz="3300" b="1">
                <a:solidFill>
                  <a:srgbClr val="18324A"/>
                </a:solidFill>
                <a:latin typeface="Arial"/>
                <a:ea typeface="Arial"/>
                <a:cs typeface="Arial"/>
              </a:rPr>
              <a:t>How we chose the model</a:t>
            </a:r>
          </a:p>
        </p:txBody>
      </p:sp>
      <p:sp>
        <p:nvSpPr>
          <p:cNvPr id="2" name="">
            <a:extLst xmlns:a="http://schemas.openxmlformats.org/drawingml/2006/main">
              <a:ext uri="{FF2B5EF4-FFF2-40B4-BE49-F238E27FC236}">
                <a16:creationId xmlns:a16="http://schemas.microsoft.com/office/drawing/2014/main" id="{0051E44B-ABE7-4D02-A464-C90EB1AE6A73}"/>
              </a:ext>
            </a:extLst>
          </p:cNvPr>
          <p:cNvSpPr>
            <a:spLocks xmlns:a="http://schemas.openxmlformats.org/drawingml/2006/main" noGrp="1"/>
          </p:cNvSpPr>
          <p:nvPr/>
        </p:nvSpPr>
        <p:spPr>
          <a:xfrm xmlns:a="http://schemas.openxmlformats.org/drawingml/2006/main">
            <a:off x="619125" y="5553075"/>
            <a:ext cx="10906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Random forest had the lowest daily validation MAE: 4.911 units</a:t>
            </a:r>
          </a:p>
        </p:txBody>
      </p:sp>
      <p:sp>
        <p:nvSpPr>
          <p:cNvPr id="3" name="">
            <a:extLst xmlns:a="http://schemas.openxmlformats.org/drawingml/2006/main">
              <a:ext uri="{FF2B5EF4-FFF2-40B4-BE49-F238E27FC236}">
                <a16:creationId xmlns:a16="http://schemas.microsoft.com/office/drawing/2014/main" id="{62751B93-BE28-4EA4-8309-188050160DDB}"/>
              </a:ext>
            </a:extLst>
          </p:cNvPr>
          <p:cNvSpPr>
            <a:spLocks xmlns:a="http://schemas.openxmlformats.org/drawingml/2006/main" noGrp="1"/>
          </p:cNvSpPr>
          <p:nvPr/>
        </p:nvSpPr>
        <p:spPr>
          <a:xfrm xmlns:a="http://schemas.openxmlformats.org/drawingml/2006/main">
            <a:off x="619125" y="64198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536A78"/>
                </a:solidFill>
                <a:latin typeface="Arial"/>
                <a:ea typeface="Arial"/>
                <a:cs typeface="Arial"/>
              </a:defRPr>
            </a:defPPr>
          </a:lstStyle>
          <a:p xmlns:a="http://schemas.openxmlformats.org/drawingml/2006/main">
            <a:pPr>
              <a:defRPr sz="1050" b="0">
                <a:solidFill>
                  <a:srgbClr val="536A78"/>
                </a:solidFill>
                <a:latin typeface="Arial"/>
                <a:ea typeface="Arial"/>
                <a:cs typeface="Arial"/>
              </a:defRPr>
            </a:pPr>
            <a:r>
              <a:rPr sz="1050" b="0">
                <a:solidFill>
                  <a:srgbClr val="536A78"/>
                </a:solidFill>
                <a:latin typeface="Arial"/>
                <a:ea typeface="Arial"/>
                <a:cs typeface="Arial"/>
              </a:rPr>
              <a:t>StockSense AI     11</a:t>
            </a:r>
          </a:p>
        </p:txBody>
      </p:sp>
      <p:sp>
        <p:nvSpPr>
          <p:cNvPr id="4" name="">
            <a:extLst xmlns:a="http://schemas.openxmlformats.org/drawingml/2006/main">
              <a:ext uri="{FF2B5EF4-FFF2-40B4-BE49-F238E27FC236}">
                <a16:creationId xmlns:a16="http://schemas.microsoft.com/office/drawing/2014/main" id="{DB0F6FC5-184D-4F36-93A0-37A6B3552782}"/>
              </a:ext>
            </a:extLst>
          </p:cNvPr>
          <p:cNvSpPr>
            <a:spLocks xmlns:a="http://schemas.openxmlformats.org/drawingml/2006/main" noGrp="1"/>
          </p:cNvSpPr>
          <p:nvPr/>
        </p:nvSpPr>
        <p:spPr>
          <a:xfrm xmlns:a="http://schemas.openxmlformats.org/drawingml/2006/main">
            <a:off x="638175" y="1952625"/>
            <a:ext cx="4191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87E79"/>
                </a:solidFill>
                <a:latin typeface="Arial"/>
                <a:ea typeface="Arial"/>
                <a:cs typeface="Arial"/>
              </a:defRPr>
            </a:defPPr>
          </a:lstStyle>
          <a:p xmlns:a="http://schemas.openxmlformats.org/drawingml/2006/main">
            <a:pPr>
              <a:defRPr sz="2625" b="1">
                <a:solidFill>
                  <a:srgbClr val="087E79"/>
                </a:solidFill>
                <a:latin typeface="Arial"/>
                <a:ea typeface="Arial"/>
                <a:cs typeface="Arial"/>
              </a:defRPr>
            </a:pPr>
            <a:r>
              <a:rPr sz="2625" b="1">
                <a:solidFill>
                  <a:srgbClr val="087E79"/>
                </a:solidFill>
                <a:latin typeface="Arial"/>
                <a:ea typeface="Arial"/>
                <a:cs typeface="Arial"/>
              </a:rPr>
              <a:t>MAE = average error size</a:t>
            </a:r>
          </a:p>
        </p:txBody>
      </p:sp>
      <p:sp>
        <p:nvSpPr>
          <p:cNvPr id="5" name="">
            <a:extLst xmlns:a="http://schemas.openxmlformats.org/drawingml/2006/main">
              <a:ext uri="{FF2B5EF4-FFF2-40B4-BE49-F238E27FC236}">
                <a16:creationId xmlns:a16="http://schemas.microsoft.com/office/drawing/2014/main" id="{ADE5C893-EA06-4EB9-BA59-1B35931C6E2E}"/>
              </a:ext>
            </a:extLst>
          </p:cNvPr>
          <p:cNvSpPr>
            <a:spLocks xmlns:a="http://schemas.openxmlformats.org/drawingml/2006/main" noGrp="1"/>
          </p:cNvSpPr>
          <p:nvPr/>
        </p:nvSpPr>
        <p:spPr>
          <a:xfrm xmlns:a="http://schemas.openxmlformats.org/drawingml/2006/main">
            <a:off x="647700" y="3143250"/>
            <a:ext cx="3952875"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8324A"/>
                </a:solidFill>
                <a:latin typeface="Arial"/>
                <a:ea typeface="Arial"/>
                <a:cs typeface="Arial"/>
              </a:defRPr>
            </a:defPPr>
          </a:lstStyle>
          <a:p xmlns:a="http://schemas.openxmlformats.org/drawingml/2006/main">
            <a:pPr>
              <a:defRPr sz="2100" b="0">
                <a:solidFill>
                  <a:srgbClr val="18324A"/>
                </a:solidFill>
                <a:latin typeface="Arial"/>
                <a:ea typeface="Arial"/>
                <a:cs typeface="Arial"/>
              </a:defRPr>
            </a:pPr>
            <a:r>
              <a:rPr sz="2100" b="0">
                <a:solidFill>
                  <a:srgbClr val="18324A"/>
                </a:solidFill>
                <a:latin typeface="Arial"/>
                <a:ea typeface="Arial"/>
                <a:cs typeface="Arial"/>
              </a:rPr>
              <a:t>Predict 12 units</a:t>
            </a:r>
          </a:p>
          <a:p xmlns:a="http://schemas.openxmlformats.org/drawingml/2006/main">
            <a:pPr>
              <a:defRPr sz="2100" b="0">
                <a:solidFill>
                  <a:srgbClr val="18324A"/>
                </a:solidFill>
                <a:latin typeface="Arial"/>
                <a:ea typeface="Arial"/>
                <a:cs typeface="Arial"/>
              </a:defRPr>
            </a:pPr>
            <a:r>
              <a:rPr sz="2100" b="0">
                <a:solidFill>
                  <a:srgbClr val="18324A"/>
                </a:solidFill>
                <a:latin typeface="Arial"/>
                <a:ea typeface="Arial"/>
                <a:cs typeface="Arial"/>
              </a:rPr>
              <a:t>Observe 10 units</a:t>
            </a:r>
          </a:p>
          <a:p xmlns:a="http://schemas.openxmlformats.org/drawingml/2006/main">
            <a:pPr>
              <a:defRPr sz="2100" b="0">
                <a:solidFill>
                  <a:srgbClr val="18324A"/>
                </a:solidFill>
                <a:latin typeface="Arial"/>
                <a:ea typeface="Arial"/>
                <a:cs typeface="Arial"/>
              </a:defRPr>
            </a:pPr>
            <a:r>
              <a:rPr sz="2100" b="0">
                <a:solidFill>
                  <a:srgbClr val="18324A"/>
                </a:solidFill>
                <a:latin typeface="Arial"/>
                <a:ea typeface="Arial"/>
                <a:cs typeface="Arial"/>
              </a:rPr>
              <a:t>Absolute error = 2 units</a:t>
            </a:r>
          </a:p>
        </p:txBody>
      </p:sp>
      <p:graphicFrame>
        <p:nvGraphicFramePr>
          <p:cNvPr id="6" name="Chart">
            <a:extLst xmlns:a="http://schemas.openxmlformats.org/drawingml/2006/main">
              <a:ext uri="{FF2B5EF4-FFF2-40B4-BE49-F238E27FC236}">
                <a16:creationId xmlns:a16="http://schemas.microsoft.com/office/drawing/2014/main" id="{A77F939B-6D54-46B5-B69C-18EEC39935D4}"/>
              </a:ext>
            </a:extLst>
          </p:cNvPr>
          <p:cNvGraphicFramePr/>
          <p:nvPr/>
        </p:nvGraphicFramePr>
        <p:xfrm>
          <a:off xmlns:a="http://schemas.openxmlformats.org/drawingml/2006/main" x="5095875" y="1876425"/>
          <a:ext xmlns:a="http://schemas.openxmlformats.org/drawingml/2006/main" cx="6429375" cy="3209925"/>
        </p:xfrm>
        <a:graphic xmlns:a="http://schemas.openxmlformats.org/drawingml/2006/main">
          <a:graphicData uri="http://schemas.openxmlformats.org/drawingml/2006/chart">
            <c:chart xmlns:r="http://schemas.openxmlformats.org/officeDocument/2006/relationships" xmlns:c="http://schemas.openxmlformats.org/drawingml/2006/chart" r:id="R40440074afa74b1a"/>
          </a:graphicData>
        </a:graphic>
      </p:graphicFrame>
      <p:sp>
        <p:nvSpPr>
          <p:cNvPr id="7" name="">
            <a:extLst xmlns:a="http://schemas.openxmlformats.org/drawingml/2006/main">
              <a:ext uri="{FF2B5EF4-FFF2-40B4-BE49-F238E27FC236}">
                <a16:creationId xmlns:a16="http://schemas.microsoft.com/office/drawing/2014/main" id="{D9A95B0F-D732-4D1F-BAE6-B77FAD3AE51B}"/>
              </a:ext>
            </a:extLst>
          </p:cNvPr>
          <p:cNvSpPr>
            <a:spLocks xmlns:a="http://schemas.openxmlformats.org/drawingml/2006/main" noGrp="1"/>
          </p:cNvSpPr>
          <p:nvPr/>
        </p:nvSpPr>
        <p:spPr>
          <a:xfrm xmlns:a="http://schemas.openxmlformats.org/drawingml/2006/main">
            <a:off x="5391150" y="5114925"/>
            <a:ext cx="590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536A78"/>
                </a:solidFill>
                <a:latin typeface="Arial"/>
                <a:ea typeface="Arial"/>
                <a:cs typeface="Arial"/>
              </a:defRPr>
            </a:defPPr>
          </a:lstStyle>
          <a:p xmlns:a="http://schemas.openxmlformats.org/drawingml/2006/main">
            <a:pPr>
              <a:defRPr sz="1575" b="0">
                <a:solidFill>
                  <a:srgbClr val="536A78"/>
                </a:solidFill>
                <a:latin typeface="Arial"/>
                <a:ea typeface="Arial"/>
                <a:cs typeface="Arial"/>
              </a:defRPr>
            </a:pPr>
            <a:r>
              <a:rPr sz="1575" b="0">
                <a:solidFill>
                  <a:srgbClr val="536A78"/>
                </a:solidFill>
                <a:latin typeface="Arial"/>
                <a:ea typeface="Arial"/>
                <a:cs typeface="Arial"/>
              </a:rPr>
              <a:t>2016 daily MAE in units. Lower is better.</a:t>
            </a:r>
          </a:p>
        </p:txBody>
      </p:sp>
    </p:spTree>
    <p:extLst>
      <p:ext uri="{BB962C8B-B14F-4D97-AF65-F5344CB8AC3E}">
        <p14:creationId xmlns:p14="http://schemas.microsoft.com/office/powerpoint/2010/main" val="936252349"/>
      </p:ext>
    </p:extLst>
  </p:cSld>
</p:sld>
</file>

<file path=ppt/slides/slide12.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5852B0A-E381-4349-801F-8141DF225523}"/>
              </a:ext>
            </a:extLst>
          </p:cNvPr>
          <p:cNvSpPr>
            <a:spLocks xmlns:a="http://schemas.openxmlformats.org/drawingml/2006/main" noGrp="1"/>
          </p:cNvSpPr>
          <p:nvPr/>
        </p:nvSpPr>
        <p:spPr>
          <a:xfrm xmlns:a="http://schemas.openxmlformats.org/drawingml/2006/main">
            <a:off x="609600" y="5238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8324A"/>
                </a:solidFill>
                <a:latin typeface="Arial"/>
                <a:ea typeface="Arial"/>
                <a:cs typeface="Arial"/>
              </a:defRPr>
            </a:defPPr>
          </a:lstStyle>
          <a:p xmlns:a="http://schemas.openxmlformats.org/drawingml/2006/main">
            <a:pPr>
              <a:defRPr sz="3300" b="1">
                <a:solidFill>
                  <a:srgbClr val="18324A"/>
                </a:solidFill>
                <a:latin typeface="Arial"/>
                <a:ea typeface="Arial"/>
                <a:cs typeface="Arial"/>
              </a:defRPr>
            </a:pPr>
            <a:r>
              <a:rPr sz="3300" b="1">
                <a:solidFill>
                  <a:srgbClr val="18324A"/>
                </a:solidFill>
                <a:latin typeface="Arial"/>
                <a:ea typeface="Arial"/>
                <a:cs typeface="Arial"/>
              </a:rPr>
              <a:t>The final test confirmed lower daily error</a:t>
            </a:r>
          </a:p>
        </p:txBody>
      </p:sp>
      <p:sp>
        <p:nvSpPr>
          <p:cNvPr id="2" name="">
            <a:extLst xmlns:a="http://schemas.openxmlformats.org/drawingml/2006/main">
              <a:ext uri="{FF2B5EF4-FFF2-40B4-BE49-F238E27FC236}">
                <a16:creationId xmlns:a16="http://schemas.microsoft.com/office/drawing/2014/main" id="{73667C0B-C3C0-4882-A59B-AF486FB75028}"/>
              </a:ext>
            </a:extLst>
          </p:cNvPr>
          <p:cNvSpPr>
            <a:spLocks xmlns:a="http://schemas.openxmlformats.org/drawingml/2006/main" noGrp="1"/>
          </p:cNvSpPr>
          <p:nvPr/>
        </p:nvSpPr>
        <p:spPr>
          <a:xfrm xmlns:a="http://schemas.openxmlformats.org/drawingml/2006/main">
            <a:off x="619125" y="5553075"/>
            <a:ext cx="10906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23.3% lower daily MAE than the weekly benchmark</a:t>
            </a:r>
          </a:p>
        </p:txBody>
      </p:sp>
      <p:sp>
        <p:nvSpPr>
          <p:cNvPr id="3" name="">
            <a:extLst xmlns:a="http://schemas.openxmlformats.org/drawingml/2006/main">
              <a:ext uri="{FF2B5EF4-FFF2-40B4-BE49-F238E27FC236}">
                <a16:creationId xmlns:a16="http://schemas.microsoft.com/office/drawing/2014/main" id="{91247358-0609-4064-9557-9013862F9C28}"/>
              </a:ext>
            </a:extLst>
          </p:cNvPr>
          <p:cNvSpPr>
            <a:spLocks xmlns:a="http://schemas.openxmlformats.org/drawingml/2006/main" noGrp="1"/>
          </p:cNvSpPr>
          <p:nvPr/>
        </p:nvSpPr>
        <p:spPr>
          <a:xfrm xmlns:a="http://schemas.openxmlformats.org/drawingml/2006/main">
            <a:off x="619125" y="64198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536A78"/>
                </a:solidFill>
                <a:latin typeface="Arial"/>
                <a:ea typeface="Arial"/>
                <a:cs typeface="Arial"/>
              </a:defRPr>
            </a:defPPr>
          </a:lstStyle>
          <a:p xmlns:a="http://schemas.openxmlformats.org/drawingml/2006/main">
            <a:pPr>
              <a:defRPr sz="1050" b="0">
                <a:solidFill>
                  <a:srgbClr val="536A78"/>
                </a:solidFill>
                <a:latin typeface="Arial"/>
                <a:ea typeface="Arial"/>
                <a:cs typeface="Arial"/>
              </a:defRPr>
            </a:pPr>
            <a:r>
              <a:rPr sz="1050" b="0">
                <a:solidFill>
                  <a:srgbClr val="536A78"/>
                </a:solidFill>
                <a:latin typeface="Arial"/>
                <a:ea typeface="Arial"/>
                <a:cs typeface="Arial"/>
              </a:rPr>
              <a:t>StockSense AI     12</a:t>
            </a:r>
          </a:p>
        </p:txBody>
      </p:sp>
      <p:graphicFrame>
        <p:nvGraphicFramePr>
          <p:cNvPr id="4" name="Chart">
            <a:extLst xmlns:a="http://schemas.openxmlformats.org/drawingml/2006/main">
              <a:ext uri="{FF2B5EF4-FFF2-40B4-BE49-F238E27FC236}">
                <a16:creationId xmlns:a16="http://schemas.microsoft.com/office/drawing/2014/main" id="{1B9D27CF-73DB-458D-B6C3-0C63505E6F86}"/>
              </a:ext>
            </a:extLst>
          </p:cNvPr>
          <p:cNvGraphicFramePr/>
          <p:nvPr/>
        </p:nvGraphicFramePr>
        <p:xfrm>
          <a:off xmlns:a="http://schemas.openxmlformats.org/drawingml/2006/main" x="714375" y="1752600"/>
          <a:ext xmlns:a="http://schemas.openxmlformats.org/drawingml/2006/main" cx="10572750" cy="3143250"/>
        </p:xfrm>
        <a:graphic xmlns:a="http://schemas.openxmlformats.org/drawingml/2006/main">
          <a:graphicData uri="http://schemas.openxmlformats.org/drawingml/2006/chart">
            <c:chart xmlns:r="http://schemas.openxmlformats.org/officeDocument/2006/relationships" xmlns:c="http://schemas.openxmlformats.org/drawingml/2006/chart" r:id="Rf2f47c5234024a12"/>
          </a:graphicData>
        </a:graphic>
      </p:graphicFrame>
      <p:sp>
        <p:nvSpPr>
          <p:cNvPr id="5" name="">
            <a:extLst xmlns:a="http://schemas.openxmlformats.org/drawingml/2006/main">
              <a:ext uri="{FF2B5EF4-FFF2-40B4-BE49-F238E27FC236}">
                <a16:creationId xmlns:a16="http://schemas.microsoft.com/office/drawing/2014/main" id="{575AD147-0232-43FE-A833-A702B661DF98}"/>
              </a:ext>
            </a:extLst>
          </p:cNvPr>
          <p:cNvSpPr>
            <a:spLocks xmlns:a="http://schemas.openxmlformats.org/drawingml/2006/main" noGrp="1"/>
          </p:cNvSpPr>
          <p:nvPr/>
        </p:nvSpPr>
        <p:spPr>
          <a:xfrm xmlns:a="http://schemas.openxmlformats.org/drawingml/2006/main">
            <a:off x="762000" y="4991100"/>
            <a:ext cx="1028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536A78"/>
                </a:solidFill>
                <a:latin typeface="Arial"/>
                <a:ea typeface="Arial"/>
                <a:cs typeface="Arial"/>
              </a:defRPr>
            </a:defPPr>
          </a:lstStyle>
          <a:p xmlns:a="http://schemas.openxmlformats.org/drawingml/2006/main">
            <a:pPr>
              <a:defRPr sz="1725" b="0">
                <a:solidFill>
                  <a:srgbClr val="536A78"/>
                </a:solidFill>
                <a:latin typeface="Arial"/>
                <a:ea typeface="Arial"/>
                <a:cs typeface="Arial"/>
              </a:defRPr>
            </a:pPr>
            <a:r>
              <a:rPr sz="1725" b="0">
                <a:solidFill>
                  <a:srgbClr val="536A78"/>
                </a:solidFill>
                <a:latin typeface="Arial"/>
                <a:ea typeface="Arial"/>
                <a:cs typeface="Arial"/>
              </a:rPr>
              <a:t>Daily MAE in units. Lower is better.</a:t>
            </a:r>
          </a:p>
        </p:txBody>
      </p:sp>
      <p:sp>
        <p:nvSpPr>
          <p:cNvPr id="6" name="">
            <a:extLst xmlns:a="http://schemas.openxmlformats.org/drawingml/2006/main">
              <a:ext uri="{FF2B5EF4-FFF2-40B4-BE49-F238E27FC236}">
                <a16:creationId xmlns:a16="http://schemas.microsoft.com/office/drawing/2014/main" id="{5983F319-146D-4F05-927D-45862488D6A5}"/>
              </a:ext>
            </a:extLst>
          </p:cNvPr>
          <p:cNvSpPr>
            <a:spLocks xmlns:a="http://schemas.openxmlformats.org/drawingml/2006/main" noGrp="1"/>
          </p:cNvSpPr>
          <p:nvPr/>
        </p:nvSpPr>
        <p:spPr>
          <a:xfrm xmlns:a="http://schemas.openxmlformats.org/drawingml/2006/main">
            <a:off x="657225" y="6048375"/>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536A78"/>
                </a:solidFill>
                <a:latin typeface="Arial"/>
                <a:ea typeface="Arial"/>
                <a:cs typeface="Arial"/>
              </a:defRPr>
            </a:defPPr>
          </a:lstStyle>
          <a:p xmlns:a="http://schemas.openxmlformats.org/drawingml/2006/main">
            <a:pPr>
              <a:defRPr sz="1725" b="0">
                <a:solidFill>
                  <a:srgbClr val="536A78"/>
                </a:solidFill>
                <a:latin typeface="Arial"/>
                <a:ea typeface="Arial"/>
                <a:cs typeface="Arial"/>
              </a:defRPr>
            </a:pPr>
            <a:r>
              <a:rPr sz="1725" b="0">
                <a:solidFill>
                  <a:srgbClr val="536A78"/>
                </a:solidFill>
                <a:latin typeface="Arial"/>
                <a:ea typeface="Arial"/>
                <a:cs typeface="Arial"/>
              </a:rPr>
              <a:t>LSTM had the lowest weekly-total MAE: 17.343 units.</a:t>
            </a:r>
          </a:p>
        </p:txBody>
      </p:sp>
    </p:spTree>
    <p:extLst>
      <p:ext uri="{BB962C8B-B14F-4D97-AF65-F5344CB8AC3E}">
        <p14:creationId xmlns:p14="http://schemas.microsoft.com/office/powerpoint/2010/main" val="685268903"/>
      </p:ext>
    </p:extLst>
  </p:cSld>
</p:sld>
</file>

<file path=ppt/slides/slide13.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62C8F15-3942-4ED1-86C6-2C91914C520A}"/>
              </a:ext>
            </a:extLst>
          </p:cNvPr>
          <p:cNvSpPr>
            <a:spLocks xmlns:a="http://schemas.openxmlformats.org/drawingml/2006/main" noGrp="1"/>
          </p:cNvSpPr>
          <p:nvPr/>
        </p:nvSpPr>
        <p:spPr>
          <a:xfrm xmlns:a="http://schemas.openxmlformats.org/drawingml/2006/main">
            <a:off x="609600" y="5238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8324A"/>
                </a:solidFill>
                <a:latin typeface="Arial"/>
                <a:ea typeface="Arial"/>
                <a:cs typeface="Arial"/>
              </a:defRPr>
            </a:defPPr>
          </a:lstStyle>
          <a:p xmlns:a="http://schemas.openxmlformats.org/drawingml/2006/main">
            <a:pPr>
              <a:defRPr sz="3300" b="1">
                <a:solidFill>
                  <a:srgbClr val="18324A"/>
                </a:solidFill>
                <a:latin typeface="Arial"/>
                <a:ea typeface="Arial"/>
                <a:cs typeface="Arial"/>
              </a:defRPr>
            </a:pPr>
            <a:r>
              <a:rPr sz="3300" b="1">
                <a:solidFill>
                  <a:srgbClr val="18324A"/>
                </a:solidFill>
                <a:latin typeface="Arial"/>
                <a:ea typeface="Arial"/>
                <a:cs typeface="Arial"/>
              </a:rPr>
              <a:t>The stock-planning terms</a:t>
            </a:r>
          </a:p>
        </p:txBody>
      </p:sp>
      <p:sp>
        <p:nvSpPr>
          <p:cNvPr id="2" name="">
            <a:extLst xmlns:a="http://schemas.openxmlformats.org/drawingml/2006/main">
              <a:ext uri="{FF2B5EF4-FFF2-40B4-BE49-F238E27FC236}">
                <a16:creationId xmlns:a16="http://schemas.microsoft.com/office/drawing/2014/main" id="{D936BED1-4A6D-426F-8792-1980FD93D856}"/>
              </a:ext>
            </a:extLst>
          </p:cNvPr>
          <p:cNvSpPr>
            <a:spLocks xmlns:a="http://schemas.openxmlformats.org/drawingml/2006/main" noGrp="1"/>
          </p:cNvSpPr>
          <p:nvPr/>
        </p:nvSpPr>
        <p:spPr>
          <a:xfrm xmlns:a="http://schemas.openxmlformats.org/drawingml/2006/main">
            <a:off x="619125" y="5553075"/>
            <a:ext cx="10906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Coverage period = lead time + review interval</a:t>
            </a:r>
          </a:p>
        </p:txBody>
      </p:sp>
      <p:sp>
        <p:nvSpPr>
          <p:cNvPr id="3" name="">
            <a:extLst xmlns:a="http://schemas.openxmlformats.org/drawingml/2006/main">
              <a:ext uri="{FF2B5EF4-FFF2-40B4-BE49-F238E27FC236}">
                <a16:creationId xmlns:a16="http://schemas.microsoft.com/office/drawing/2014/main" id="{9C04BB97-3FA6-42DE-8586-CB2B9211D710}"/>
              </a:ext>
            </a:extLst>
          </p:cNvPr>
          <p:cNvSpPr>
            <a:spLocks xmlns:a="http://schemas.openxmlformats.org/drawingml/2006/main" noGrp="1"/>
          </p:cNvSpPr>
          <p:nvPr/>
        </p:nvSpPr>
        <p:spPr>
          <a:xfrm xmlns:a="http://schemas.openxmlformats.org/drawingml/2006/main">
            <a:off x="619125" y="64198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536A78"/>
                </a:solidFill>
                <a:latin typeface="Arial"/>
                <a:ea typeface="Arial"/>
                <a:cs typeface="Arial"/>
              </a:defRPr>
            </a:defPPr>
          </a:lstStyle>
          <a:p xmlns:a="http://schemas.openxmlformats.org/drawingml/2006/main">
            <a:pPr>
              <a:defRPr sz="1050" b="0">
                <a:solidFill>
                  <a:srgbClr val="536A78"/>
                </a:solidFill>
                <a:latin typeface="Arial"/>
                <a:ea typeface="Arial"/>
                <a:cs typeface="Arial"/>
              </a:defRPr>
            </a:pPr>
            <a:r>
              <a:rPr sz="1050" b="0">
                <a:solidFill>
                  <a:srgbClr val="536A78"/>
                </a:solidFill>
                <a:latin typeface="Arial"/>
                <a:ea typeface="Arial"/>
                <a:cs typeface="Arial"/>
              </a:rPr>
              <a:t>StockSense AI     13</a:t>
            </a:r>
          </a:p>
        </p:txBody>
      </p:sp>
      <p:sp>
        <p:nvSpPr>
          <p:cNvPr id="4" name="">
            <a:extLst xmlns:a="http://schemas.openxmlformats.org/drawingml/2006/main">
              <a:ext uri="{FF2B5EF4-FFF2-40B4-BE49-F238E27FC236}">
                <a16:creationId xmlns:a16="http://schemas.microsoft.com/office/drawing/2014/main" id="{D2F33693-7137-4870-83B5-78C9501B4495}"/>
              </a:ext>
            </a:extLst>
          </p:cNvPr>
          <p:cNvSpPr>
            <a:spLocks xmlns:a="http://schemas.openxmlformats.org/drawingml/2006/main" noGrp="1"/>
          </p:cNvSpPr>
          <p:nvPr/>
        </p:nvSpPr>
        <p:spPr>
          <a:xfrm xmlns:a="http://schemas.openxmlformats.org/drawingml/2006/main">
            <a:off x="647700" y="1914525"/>
            <a:ext cx="3667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087E79"/>
                </a:solidFill>
                <a:latin typeface="Arial"/>
                <a:ea typeface="Arial"/>
                <a:cs typeface="Arial"/>
              </a:defRPr>
            </a:defPPr>
          </a:lstStyle>
          <a:p xmlns:a="http://schemas.openxmlformats.org/drawingml/2006/main">
            <a:pPr>
              <a:defRPr sz="2250" b="1">
                <a:solidFill>
                  <a:srgbClr val="087E79"/>
                </a:solidFill>
                <a:latin typeface="Arial"/>
                <a:ea typeface="Arial"/>
                <a:cs typeface="Arial"/>
              </a:defRPr>
            </a:pPr>
            <a:r>
              <a:rPr sz="2250" b="1">
                <a:solidFill>
                  <a:srgbClr val="087E79"/>
                </a:solidFill>
                <a:latin typeface="Arial"/>
                <a:ea typeface="Arial"/>
                <a:cs typeface="Arial"/>
              </a:rPr>
              <a:t>Lead time</a:t>
            </a:r>
          </a:p>
        </p:txBody>
      </p:sp>
      <p:sp>
        <p:nvSpPr>
          <p:cNvPr id="5" name="">
            <a:extLst xmlns:a="http://schemas.openxmlformats.org/drawingml/2006/main">
              <a:ext uri="{FF2B5EF4-FFF2-40B4-BE49-F238E27FC236}">
                <a16:creationId xmlns:a16="http://schemas.microsoft.com/office/drawing/2014/main" id="{3E847227-EC0E-4DBD-BA98-393CC266DC34}"/>
              </a:ext>
            </a:extLst>
          </p:cNvPr>
          <p:cNvSpPr>
            <a:spLocks xmlns:a="http://schemas.openxmlformats.org/drawingml/2006/main" noGrp="1"/>
          </p:cNvSpPr>
          <p:nvPr/>
        </p:nvSpPr>
        <p:spPr>
          <a:xfrm xmlns:a="http://schemas.openxmlformats.org/drawingml/2006/main">
            <a:off x="4429125" y="1914525"/>
            <a:ext cx="70008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8324A"/>
                </a:solidFill>
                <a:latin typeface="Arial"/>
                <a:ea typeface="Arial"/>
                <a:cs typeface="Arial"/>
              </a:defRPr>
            </a:defPPr>
          </a:lstStyle>
          <a:p xmlns:a="http://schemas.openxmlformats.org/drawingml/2006/main">
            <a:pPr>
              <a:defRPr sz="2175" b="0">
                <a:solidFill>
                  <a:srgbClr val="18324A"/>
                </a:solidFill>
                <a:latin typeface="Arial"/>
                <a:ea typeface="Arial"/>
                <a:cs typeface="Arial"/>
              </a:defRPr>
            </a:pPr>
            <a:r>
              <a:rPr sz="2175" b="0">
                <a:solidFill>
                  <a:srgbClr val="18324A"/>
                </a:solidFill>
                <a:latin typeface="Arial"/>
                <a:ea typeface="Arial"/>
                <a:cs typeface="Arial"/>
              </a:rPr>
              <a:t>Days until the delivery arrives</a:t>
            </a:r>
          </a:p>
        </p:txBody>
      </p:sp>
      <p:sp>
        <p:nvSpPr>
          <p:cNvPr id="6" name="">
            <a:extLst xmlns:a="http://schemas.openxmlformats.org/drawingml/2006/main">
              <a:ext uri="{FF2B5EF4-FFF2-40B4-BE49-F238E27FC236}">
                <a16:creationId xmlns:a16="http://schemas.microsoft.com/office/drawing/2014/main" id="{5129B5AB-9BE9-49E5-AB43-26E3DB2273B2}"/>
              </a:ext>
            </a:extLst>
          </p:cNvPr>
          <p:cNvSpPr>
            <a:spLocks xmlns:a="http://schemas.openxmlformats.org/drawingml/2006/main" noGrp="1"/>
          </p:cNvSpPr>
          <p:nvPr/>
        </p:nvSpPr>
        <p:spPr>
          <a:xfrm xmlns:a="http://schemas.openxmlformats.org/drawingml/2006/main">
            <a:off x="647700" y="2771775"/>
            <a:ext cx="3667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087E79"/>
                </a:solidFill>
                <a:latin typeface="Arial"/>
                <a:ea typeface="Arial"/>
                <a:cs typeface="Arial"/>
              </a:defRPr>
            </a:defPPr>
          </a:lstStyle>
          <a:p xmlns:a="http://schemas.openxmlformats.org/drawingml/2006/main">
            <a:pPr>
              <a:defRPr sz="2250" b="1">
                <a:solidFill>
                  <a:srgbClr val="087E79"/>
                </a:solidFill>
                <a:latin typeface="Arial"/>
                <a:ea typeface="Arial"/>
                <a:cs typeface="Arial"/>
              </a:defRPr>
            </a:pPr>
            <a:r>
              <a:rPr sz="2250" b="1">
                <a:solidFill>
                  <a:srgbClr val="087E79"/>
                </a:solidFill>
                <a:latin typeface="Arial"/>
                <a:ea typeface="Arial"/>
                <a:cs typeface="Arial"/>
              </a:rPr>
              <a:t>Review interval</a:t>
            </a:r>
          </a:p>
        </p:txBody>
      </p:sp>
      <p:sp>
        <p:nvSpPr>
          <p:cNvPr id="7" name="">
            <a:extLst xmlns:a="http://schemas.openxmlformats.org/drawingml/2006/main">
              <a:ext uri="{FF2B5EF4-FFF2-40B4-BE49-F238E27FC236}">
                <a16:creationId xmlns:a16="http://schemas.microsoft.com/office/drawing/2014/main" id="{CB9533A2-8D5E-4F17-B54F-19D5BC9C98DD}"/>
              </a:ext>
            </a:extLst>
          </p:cNvPr>
          <p:cNvSpPr>
            <a:spLocks xmlns:a="http://schemas.openxmlformats.org/drawingml/2006/main" noGrp="1"/>
          </p:cNvSpPr>
          <p:nvPr/>
        </p:nvSpPr>
        <p:spPr>
          <a:xfrm xmlns:a="http://schemas.openxmlformats.org/drawingml/2006/main">
            <a:off x="4429125" y="2771775"/>
            <a:ext cx="70008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8324A"/>
                </a:solidFill>
                <a:latin typeface="Arial"/>
                <a:ea typeface="Arial"/>
                <a:cs typeface="Arial"/>
              </a:defRPr>
            </a:defPPr>
          </a:lstStyle>
          <a:p xmlns:a="http://schemas.openxmlformats.org/drawingml/2006/main">
            <a:pPr>
              <a:defRPr sz="2175" b="0">
                <a:solidFill>
                  <a:srgbClr val="18324A"/>
                </a:solidFill>
                <a:latin typeface="Arial"/>
                <a:ea typeface="Arial"/>
                <a:cs typeface="Arial"/>
              </a:defRPr>
            </a:pPr>
            <a:r>
              <a:rPr sz="2175" b="0">
                <a:solidFill>
                  <a:srgbClr val="18324A"/>
                </a:solidFill>
                <a:latin typeface="Arial"/>
                <a:ea typeface="Arial"/>
                <a:cs typeface="Arial"/>
              </a:rPr>
              <a:t>Extra days covered before the next review</a:t>
            </a:r>
          </a:p>
        </p:txBody>
      </p:sp>
      <p:sp>
        <p:nvSpPr>
          <p:cNvPr id="8" name="">
            <a:extLst xmlns:a="http://schemas.openxmlformats.org/drawingml/2006/main">
              <a:ext uri="{FF2B5EF4-FFF2-40B4-BE49-F238E27FC236}">
                <a16:creationId xmlns:a16="http://schemas.microsoft.com/office/drawing/2014/main" id="{5233D712-0287-45F3-BEA9-D8A6BFCB0DA2}"/>
              </a:ext>
            </a:extLst>
          </p:cNvPr>
          <p:cNvSpPr>
            <a:spLocks xmlns:a="http://schemas.openxmlformats.org/drawingml/2006/main" noGrp="1"/>
          </p:cNvSpPr>
          <p:nvPr/>
        </p:nvSpPr>
        <p:spPr>
          <a:xfrm xmlns:a="http://schemas.openxmlformats.org/drawingml/2006/main">
            <a:off x="647700" y="3629025"/>
            <a:ext cx="3667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087E79"/>
                </a:solidFill>
                <a:latin typeface="Arial"/>
                <a:ea typeface="Arial"/>
                <a:cs typeface="Arial"/>
              </a:defRPr>
            </a:defPPr>
          </a:lstStyle>
          <a:p xmlns:a="http://schemas.openxmlformats.org/drawingml/2006/main">
            <a:pPr>
              <a:defRPr sz="2250" b="1">
                <a:solidFill>
                  <a:srgbClr val="087E79"/>
                </a:solidFill>
                <a:latin typeface="Arial"/>
                <a:ea typeface="Arial"/>
                <a:cs typeface="Arial"/>
              </a:defRPr>
            </a:pPr>
            <a:r>
              <a:rPr sz="2250" b="1">
                <a:solidFill>
                  <a:srgbClr val="087E79"/>
                </a:solidFill>
                <a:latin typeface="Arial"/>
                <a:ea typeface="Arial"/>
                <a:cs typeface="Arial"/>
              </a:rPr>
              <a:t>Buffer stock</a:t>
            </a:r>
          </a:p>
        </p:txBody>
      </p:sp>
      <p:sp>
        <p:nvSpPr>
          <p:cNvPr id="9" name="">
            <a:extLst xmlns:a="http://schemas.openxmlformats.org/drawingml/2006/main">
              <a:ext uri="{FF2B5EF4-FFF2-40B4-BE49-F238E27FC236}">
                <a16:creationId xmlns:a16="http://schemas.microsoft.com/office/drawing/2014/main" id="{F93658C0-124C-42C2-BDA1-154281F80965}"/>
              </a:ext>
            </a:extLst>
          </p:cNvPr>
          <p:cNvSpPr>
            <a:spLocks xmlns:a="http://schemas.openxmlformats.org/drawingml/2006/main" noGrp="1"/>
          </p:cNvSpPr>
          <p:nvPr/>
        </p:nvSpPr>
        <p:spPr>
          <a:xfrm xmlns:a="http://schemas.openxmlformats.org/drawingml/2006/main">
            <a:off x="4429125" y="3629025"/>
            <a:ext cx="70008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8324A"/>
                </a:solidFill>
                <a:latin typeface="Arial"/>
                <a:ea typeface="Arial"/>
                <a:cs typeface="Arial"/>
              </a:defRPr>
            </a:defPPr>
          </a:lstStyle>
          <a:p xmlns:a="http://schemas.openxmlformats.org/drawingml/2006/main">
            <a:pPr>
              <a:defRPr sz="2175" b="0">
                <a:solidFill>
                  <a:srgbClr val="18324A"/>
                </a:solidFill>
                <a:latin typeface="Arial"/>
                <a:ea typeface="Arial"/>
                <a:cs typeface="Arial"/>
              </a:defRPr>
            </a:pPr>
            <a:r>
              <a:rPr sz="2175" b="0">
                <a:solidFill>
                  <a:srgbClr val="18324A"/>
                </a:solidFill>
                <a:latin typeface="Arial"/>
                <a:ea typeface="Arial"/>
                <a:cs typeface="Arial"/>
              </a:rPr>
              <a:t>Extra units kept as a safety allowance</a:t>
            </a:r>
          </a:p>
        </p:txBody>
      </p:sp>
      <p:sp>
        <p:nvSpPr>
          <p:cNvPr id="10" name="">
            <a:extLst xmlns:a="http://schemas.openxmlformats.org/drawingml/2006/main">
              <a:ext uri="{FF2B5EF4-FFF2-40B4-BE49-F238E27FC236}">
                <a16:creationId xmlns:a16="http://schemas.microsoft.com/office/drawing/2014/main" id="{451F1AD9-77F3-4725-A6BC-F78888AAC2C6}"/>
              </a:ext>
            </a:extLst>
          </p:cNvPr>
          <p:cNvSpPr>
            <a:spLocks xmlns:a="http://schemas.openxmlformats.org/drawingml/2006/main" noGrp="1"/>
          </p:cNvSpPr>
          <p:nvPr/>
        </p:nvSpPr>
        <p:spPr>
          <a:xfrm xmlns:a="http://schemas.openxmlformats.org/drawingml/2006/main">
            <a:off x="647700" y="4486275"/>
            <a:ext cx="3667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087E79"/>
                </a:solidFill>
                <a:latin typeface="Arial"/>
                <a:ea typeface="Arial"/>
                <a:cs typeface="Arial"/>
              </a:defRPr>
            </a:defPPr>
          </a:lstStyle>
          <a:p xmlns:a="http://schemas.openxmlformats.org/drawingml/2006/main">
            <a:pPr>
              <a:defRPr sz="2250" b="1">
                <a:solidFill>
                  <a:srgbClr val="087E79"/>
                </a:solidFill>
                <a:latin typeface="Arial"/>
                <a:ea typeface="Arial"/>
                <a:cs typeface="Arial"/>
              </a:defRPr>
            </a:pPr>
            <a:r>
              <a:rPr sz="2250" b="1">
                <a:solidFill>
                  <a:srgbClr val="087E79"/>
                </a:solidFill>
                <a:latin typeface="Arial"/>
                <a:ea typeface="Arial"/>
                <a:cs typeface="Arial"/>
              </a:rPr>
              <a:t>Inventory position</a:t>
            </a:r>
          </a:p>
        </p:txBody>
      </p:sp>
      <p:sp>
        <p:nvSpPr>
          <p:cNvPr id="11" name="">
            <a:extLst xmlns:a="http://schemas.openxmlformats.org/drawingml/2006/main">
              <a:ext uri="{FF2B5EF4-FFF2-40B4-BE49-F238E27FC236}">
                <a16:creationId xmlns:a16="http://schemas.microsoft.com/office/drawing/2014/main" id="{8A0EA29E-1203-438E-91E2-AA743519D192}"/>
              </a:ext>
            </a:extLst>
          </p:cNvPr>
          <p:cNvSpPr>
            <a:spLocks xmlns:a="http://schemas.openxmlformats.org/drawingml/2006/main" noGrp="1"/>
          </p:cNvSpPr>
          <p:nvPr/>
        </p:nvSpPr>
        <p:spPr>
          <a:xfrm xmlns:a="http://schemas.openxmlformats.org/drawingml/2006/main">
            <a:off x="4429125" y="4486275"/>
            <a:ext cx="70008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8324A"/>
                </a:solidFill>
                <a:latin typeface="Arial"/>
                <a:ea typeface="Arial"/>
                <a:cs typeface="Arial"/>
              </a:defRPr>
            </a:defPPr>
          </a:lstStyle>
          <a:p xmlns:a="http://schemas.openxmlformats.org/drawingml/2006/main">
            <a:pPr>
              <a:defRPr sz="2175" b="0">
                <a:solidFill>
                  <a:srgbClr val="18324A"/>
                </a:solidFill>
                <a:latin typeface="Arial"/>
                <a:ea typeface="Arial"/>
                <a:cs typeface="Arial"/>
              </a:defRPr>
            </a:pPr>
            <a:r>
              <a:rPr sz="2175" b="0">
                <a:solidFill>
                  <a:srgbClr val="18324A"/>
                </a:solidFill>
                <a:latin typeface="Arial"/>
                <a:ea typeface="Arial"/>
                <a:cs typeface="Arial"/>
              </a:rPr>
              <a:t>Available stock plus outstanding units</a:t>
            </a:r>
          </a:p>
        </p:txBody>
      </p:sp>
    </p:spTree>
    <p:extLst>
      <p:ext uri="{BB962C8B-B14F-4D97-AF65-F5344CB8AC3E}">
        <p14:creationId xmlns:p14="http://schemas.microsoft.com/office/powerpoint/2010/main" val="94516277"/>
      </p:ext>
    </p:extLst>
  </p:cSld>
</p:sld>
</file>

<file path=ppt/slides/slide14.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BA55DFC-35BA-4B5B-9087-9471F4CCFF53}"/>
              </a:ext>
            </a:extLst>
          </p:cNvPr>
          <p:cNvSpPr>
            <a:spLocks xmlns:a="http://schemas.openxmlformats.org/drawingml/2006/main" noGrp="1"/>
          </p:cNvSpPr>
          <p:nvPr/>
        </p:nvSpPr>
        <p:spPr>
          <a:xfrm xmlns:a="http://schemas.openxmlformats.org/drawingml/2006/main">
            <a:off x="609600" y="5238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8324A"/>
                </a:solidFill>
                <a:latin typeface="Arial"/>
                <a:ea typeface="Arial"/>
                <a:cs typeface="Arial"/>
              </a:defRPr>
            </a:defPPr>
          </a:lstStyle>
          <a:p xmlns:a="http://schemas.openxmlformats.org/drawingml/2006/main">
            <a:pPr>
              <a:defRPr sz="3300" b="1">
                <a:solidFill>
                  <a:srgbClr val="18324A"/>
                </a:solidFill>
                <a:latin typeface="Arial"/>
                <a:ea typeface="Arial"/>
                <a:cs typeface="Arial"/>
              </a:defRPr>
            </a:pPr>
            <a:r>
              <a:rPr sz="3300" b="1">
                <a:solidFill>
                  <a:srgbClr val="18324A"/>
                </a:solidFill>
                <a:latin typeface="Arial"/>
                <a:ea typeface="Arial"/>
                <a:cs typeface="Arial"/>
              </a:rPr>
              <a:t>Worked example: an order of 38 units</a:t>
            </a:r>
          </a:p>
        </p:txBody>
      </p:sp>
      <p:sp>
        <p:nvSpPr>
          <p:cNvPr id="2" name="">
            <a:extLst xmlns:a="http://schemas.openxmlformats.org/drawingml/2006/main">
              <a:ext uri="{FF2B5EF4-FFF2-40B4-BE49-F238E27FC236}">
                <a16:creationId xmlns:a16="http://schemas.microsoft.com/office/drawing/2014/main" id="{6B254F73-FC54-4A31-9F87-8CA856B3F6B5}"/>
              </a:ext>
            </a:extLst>
          </p:cNvPr>
          <p:cNvSpPr>
            <a:spLocks xmlns:a="http://schemas.openxmlformats.org/drawingml/2006/main" noGrp="1"/>
          </p:cNvSpPr>
          <p:nvPr/>
        </p:nvSpPr>
        <p:spPr>
          <a:xfrm xmlns:a="http://schemas.openxmlformats.org/drawingml/2006/main">
            <a:off x="619125" y="5553075"/>
            <a:ext cx="10906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Order suggestion: round 37.52 up to 38 whole units</a:t>
            </a:r>
          </a:p>
        </p:txBody>
      </p:sp>
      <p:sp>
        <p:nvSpPr>
          <p:cNvPr id="3" name="">
            <a:extLst xmlns:a="http://schemas.openxmlformats.org/drawingml/2006/main">
              <a:ext uri="{FF2B5EF4-FFF2-40B4-BE49-F238E27FC236}">
                <a16:creationId xmlns:a16="http://schemas.microsoft.com/office/drawing/2014/main" id="{4C669B54-1C67-4CB7-B945-EC7C25B3E70A}"/>
              </a:ext>
            </a:extLst>
          </p:cNvPr>
          <p:cNvSpPr>
            <a:spLocks xmlns:a="http://schemas.openxmlformats.org/drawingml/2006/main" noGrp="1"/>
          </p:cNvSpPr>
          <p:nvPr/>
        </p:nvSpPr>
        <p:spPr>
          <a:xfrm xmlns:a="http://schemas.openxmlformats.org/drawingml/2006/main">
            <a:off x="619125" y="64198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536A78"/>
                </a:solidFill>
                <a:latin typeface="Arial"/>
                <a:ea typeface="Arial"/>
                <a:cs typeface="Arial"/>
              </a:defRPr>
            </a:defPPr>
          </a:lstStyle>
          <a:p xmlns:a="http://schemas.openxmlformats.org/drawingml/2006/main">
            <a:pPr>
              <a:defRPr sz="1050" b="0">
                <a:solidFill>
                  <a:srgbClr val="536A78"/>
                </a:solidFill>
                <a:latin typeface="Arial"/>
                <a:ea typeface="Arial"/>
                <a:cs typeface="Arial"/>
              </a:defRPr>
            </a:pPr>
            <a:r>
              <a:rPr sz="1050" b="0">
                <a:solidFill>
                  <a:srgbClr val="536A78"/>
                </a:solidFill>
                <a:latin typeface="Arial"/>
                <a:ea typeface="Arial"/>
                <a:cs typeface="Arial"/>
              </a:rPr>
              <a:t>StockSense AI     14</a:t>
            </a:r>
          </a:p>
        </p:txBody>
      </p:sp>
      <p:sp>
        <p:nvSpPr>
          <p:cNvPr id="4" name="">
            <a:extLst xmlns:a="http://schemas.openxmlformats.org/drawingml/2006/main">
              <a:ext uri="{FF2B5EF4-FFF2-40B4-BE49-F238E27FC236}">
                <a16:creationId xmlns:a16="http://schemas.microsoft.com/office/drawing/2014/main" id="{5262AB30-3059-4731-92ED-B450BE450FF4}"/>
              </a:ext>
            </a:extLst>
          </p:cNvPr>
          <p:cNvSpPr>
            <a:spLocks xmlns:a="http://schemas.openxmlformats.org/drawingml/2006/main" noGrp="1"/>
          </p:cNvSpPr>
          <p:nvPr/>
        </p:nvSpPr>
        <p:spPr>
          <a:xfrm xmlns:a="http://schemas.openxmlformats.org/drawingml/2006/main">
            <a:off x="647700" y="1685925"/>
            <a:ext cx="108394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536A78"/>
                </a:solidFill>
                <a:latin typeface="Arial"/>
                <a:ea typeface="Arial"/>
                <a:cs typeface="Arial"/>
              </a:defRPr>
            </a:defPPr>
          </a:lstStyle>
          <a:p xmlns:a="http://schemas.openxmlformats.org/drawingml/2006/main">
            <a:pPr>
              <a:defRPr sz="2025" b="0">
                <a:solidFill>
                  <a:srgbClr val="536A78"/>
                </a:solidFill>
                <a:latin typeface="Arial"/>
                <a:ea typeface="Arial"/>
                <a:cs typeface="Arial"/>
              </a:defRPr>
            </a:pPr>
            <a:r>
              <a:rPr sz="2025" b="0">
                <a:solidFill>
                  <a:srgbClr val="536A78"/>
                </a:solidFill>
                <a:latin typeface="Arial"/>
                <a:ea typeface="Arial"/>
                <a:cs typeface="Arial"/>
              </a:rPr>
              <a:t>Inputs: stock 50, outstanding 0, lead time 2, review 3, buffer 10</a:t>
            </a:r>
          </a:p>
        </p:txBody>
      </p:sp>
      <p:sp>
        <p:nvSpPr>
          <p:cNvPr id="5" name="">
            <a:extLst xmlns:a="http://schemas.openxmlformats.org/drawingml/2006/main">
              <a:ext uri="{FF2B5EF4-FFF2-40B4-BE49-F238E27FC236}">
                <a16:creationId xmlns:a16="http://schemas.microsoft.com/office/drawing/2014/main" id="{EDAF7931-6DD4-4BDB-9EAC-A64B9DC5AB81}"/>
              </a:ext>
            </a:extLst>
          </p:cNvPr>
          <p:cNvSpPr>
            <a:spLocks xmlns:a="http://schemas.openxmlformats.org/drawingml/2006/main" noGrp="1"/>
          </p:cNvSpPr>
          <p:nvPr/>
        </p:nvSpPr>
        <p:spPr>
          <a:xfrm xmlns:a="http://schemas.openxmlformats.org/drawingml/2006/main">
            <a:off x="647700" y="2647950"/>
            <a:ext cx="107442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0">
                <a:solidFill>
                  <a:srgbClr val="18324A"/>
                </a:solidFill>
                <a:latin typeface="Arial"/>
                <a:ea typeface="Arial"/>
                <a:cs typeface="Arial"/>
              </a:defRPr>
            </a:defPPr>
          </a:lstStyle>
          <a:p xmlns:a="http://schemas.openxmlformats.org/drawingml/2006/main">
            <a:pPr>
              <a:defRPr sz="2475" b="0">
                <a:solidFill>
                  <a:srgbClr val="18324A"/>
                </a:solidFill>
                <a:latin typeface="Arial"/>
                <a:ea typeface="Arial"/>
                <a:cs typeface="Arial"/>
              </a:defRPr>
            </a:pPr>
            <a:r>
              <a:rPr sz="2475" b="0">
                <a:solidFill>
                  <a:srgbClr val="18324A"/>
                </a:solidFill>
                <a:latin typeface="Arial"/>
                <a:ea typeface="Arial"/>
                <a:cs typeface="Arial"/>
              </a:rPr>
              <a:t>Coverage: 2 + 3 = 5 days</a:t>
            </a:r>
          </a:p>
        </p:txBody>
      </p:sp>
      <p:sp>
        <p:nvSpPr>
          <p:cNvPr id="6" name="">
            <a:extLst xmlns:a="http://schemas.openxmlformats.org/drawingml/2006/main">
              <a:ext uri="{FF2B5EF4-FFF2-40B4-BE49-F238E27FC236}">
                <a16:creationId xmlns:a16="http://schemas.microsoft.com/office/drawing/2014/main" id="{6AA00E12-B164-40B3-B53A-4DC5E49E62E6}"/>
              </a:ext>
            </a:extLst>
          </p:cNvPr>
          <p:cNvSpPr>
            <a:spLocks xmlns:a="http://schemas.openxmlformats.org/drawingml/2006/main" noGrp="1"/>
          </p:cNvSpPr>
          <p:nvPr/>
        </p:nvSpPr>
        <p:spPr>
          <a:xfrm xmlns:a="http://schemas.openxmlformats.org/drawingml/2006/main">
            <a:off x="647700" y="3590925"/>
            <a:ext cx="107442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0">
                <a:solidFill>
                  <a:srgbClr val="18324A"/>
                </a:solidFill>
                <a:latin typeface="Arial"/>
                <a:ea typeface="Arial"/>
                <a:cs typeface="Arial"/>
              </a:defRPr>
            </a:defPPr>
          </a:lstStyle>
          <a:p xmlns:a="http://schemas.openxmlformats.org/drawingml/2006/main">
            <a:pPr>
              <a:defRPr sz="2475" b="0">
                <a:solidFill>
                  <a:srgbClr val="18324A"/>
                </a:solidFill>
                <a:latin typeface="Arial"/>
                <a:ea typeface="Arial"/>
                <a:cs typeface="Arial"/>
              </a:defRPr>
            </a:pPr>
            <a:r>
              <a:rPr sz="2475" b="0">
                <a:solidFill>
                  <a:srgbClr val="18324A"/>
                </a:solidFill>
                <a:latin typeface="Arial"/>
                <a:ea typeface="Arial"/>
                <a:cs typeface="Arial"/>
              </a:rPr>
              <a:t>Target stock: forecast 77.52 + buffer 10 = 87.52 units</a:t>
            </a:r>
          </a:p>
        </p:txBody>
      </p:sp>
      <p:sp>
        <p:nvSpPr>
          <p:cNvPr id="7" name="">
            <a:extLst xmlns:a="http://schemas.openxmlformats.org/drawingml/2006/main">
              <a:ext uri="{FF2B5EF4-FFF2-40B4-BE49-F238E27FC236}">
                <a16:creationId xmlns:a16="http://schemas.microsoft.com/office/drawing/2014/main" id="{1B7B73DB-7574-4EED-A9D2-304C23682E7F}"/>
              </a:ext>
            </a:extLst>
          </p:cNvPr>
          <p:cNvSpPr>
            <a:spLocks xmlns:a="http://schemas.openxmlformats.org/drawingml/2006/main" noGrp="1"/>
          </p:cNvSpPr>
          <p:nvPr/>
        </p:nvSpPr>
        <p:spPr>
          <a:xfrm xmlns:a="http://schemas.openxmlformats.org/drawingml/2006/main">
            <a:off x="647700" y="4533900"/>
            <a:ext cx="107442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0">
                <a:solidFill>
                  <a:srgbClr val="18324A"/>
                </a:solidFill>
                <a:latin typeface="Arial"/>
                <a:ea typeface="Arial"/>
                <a:cs typeface="Arial"/>
              </a:defRPr>
            </a:defPPr>
          </a:lstStyle>
          <a:p xmlns:a="http://schemas.openxmlformats.org/drawingml/2006/main">
            <a:pPr>
              <a:defRPr sz="2475" b="0">
                <a:solidFill>
                  <a:srgbClr val="18324A"/>
                </a:solidFill>
                <a:latin typeface="Arial"/>
                <a:ea typeface="Arial"/>
                <a:cs typeface="Arial"/>
              </a:defRPr>
            </a:pPr>
            <a:r>
              <a:rPr sz="2475" b="0">
                <a:solidFill>
                  <a:srgbClr val="18324A"/>
                </a:solidFill>
                <a:latin typeface="Arial"/>
                <a:ea typeface="Arial"/>
                <a:cs typeface="Arial"/>
              </a:rPr>
              <a:t>Amount needed: target 87.52 − inventory 50 = 37.52 units</a:t>
            </a:r>
          </a:p>
        </p:txBody>
      </p:sp>
    </p:spTree>
    <p:extLst>
      <p:ext uri="{BB962C8B-B14F-4D97-AF65-F5344CB8AC3E}">
        <p14:creationId xmlns:p14="http://schemas.microsoft.com/office/powerpoint/2010/main" val="1544153058"/>
      </p:ext>
    </p:extLst>
  </p:cSld>
</p:sld>
</file>

<file path=ppt/slides/slide15.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03F7321-0E1C-4785-990F-5C184A648CE6}"/>
              </a:ext>
            </a:extLst>
          </p:cNvPr>
          <p:cNvSpPr>
            <a:spLocks xmlns:a="http://schemas.openxmlformats.org/drawingml/2006/main" noGrp="1"/>
          </p:cNvSpPr>
          <p:nvPr/>
        </p:nvSpPr>
        <p:spPr>
          <a:xfrm xmlns:a="http://schemas.openxmlformats.org/drawingml/2006/main">
            <a:off x="609600" y="5238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8324A"/>
                </a:solidFill>
                <a:latin typeface="Arial"/>
                <a:ea typeface="Arial"/>
                <a:cs typeface="Arial"/>
              </a:defRPr>
            </a:defPPr>
          </a:lstStyle>
          <a:p xmlns:a="http://schemas.openxmlformats.org/drawingml/2006/main">
            <a:pPr>
              <a:defRPr sz="3300" b="1">
                <a:solidFill>
                  <a:srgbClr val="18324A"/>
                </a:solidFill>
                <a:latin typeface="Arial"/>
                <a:ea typeface="Arial"/>
                <a:cs typeface="Arial"/>
              </a:defRPr>
            </a:pPr>
            <a:r>
              <a:rPr sz="3300" b="1">
                <a:solidFill>
                  <a:srgbClr val="18324A"/>
                </a:solidFill>
                <a:latin typeface="Arial"/>
                <a:ea typeface="Arial"/>
                <a:cs typeface="Arial"/>
              </a:rPr>
              <a:t>How the text assistant understands a question</a:t>
            </a:r>
          </a:p>
        </p:txBody>
      </p:sp>
      <p:sp>
        <p:nvSpPr>
          <p:cNvPr id="2" name="">
            <a:extLst xmlns:a="http://schemas.openxmlformats.org/drawingml/2006/main">
              <a:ext uri="{FF2B5EF4-FFF2-40B4-BE49-F238E27FC236}">
                <a16:creationId xmlns:a16="http://schemas.microsoft.com/office/drawing/2014/main" id="{9B966A2D-CB78-4C65-88B6-C7E6FBB467DE}"/>
              </a:ext>
            </a:extLst>
          </p:cNvPr>
          <p:cNvSpPr>
            <a:spLocks xmlns:a="http://schemas.openxmlformats.org/drawingml/2006/main" noGrp="1"/>
          </p:cNvSpPr>
          <p:nvPr/>
        </p:nvSpPr>
        <p:spPr>
          <a:xfrm xmlns:a="http://schemas.openxmlformats.org/drawingml/2006/main">
            <a:off x="619125" y="5553075"/>
            <a:ext cx="10906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An intent is the type of request the user is making</a:t>
            </a:r>
          </a:p>
        </p:txBody>
      </p:sp>
      <p:sp>
        <p:nvSpPr>
          <p:cNvPr id="3" name="">
            <a:extLst xmlns:a="http://schemas.openxmlformats.org/drawingml/2006/main">
              <a:ext uri="{FF2B5EF4-FFF2-40B4-BE49-F238E27FC236}">
                <a16:creationId xmlns:a16="http://schemas.microsoft.com/office/drawing/2014/main" id="{4AE92E92-4A39-4C6F-8C3C-D642EDCFA331}"/>
              </a:ext>
            </a:extLst>
          </p:cNvPr>
          <p:cNvSpPr>
            <a:spLocks xmlns:a="http://schemas.openxmlformats.org/drawingml/2006/main" noGrp="1"/>
          </p:cNvSpPr>
          <p:nvPr/>
        </p:nvSpPr>
        <p:spPr>
          <a:xfrm xmlns:a="http://schemas.openxmlformats.org/drawingml/2006/main">
            <a:off x="619125" y="64198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536A78"/>
                </a:solidFill>
                <a:latin typeface="Arial"/>
                <a:ea typeface="Arial"/>
                <a:cs typeface="Arial"/>
              </a:defRPr>
            </a:defPPr>
          </a:lstStyle>
          <a:p xmlns:a="http://schemas.openxmlformats.org/drawingml/2006/main">
            <a:pPr>
              <a:defRPr sz="1050" b="0">
                <a:solidFill>
                  <a:srgbClr val="536A78"/>
                </a:solidFill>
                <a:latin typeface="Arial"/>
                <a:ea typeface="Arial"/>
                <a:cs typeface="Arial"/>
              </a:defRPr>
            </a:pPr>
            <a:r>
              <a:rPr sz="1050" b="0">
                <a:solidFill>
                  <a:srgbClr val="536A78"/>
                </a:solidFill>
                <a:latin typeface="Arial"/>
                <a:ea typeface="Arial"/>
                <a:cs typeface="Arial"/>
              </a:rPr>
              <a:t>StockSense AI     15</a:t>
            </a:r>
          </a:p>
        </p:txBody>
      </p:sp>
      <p:sp>
        <p:nvSpPr>
          <p:cNvPr id="4" name="">
            <a:extLst xmlns:a="http://schemas.openxmlformats.org/drawingml/2006/main">
              <a:ext uri="{FF2B5EF4-FFF2-40B4-BE49-F238E27FC236}">
                <a16:creationId xmlns:a16="http://schemas.microsoft.com/office/drawing/2014/main" id="{D4B7EA69-54C8-430B-9B36-21890A1033A4}"/>
              </a:ext>
            </a:extLst>
          </p:cNvPr>
          <p:cNvSpPr>
            <a:spLocks xmlns:a="http://schemas.openxmlformats.org/drawingml/2006/main" noGrp="1"/>
          </p:cNvSpPr>
          <p:nvPr/>
        </p:nvSpPr>
        <p:spPr>
          <a:xfrm xmlns:a="http://schemas.openxmlformats.org/drawingml/2006/main">
            <a:off x="647700" y="1828800"/>
            <a:ext cx="107442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8324A"/>
                </a:solidFill>
                <a:latin typeface="Arial"/>
                <a:ea typeface="Arial"/>
                <a:cs typeface="Arial"/>
              </a:defRPr>
            </a:defPPr>
          </a:lstStyle>
          <a:p xmlns:a="http://schemas.openxmlformats.org/drawingml/2006/main">
            <a:pPr>
              <a:defRPr sz="2175" b="0">
                <a:solidFill>
                  <a:srgbClr val="18324A"/>
                </a:solidFill>
                <a:latin typeface="Arial"/>
                <a:ea typeface="Arial"/>
                <a:cs typeface="Arial"/>
              </a:defRPr>
            </a:pPr>
            <a:r>
              <a:rPr sz="2175" b="0">
                <a:solidFill>
                  <a:srgbClr val="18324A"/>
                </a:solidFill>
                <a:latin typeface="Arial"/>
                <a:ea typeface="Arial"/>
                <a:cs typeface="Arial"/>
              </a:rPr>
              <a:t>Question: “What will Product 1 sell next week?”</a:t>
            </a:r>
          </a:p>
        </p:txBody>
      </p:sp>
      <p:sp>
        <p:nvSpPr>
          <p:cNvPr id="5" name="">
            <a:extLst xmlns:a="http://schemas.openxmlformats.org/drawingml/2006/main">
              <a:ext uri="{FF2B5EF4-FFF2-40B4-BE49-F238E27FC236}">
                <a16:creationId xmlns:a16="http://schemas.microsoft.com/office/drawing/2014/main" id="{7CA9F0B4-E332-42FF-BFC8-33EAED30B38B}"/>
              </a:ext>
            </a:extLst>
          </p:cNvPr>
          <p:cNvSpPr>
            <a:spLocks xmlns:a="http://schemas.openxmlformats.org/drawingml/2006/main" noGrp="1"/>
          </p:cNvSpPr>
          <p:nvPr/>
        </p:nvSpPr>
        <p:spPr>
          <a:xfrm xmlns:a="http://schemas.openxmlformats.org/drawingml/2006/main">
            <a:off x="647700" y="2695575"/>
            <a:ext cx="107442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8324A"/>
                </a:solidFill>
                <a:latin typeface="Arial"/>
                <a:ea typeface="Arial"/>
                <a:cs typeface="Arial"/>
              </a:defRPr>
            </a:defPPr>
          </a:lstStyle>
          <a:p xmlns:a="http://schemas.openxmlformats.org/drawingml/2006/main">
            <a:pPr>
              <a:defRPr sz="2175" b="0">
                <a:solidFill>
                  <a:srgbClr val="18324A"/>
                </a:solidFill>
                <a:latin typeface="Arial"/>
                <a:ea typeface="Arial"/>
                <a:cs typeface="Arial"/>
              </a:defRPr>
            </a:pPr>
            <a:r>
              <a:rPr sz="2175" b="0">
                <a:solidFill>
                  <a:srgbClr val="18324A"/>
                </a:solidFill>
                <a:latin typeface="Arial"/>
                <a:ea typeface="Arial"/>
                <a:cs typeface="Arial"/>
              </a:rPr>
              <a:t>Text features: TF-IDF turns words into numerical inputs.</a:t>
            </a:r>
          </a:p>
        </p:txBody>
      </p:sp>
      <p:sp>
        <p:nvSpPr>
          <p:cNvPr id="6" name="">
            <a:extLst xmlns:a="http://schemas.openxmlformats.org/drawingml/2006/main">
              <a:ext uri="{FF2B5EF4-FFF2-40B4-BE49-F238E27FC236}">
                <a16:creationId xmlns:a16="http://schemas.microsoft.com/office/drawing/2014/main" id="{65D23058-0B97-4ADA-A2BB-0E611D7675A0}"/>
              </a:ext>
            </a:extLst>
          </p:cNvPr>
          <p:cNvSpPr>
            <a:spLocks xmlns:a="http://schemas.openxmlformats.org/drawingml/2006/main" noGrp="1"/>
          </p:cNvSpPr>
          <p:nvPr/>
        </p:nvSpPr>
        <p:spPr>
          <a:xfrm xmlns:a="http://schemas.openxmlformats.org/drawingml/2006/main">
            <a:off x="647700" y="3562350"/>
            <a:ext cx="107442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8324A"/>
                </a:solidFill>
                <a:latin typeface="Arial"/>
                <a:ea typeface="Arial"/>
                <a:cs typeface="Arial"/>
              </a:defRPr>
            </a:defPPr>
          </a:lstStyle>
          <a:p xmlns:a="http://schemas.openxmlformats.org/drawingml/2006/main">
            <a:pPr>
              <a:defRPr sz="2175" b="0">
                <a:solidFill>
                  <a:srgbClr val="18324A"/>
                </a:solidFill>
                <a:latin typeface="Arial"/>
                <a:ea typeface="Arial"/>
                <a:cs typeface="Arial"/>
              </a:defRPr>
            </a:pPr>
            <a:r>
              <a:rPr sz="2175" b="0">
                <a:solidFill>
                  <a:srgbClr val="18324A"/>
                </a:solidFill>
                <a:latin typeface="Arial"/>
                <a:ea typeface="Arial"/>
                <a:cs typeface="Arial"/>
              </a:rPr>
              <a:t>Intent classification: logistic regression recognises “forecast”.</a:t>
            </a:r>
          </a:p>
        </p:txBody>
      </p:sp>
      <p:sp>
        <p:nvSpPr>
          <p:cNvPr id="7" name="">
            <a:extLst xmlns:a="http://schemas.openxmlformats.org/drawingml/2006/main">
              <a:ext uri="{FF2B5EF4-FFF2-40B4-BE49-F238E27FC236}">
                <a16:creationId xmlns:a16="http://schemas.microsoft.com/office/drawing/2014/main" id="{B2A86003-FE78-446D-9BE4-D245F3ED30D4}"/>
              </a:ext>
            </a:extLst>
          </p:cNvPr>
          <p:cNvSpPr>
            <a:spLocks xmlns:a="http://schemas.openxmlformats.org/drawingml/2006/main" noGrp="1"/>
          </p:cNvSpPr>
          <p:nvPr/>
        </p:nvSpPr>
        <p:spPr>
          <a:xfrm xmlns:a="http://schemas.openxmlformats.org/drawingml/2006/main">
            <a:off x="647700" y="4429125"/>
            <a:ext cx="107442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8324A"/>
                </a:solidFill>
                <a:latin typeface="Arial"/>
                <a:ea typeface="Arial"/>
                <a:cs typeface="Arial"/>
              </a:defRPr>
            </a:defPPr>
          </a:lstStyle>
          <a:p xmlns:a="http://schemas.openxmlformats.org/drawingml/2006/main">
            <a:pPr>
              <a:defRPr sz="2175" b="0">
                <a:solidFill>
                  <a:srgbClr val="18324A"/>
                </a:solidFill>
                <a:latin typeface="Arial"/>
                <a:ea typeface="Arial"/>
                <a:cs typeface="Arial"/>
              </a:defRPr>
            </a:pPr>
            <a:r>
              <a:rPr sz="2175" b="0">
                <a:solidFill>
                  <a:srgbClr val="18324A"/>
                </a:solidFill>
                <a:latin typeface="Arial"/>
                <a:ea typeface="Arial"/>
                <a:cs typeface="Arial"/>
              </a:rPr>
              <a:t>Answer: retrieve Product 1’s saved forecast values.</a:t>
            </a:r>
          </a:p>
        </p:txBody>
      </p:sp>
    </p:spTree>
    <p:extLst>
      <p:ext uri="{BB962C8B-B14F-4D97-AF65-F5344CB8AC3E}">
        <p14:creationId xmlns:p14="http://schemas.microsoft.com/office/powerpoint/2010/main" val="864701395"/>
      </p:ext>
    </p:extLst>
  </p:cSld>
</p:sld>
</file>

<file path=ppt/slides/slide16.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5E77ECD-C2F2-4E6D-A433-D8C43BCCBF77}"/>
              </a:ext>
            </a:extLst>
          </p:cNvPr>
          <p:cNvSpPr>
            <a:spLocks xmlns:a="http://schemas.openxmlformats.org/drawingml/2006/main" noGrp="1"/>
          </p:cNvSpPr>
          <p:nvPr/>
        </p:nvSpPr>
        <p:spPr>
          <a:xfrm xmlns:a="http://schemas.openxmlformats.org/drawingml/2006/main">
            <a:off x="609600" y="5238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8324A"/>
                </a:solidFill>
                <a:latin typeface="Arial"/>
                <a:ea typeface="Arial"/>
                <a:cs typeface="Arial"/>
              </a:defRPr>
            </a:defPPr>
          </a:lstStyle>
          <a:p xmlns:a="http://schemas.openxmlformats.org/drawingml/2006/main">
            <a:pPr>
              <a:defRPr sz="3300" b="1">
                <a:solidFill>
                  <a:srgbClr val="18324A"/>
                </a:solidFill>
                <a:latin typeface="Arial"/>
                <a:ea typeface="Arial"/>
                <a:cs typeface="Arial"/>
              </a:defRPr>
            </a:pPr>
            <a:r>
              <a:rPr sz="3300" b="1">
                <a:solidFill>
                  <a:srgbClr val="18324A"/>
                </a:solidFill>
                <a:latin typeface="Arial"/>
                <a:ea typeface="Arial"/>
                <a:cs typeface="Arial"/>
              </a:rPr>
              <a:t>Questions the assistant can answer</a:t>
            </a:r>
          </a:p>
        </p:txBody>
      </p:sp>
      <p:sp>
        <p:nvSpPr>
          <p:cNvPr id="2" name="">
            <a:extLst xmlns:a="http://schemas.openxmlformats.org/drawingml/2006/main">
              <a:ext uri="{FF2B5EF4-FFF2-40B4-BE49-F238E27FC236}">
                <a16:creationId xmlns:a16="http://schemas.microsoft.com/office/drawing/2014/main" id="{ECD5C815-8529-4CBF-A782-5A0C59CCDBD8}"/>
              </a:ext>
            </a:extLst>
          </p:cNvPr>
          <p:cNvSpPr>
            <a:spLocks xmlns:a="http://schemas.openxmlformats.org/drawingml/2006/main" noGrp="1"/>
          </p:cNvSpPr>
          <p:nvPr/>
        </p:nvSpPr>
        <p:spPr>
          <a:xfrm xmlns:a="http://schemas.openxmlformats.org/drawingml/2006/main">
            <a:off x="619125" y="5553075"/>
            <a:ext cx="10906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Web and terminal chat use the same forecasts and stock rule</a:t>
            </a:r>
          </a:p>
        </p:txBody>
      </p:sp>
      <p:sp>
        <p:nvSpPr>
          <p:cNvPr id="3" name="">
            <a:extLst xmlns:a="http://schemas.openxmlformats.org/drawingml/2006/main">
              <a:ext uri="{FF2B5EF4-FFF2-40B4-BE49-F238E27FC236}">
                <a16:creationId xmlns:a16="http://schemas.microsoft.com/office/drawing/2014/main" id="{7B6C9822-E88F-4F70-98EF-1A525A041E04}"/>
              </a:ext>
            </a:extLst>
          </p:cNvPr>
          <p:cNvSpPr>
            <a:spLocks xmlns:a="http://schemas.openxmlformats.org/drawingml/2006/main" noGrp="1"/>
          </p:cNvSpPr>
          <p:nvPr/>
        </p:nvSpPr>
        <p:spPr>
          <a:xfrm xmlns:a="http://schemas.openxmlformats.org/drawingml/2006/main">
            <a:off x="619125" y="64198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536A78"/>
                </a:solidFill>
                <a:latin typeface="Arial"/>
                <a:ea typeface="Arial"/>
                <a:cs typeface="Arial"/>
              </a:defRPr>
            </a:defPPr>
          </a:lstStyle>
          <a:p xmlns:a="http://schemas.openxmlformats.org/drawingml/2006/main">
            <a:pPr>
              <a:defRPr sz="1050" b="0">
                <a:solidFill>
                  <a:srgbClr val="536A78"/>
                </a:solidFill>
                <a:latin typeface="Arial"/>
                <a:ea typeface="Arial"/>
                <a:cs typeface="Arial"/>
              </a:defRPr>
            </a:pPr>
            <a:r>
              <a:rPr sz="1050" b="0">
                <a:solidFill>
                  <a:srgbClr val="536A78"/>
                </a:solidFill>
                <a:latin typeface="Arial"/>
                <a:ea typeface="Arial"/>
                <a:cs typeface="Arial"/>
              </a:rPr>
              <a:t>StockSense AI     16</a:t>
            </a:r>
          </a:p>
        </p:txBody>
      </p:sp>
      <p:sp>
        <p:nvSpPr>
          <p:cNvPr id="4" name="">
            <a:extLst xmlns:a="http://schemas.openxmlformats.org/drawingml/2006/main">
              <a:ext uri="{FF2B5EF4-FFF2-40B4-BE49-F238E27FC236}">
                <a16:creationId xmlns:a16="http://schemas.microsoft.com/office/drawing/2014/main" id="{A1877031-CA95-4D04-AFE5-240CB8FDC10A}"/>
              </a:ext>
            </a:extLst>
          </p:cNvPr>
          <p:cNvSpPr>
            <a:spLocks xmlns:a="http://schemas.openxmlformats.org/drawingml/2006/main" noGrp="1"/>
          </p:cNvSpPr>
          <p:nvPr/>
        </p:nvSpPr>
        <p:spPr>
          <a:xfrm xmlns:a="http://schemas.openxmlformats.org/drawingml/2006/main">
            <a:off x="647700" y="1828800"/>
            <a:ext cx="107442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18324A"/>
                </a:solidFill>
                <a:latin typeface="Arial"/>
                <a:ea typeface="Arial"/>
                <a:cs typeface="Arial"/>
              </a:defRPr>
            </a:defPPr>
          </a:lstStyle>
          <a:p xmlns:a="http://schemas.openxmlformats.org/drawingml/2006/main">
            <a:pPr>
              <a:defRPr sz="2550" b="0">
                <a:solidFill>
                  <a:srgbClr val="18324A"/>
                </a:solidFill>
                <a:latin typeface="Arial"/>
                <a:ea typeface="Arial"/>
                <a:cs typeface="Arial"/>
              </a:defRPr>
            </a:pPr>
            <a:r>
              <a:rPr sz="2550" b="0">
                <a:solidFill>
                  <a:srgbClr val="18324A"/>
                </a:solidFill>
                <a:latin typeface="Arial"/>
                <a:ea typeface="Arial"/>
                <a:cs typeface="Arial"/>
              </a:rPr>
              <a:t>“Show the forecast for Product 2.”</a:t>
            </a:r>
          </a:p>
        </p:txBody>
      </p:sp>
      <p:sp>
        <p:nvSpPr>
          <p:cNvPr id="5" name="">
            <a:extLst xmlns:a="http://schemas.openxmlformats.org/drawingml/2006/main">
              <a:ext uri="{FF2B5EF4-FFF2-40B4-BE49-F238E27FC236}">
                <a16:creationId xmlns:a16="http://schemas.microsoft.com/office/drawing/2014/main" id="{D668DA3C-F16A-4188-8478-2C3B83BF0B95}"/>
              </a:ext>
            </a:extLst>
          </p:cNvPr>
          <p:cNvSpPr>
            <a:spLocks xmlns:a="http://schemas.openxmlformats.org/drawingml/2006/main" noGrp="1"/>
          </p:cNvSpPr>
          <p:nvPr/>
        </p:nvSpPr>
        <p:spPr>
          <a:xfrm xmlns:a="http://schemas.openxmlformats.org/drawingml/2006/main">
            <a:off x="647700" y="2695575"/>
            <a:ext cx="107442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18324A"/>
                </a:solidFill>
                <a:latin typeface="Arial"/>
                <a:ea typeface="Arial"/>
                <a:cs typeface="Arial"/>
              </a:defRPr>
            </a:defPPr>
          </a:lstStyle>
          <a:p xmlns:a="http://schemas.openxmlformats.org/drawingml/2006/main">
            <a:pPr>
              <a:defRPr sz="2550" b="0">
                <a:solidFill>
                  <a:srgbClr val="18324A"/>
                </a:solidFill>
                <a:latin typeface="Arial"/>
                <a:ea typeface="Arial"/>
                <a:cs typeface="Arial"/>
              </a:defRPr>
            </a:pPr>
            <a:r>
              <a:rPr sz="2550" b="0">
                <a:solidFill>
                  <a:srgbClr val="18324A"/>
                </a:solidFill>
                <a:latin typeface="Arial"/>
                <a:ea typeface="Arial"/>
                <a:cs typeface="Arial"/>
              </a:rPr>
              <a:t>“Compare all five products.”</a:t>
            </a:r>
          </a:p>
        </p:txBody>
      </p:sp>
      <p:sp>
        <p:nvSpPr>
          <p:cNvPr id="6" name="">
            <a:extLst xmlns:a="http://schemas.openxmlformats.org/drawingml/2006/main">
              <a:ext uri="{FF2B5EF4-FFF2-40B4-BE49-F238E27FC236}">
                <a16:creationId xmlns:a16="http://schemas.microsoft.com/office/drawing/2014/main" id="{09460E1E-29D6-4848-B352-7AF2D2ECA78F}"/>
              </a:ext>
            </a:extLst>
          </p:cNvPr>
          <p:cNvSpPr>
            <a:spLocks xmlns:a="http://schemas.openxmlformats.org/drawingml/2006/main" noGrp="1"/>
          </p:cNvSpPr>
          <p:nvPr/>
        </p:nvSpPr>
        <p:spPr>
          <a:xfrm xmlns:a="http://schemas.openxmlformats.org/drawingml/2006/main">
            <a:off x="647700" y="3562350"/>
            <a:ext cx="107442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18324A"/>
                </a:solidFill>
                <a:latin typeface="Arial"/>
                <a:ea typeface="Arial"/>
                <a:cs typeface="Arial"/>
              </a:defRPr>
            </a:defPPr>
          </a:lstStyle>
          <a:p xmlns:a="http://schemas.openxmlformats.org/drawingml/2006/main">
            <a:pPr>
              <a:defRPr sz="2550" b="0">
                <a:solidFill>
                  <a:srgbClr val="18324A"/>
                </a:solidFill>
                <a:latin typeface="Arial"/>
                <a:ea typeface="Arial"/>
                <a:cs typeface="Arial"/>
              </a:defRPr>
            </a:pPr>
            <a:r>
              <a:rPr sz="2550" b="0">
                <a:solidFill>
                  <a:srgbClr val="18324A"/>
                </a:solidFill>
                <a:latin typeface="Arial"/>
                <a:ea typeface="Arial"/>
                <a:cs typeface="Arial"/>
              </a:rPr>
              <a:t>“Why should I order this amount?”</a:t>
            </a:r>
          </a:p>
        </p:txBody>
      </p:sp>
      <p:sp>
        <p:nvSpPr>
          <p:cNvPr id="7" name="">
            <a:extLst xmlns:a="http://schemas.openxmlformats.org/drawingml/2006/main">
              <a:ext uri="{FF2B5EF4-FFF2-40B4-BE49-F238E27FC236}">
                <a16:creationId xmlns:a16="http://schemas.microsoft.com/office/drawing/2014/main" id="{4950B8CB-3140-4689-BF57-29899C2F40A9}"/>
              </a:ext>
            </a:extLst>
          </p:cNvPr>
          <p:cNvSpPr>
            <a:spLocks xmlns:a="http://schemas.openxmlformats.org/drawingml/2006/main" noGrp="1"/>
          </p:cNvSpPr>
          <p:nvPr/>
        </p:nvSpPr>
        <p:spPr>
          <a:xfrm xmlns:a="http://schemas.openxmlformats.org/drawingml/2006/main">
            <a:off x="647700" y="4429125"/>
            <a:ext cx="107442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18324A"/>
                </a:solidFill>
                <a:latin typeface="Arial"/>
                <a:ea typeface="Arial"/>
                <a:cs typeface="Arial"/>
              </a:defRPr>
            </a:defPPr>
          </a:lstStyle>
          <a:p xmlns:a="http://schemas.openxmlformats.org/drawingml/2006/main">
            <a:pPr>
              <a:defRPr sz="2550" b="0">
                <a:solidFill>
                  <a:srgbClr val="18324A"/>
                </a:solidFill>
                <a:latin typeface="Arial"/>
                <a:ea typeface="Arial"/>
                <a:cs typeface="Arial"/>
              </a:defRPr>
            </a:pPr>
            <a:r>
              <a:rPr sz="2550" b="0">
                <a:solidFill>
                  <a:srgbClr val="18324A"/>
                </a:solidFill>
                <a:latin typeface="Arial"/>
                <a:ea typeface="Arial"/>
                <a:cs typeface="Arial"/>
              </a:rPr>
              <a:t>“What does MAE mean?”</a:t>
            </a:r>
          </a:p>
        </p:txBody>
      </p:sp>
    </p:spTree>
    <p:extLst>
      <p:ext uri="{BB962C8B-B14F-4D97-AF65-F5344CB8AC3E}">
        <p14:creationId xmlns:p14="http://schemas.microsoft.com/office/powerpoint/2010/main" val="1701333561"/>
      </p:ext>
    </p:extLst>
  </p:cSld>
</p:sld>
</file>

<file path=ppt/slides/slide17.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3B89BAF-BC50-400D-994D-8D8562E471B0}"/>
              </a:ext>
            </a:extLst>
          </p:cNvPr>
          <p:cNvSpPr>
            <a:spLocks xmlns:a="http://schemas.openxmlformats.org/drawingml/2006/main" noGrp="1"/>
          </p:cNvSpPr>
          <p:nvPr/>
        </p:nvSpPr>
        <p:spPr>
          <a:xfrm xmlns:a="http://schemas.openxmlformats.org/drawingml/2006/main">
            <a:off x="609600" y="5238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8324A"/>
                </a:solidFill>
                <a:latin typeface="Arial"/>
                <a:ea typeface="Arial"/>
                <a:cs typeface="Arial"/>
              </a:defRPr>
            </a:defPPr>
          </a:lstStyle>
          <a:p xmlns:a="http://schemas.openxmlformats.org/drawingml/2006/main">
            <a:pPr>
              <a:defRPr sz="3300" b="1">
                <a:solidFill>
                  <a:srgbClr val="18324A"/>
                </a:solidFill>
                <a:latin typeface="Arial"/>
                <a:ea typeface="Arial"/>
                <a:cs typeface="Arial"/>
              </a:defRPr>
            </a:pPr>
            <a:r>
              <a:rPr sz="3300" b="1">
                <a:solidFill>
                  <a:srgbClr val="18324A"/>
                </a:solidFill>
                <a:latin typeface="Arial"/>
                <a:ea typeface="Arial"/>
                <a:cs typeface="Arial"/>
              </a:rPr>
              <a:t>Live application demonstration</a:t>
            </a:r>
          </a:p>
        </p:txBody>
      </p:sp>
      <p:sp>
        <p:nvSpPr>
          <p:cNvPr id="2" name="">
            <a:extLst xmlns:a="http://schemas.openxmlformats.org/drawingml/2006/main">
              <a:ext uri="{FF2B5EF4-FFF2-40B4-BE49-F238E27FC236}">
                <a16:creationId xmlns:a16="http://schemas.microsoft.com/office/drawing/2014/main" id="{7E3CBC40-0FE4-4FC7-AA2E-A27D8B8D73DF}"/>
              </a:ext>
            </a:extLst>
          </p:cNvPr>
          <p:cNvSpPr>
            <a:spLocks xmlns:a="http://schemas.openxmlformats.org/drawingml/2006/main" noGrp="1"/>
          </p:cNvSpPr>
          <p:nvPr/>
        </p:nvSpPr>
        <p:spPr>
          <a:xfrm xmlns:a="http://schemas.openxmlformats.org/drawingml/2006/main">
            <a:off x="619125" y="5553075"/>
            <a:ext cx="10906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Historical demonstration forecast: 1–7 January 2018</a:t>
            </a:r>
          </a:p>
        </p:txBody>
      </p:sp>
      <p:sp>
        <p:nvSpPr>
          <p:cNvPr id="3" name="">
            <a:extLst xmlns:a="http://schemas.openxmlformats.org/drawingml/2006/main">
              <a:ext uri="{FF2B5EF4-FFF2-40B4-BE49-F238E27FC236}">
                <a16:creationId xmlns:a16="http://schemas.microsoft.com/office/drawing/2014/main" id="{E0DF0539-0E34-4BBC-AC94-CD58BCA42471}"/>
              </a:ext>
            </a:extLst>
          </p:cNvPr>
          <p:cNvSpPr>
            <a:spLocks xmlns:a="http://schemas.openxmlformats.org/drawingml/2006/main" noGrp="1"/>
          </p:cNvSpPr>
          <p:nvPr/>
        </p:nvSpPr>
        <p:spPr>
          <a:xfrm xmlns:a="http://schemas.openxmlformats.org/drawingml/2006/main">
            <a:off x="619125" y="64198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536A78"/>
                </a:solidFill>
                <a:latin typeface="Arial"/>
                <a:ea typeface="Arial"/>
                <a:cs typeface="Arial"/>
              </a:defRPr>
            </a:defPPr>
          </a:lstStyle>
          <a:p xmlns:a="http://schemas.openxmlformats.org/drawingml/2006/main">
            <a:pPr>
              <a:defRPr sz="1050" b="0">
                <a:solidFill>
                  <a:srgbClr val="536A78"/>
                </a:solidFill>
                <a:latin typeface="Arial"/>
                <a:ea typeface="Arial"/>
                <a:cs typeface="Arial"/>
              </a:defRPr>
            </a:pPr>
            <a:r>
              <a:rPr sz="1050" b="0">
                <a:solidFill>
                  <a:srgbClr val="536A78"/>
                </a:solidFill>
                <a:latin typeface="Arial"/>
                <a:ea typeface="Arial"/>
                <a:cs typeface="Arial"/>
              </a:rPr>
              <a:t>StockSense AI     17</a:t>
            </a:r>
          </a:p>
        </p:txBody>
      </p:sp>
      <p:pic>
        <p:nvPicPr>
          <p:cNvPr id="4" name="">
            <a:extLst xmlns:a="http://schemas.openxmlformats.org/drawingml/2006/main">
              <a:ext uri="{FF2B5EF4-FFF2-40B4-BE49-F238E27FC236}">
                <a16:creationId xmlns:a16="http://schemas.microsoft.com/office/drawing/2014/main" id="{F80AB57C-16D8-4C27-9524-B9C91D221926}"/>
              </a:ext>
            </a:extLst>
          </p:cNvPr>
          <p:cNvPicPr>
            <a:picLocks xmlns:a="http://schemas.openxmlformats.org/drawingml/2006/main" noChangeAspect="1"/>
          </p:cNvPicPr>
          <p:nvPr/>
        </p:nvPicPr>
        <p:blipFill>
          <a:blip xmlns:r="http://schemas.openxmlformats.org/officeDocument/2006/relationships" xmlns:a="http://schemas.openxmlformats.org/drawingml/2006/main" r:embed="Rf4b1229000a44e1b"/>
          <a:stretch xmlns:a="http://schemas.openxmlformats.org/drawingml/2006/main"/>
        </p:blipFill>
        <p:spPr>
          <a:xfrm xmlns:a="http://schemas.openxmlformats.org/drawingml/2006/main">
            <a:off x="1800398" y="1552575"/>
            <a:ext cx="5162204"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D18961C9-58D8-42CB-8761-A855FC31DF0A}"/>
              </a:ext>
            </a:extLst>
          </p:cNvPr>
          <p:cNvSpPr>
            <a:spLocks xmlns:a="http://schemas.openxmlformats.org/drawingml/2006/main" noGrp="1"/>
          </p:cNvSpPr>
          <p:nvPr/>
        </p:nvSpPr>
        <p:spPr>
          <a:xfrm xmlns:a="http://schemas.openxmlformats.org/drawingml/2006/main">
            <a:off x="8477250" y="2000250"/>
            <a:ext cx="314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8324A"/>
                </a:solidFill>
                <a:latin typeface="Arial"/>
                <a:ea typeface="Arial"/>
                <a:cs typeface="Arial"/>
              </a:defRPr>
            </a:defPPr>
          </a:lstStyle>
          <a:p xmlns:a="http://schemas.openxmlformats.org/drawingml/2006/main">
            <a:pPr>
              <a:defRPr sz="2025" b="1">
                <a:solidFill>
                  <a:srgbClr val="18324A"/>
                </a:solidFill>
                <a:latin typeface="Arial"/>
                <a:ea typeface="Arial"/>
                <a:cs typeface="Arial"/>
              </a:defRPr>
            </a:pPr>
            <a:r>
              <a:rPr sz="2025" b="1">
                <a:solidFill>
                  <a:srgbClr val="18324A"/>
                </a:solidFill>
                <a:latin typeface="Arial"/>
                <a:ea typeface="Arial"/>
                <a:cs typeface="Arial"/>
              </a:rPr>
              <a:t>1. Select Product 1</a:t>
            </a:r>
          </a:p>
        </p:txBody>
      </p:sp>
      <p:sp>
        <p:nvSpPr>
          <p:cNvPr id="6" name="">
            <a:extLst xmlns:a="http://schemas.openxmlformats.org/drawingml/2006/main">
              <a:ext uri="{FF2B5EF4-FFF2-40B4-BE49-F238E27FC236}">
                <a16:creationId xmlns:a16="http://schemas.microsoft.com/office/drawing/2014/main" id="{80C91701-8714-4BA4-BBBE-1A214E9B9B89}"/>
              </a:ext>
            </a:extLst>
          </p:cNvPr>
          <p:cNvSpPr>
            <a:spLocks xmlns:a="http://schemas.openxmlformats.org/drawingml/2006/main" noGrp="1"/>
          </p:cNvSpPr>
          <p:nvPr/>
        </p:nvSpPr>
        <p:spPr>
          <a:xfrm xmlns:a="http://schemas.openxmlformats.org/drawingml/2006/main">
            <a:off x="8477250" y="2790825"/>
            <a:ext cx="314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8324A"/>
                </a:solidFill>
                <a:latin typeface="Arial"/>
                <a:ea typeface="Arial"/>
                <a:cs typeface="Arial"/>
              </a:defRPr>
            </a:defPPr>
          </a:lstStyle>
          <a:p xmlns:a="http://schemas.openxmlformats.org/drawingml/2006/main">
            <a:pPr>
              <a:defRPr sz="2025" b="1">
                <a:solidFill>
                  <a:srgbClr val="18324A"/>
                </a:solidFill>
                <a:latin typeface="Arial"/>
                <a:ea typeface="Arial"/>
                <a:cs typeface="Arial"/>
              </a:defRPr>
            </a:pPr>
            <a:r>
              <a:rPr sz="2025" b="1">
                <a:solidFill>
                  <a:srgbClr val="18324A"/>
                </a:solidFill>
                <a:latin typeface="Arial"/>
                <a:ea typeface="Arial"/>
                <a:cs typeface="Arial"/>
              </a:rPr>
              <a:t>2. Show seven dates</a:t>
            </a:r>
          </a:p>
        </p:txBody>
      </p:sp>
      <p:sp>
        <p:nvSpPr>
          <p:cNvPr id="7" name="">
            <a:extLst xmlns:a="http://schemas.openxmlformats.org/drawingml/2006/main">
              <a:ext uri="{FF2B5EF4-FFF2-40B4-BE49-F238E27FC236}">
                <a16:creationId xmlns:a16="http://schemas.microsoft.com/office/drawing/2014/main" id="{160E1C1C-5A7A-453E-BE3F-3FB473DA1307}"/>
              </a:ext>
            </a:extLst>
          </p:cNvPr>
          <p:cNvSpPr>
            <a:spLocks xmlns:a="http://schemas.openxmlformats.org/drawingml/2006/main" noGrp="1"/>
          </p:cNvSpPr>
          <p:nvPr/>
        </p:nvSpPr>
        <p:spPr>
          <a:xfrm xmlns:a="http://schemas.openxmlformats.org/drawingml/2006/main">
            <a:off x="8477250" y="3581400"/>
            <a:ext cx="314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8324A"/>
                </a:solidFill>
                <a:latin typeface="Arial"/>
                <a:ea typeface="Arial"/>
                <a:cs typeface="Arial"/>
              </a:defRPr>
            </a:defPPr>
          </a:lstStyle>
          <a:p xmlns:a="http://schemas.openxmlformats.org/drawingml/2006/main">
            <a:pPr>
              <a:defRPr sz="2025" b="1">
                <a:solidFill>
                  <a:srgbClr val="18324A"/>
                </a:solidFill>
                <a:latin typeface="Arial"/>
                <a:ea typeface="Arial"/>
                <a:cs typeface="Arial"/>
              </a:defRPr>
            </a:pPr>
            <a:r>
              <a:rPr sz="2025" b="1">
                <a:solidFill>
                  <a:srgbClr val="18324A"/>
                </a:solidFill>
                <a:latin typeface="Arial"/>
                <a:ea typeface="Arial"/>
                <a:cs typeface="Arial"/>
              </a:rPr>
              <a:t>3. Calculate 38 units</a:t>
            </a:r>
          </a:p>
        </p:txBody>
      </p:sp>
      <p:sp>
        <p:nvSpPr>
          <p:cNvPr id="8" name="">
            <a:extLst xmlns:a="http://schemas.openxmlformats.org/drawingml/2006/main">
              <a:ext uri="{FF2B5EF4-FFF2-40B4-BE49-F238E27FC236}">
                <a16:creationId xmlns:a16="http://schemas.microsoft.com/office/drawing/2014/main" id="{D175E477-2C87-4410-84C3-1725635E257B}"/>
              </a:ext>
            </a:extLst>
          </p:cNvPr>
          <p:cNvSpPr>
            <a:spLocks xmlns:a="http://schemas.openxmlformats.org/drawingml/2006/main" noGrp="1"/>
          </p:cNvSpPr>
          <p:nvPr/>
        </p:nvSpPr>
        <p:spPr>
          <a:xfrm xmlns:a="http://schemas.openxmlformats.org/drawingml/2006/main">
            <a:off x="8477250" y="4371975"/>
            <a:ext cx="314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8324A"/>
                </a:solidFill>
                <a:latin typeface="Arial"/>
                <a:ea typeface="Arial"/>
                <a:cs typeface="Arial"/>
              </a:defRPr>
            </a:defPPr>
          </a:lstStyle>
          <a:p xmlns:a="http://schemas.openxmlformats.org/drawingml/2006/main">
            <a:pPr>
              <a:defRPr sz="2025" b="1">
                <a:solidFill>
                  <a:srgbClr val="18324A"/>
                </a:solidFill>
                <a:latin typeface="Arial"/>
                <a:ea typeface="Arial"/>
                <a:cs typeface="Arial"/>
              </a:defRPr>
            </a:pPr>
            <a:r>
              <a:rPr sz="2025" b="1">
                <a:solidFill>
                  <a:srgbClr val="18324A"/>
                </a:solidFill>
                <a:latin typeface="Arial"/>
                <a:ea typeface="Arial"/>
                <a:cs typeface="Arial"/>
              </a:rPr>
              <a:t>4. Ask StockSense</a:t>
            </a:r>
          </a:p>
        </p:txBody>
      </p:sp>
    </p:spTree>
    <p:extLst>
      <p:ext uri="{BB962C8B-B14F-4D97-AF65-F5344CB8AC3E}">
        <p14:creationId xmlns:p14="http://schemas.microsoft.com/office/powerpoint/2010/main" val="1002239591"/>
      </p:ext>
    </p:extLst>
  </p:cSld>
</p:sld>
</file>

<file path=ppt/slides/slide18.xml><?xml version="1.0" encoding="utf-8"?>
<p:sld xmlns:p="http://schemas.openxmlformats.org/presentationml/2006/main">
  <p:cSld>
    <p:bg>
      <p:bgPr>
        <a:solidFill xmlns:a="http://schemas.openxmlformats.org/drawingml/2006/main">
          <a:srgbClr val="11263E"/>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0D1E9C8-DFF6-4E93-8984-1E9FEB28B7BF}"/>
              </a:ext>
            </a:extLst>
          </p:cNvPr>
          <p:cNvSpPr>
            <a:spLocks xmlns:a="http://schemas.openxmlformats.org/drawingml/2006/main" noGrp="1"/>
          </p:cNvSpPr>
          <p:nvPr/>
        </p:nvSpPr>
        <p:spPr>
          <a:xfrm xmlns:a="http://schemas.openxmlformats.org/drawingml/2006/main">
            <a:off x="609600" y="5238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FFFFFF"/>
                </a:solidFill>
                <a:latin typeface="Arial"/>
                <a:ea typeface="Arial"/>
                <a:cs typeface="Arial"/>
              </a:defRPr>
            </a:defPPr>
          </a:lstStyle>
          <a:p xmlns:a="http://schemas.openxmlformats.org/drawingml/2006/main">
            <a:pPr>
              <a:defRPr sz="3300" b="1">
                <a:solidFill>
                  <a:srgbClr val="FFFFFF"/>
                </a:solidFill>
                <a:latin typeface="Arial"/>
                <a:ea typeface="Arial"/>
                <a:cs typeface="Arial"/>
              </a:defRPr>
            </a:pPr>
            <a:r>
              <a:rPr sz="3300" b="1">
                <a:solidFill>
                  <a:srgbClr val="FFFFFF"/>
                </a:solidFill>
                <a:latin typeface="Arial"/>
                <a:ea typeface="Arial"/>
                <a:cs typeface="Arial"/>
              </a:rPr>
              <a:t>Evidence that the prototype works</a:t>
            </a:r>
          </a:p>
        </p:txBody>
      </p:sp>
      <p:sp>
        <p:nvSpPr>
          <p:cNvPr id="2" name="">
            <a:extLst xmlns:a="http://schemas.openxmlformats.org/drawingml/2006/main">
              <a:ext uri="{FF2B5EF4-FFF2-40B4-BE49-F238E27FC236}">
                <a16:creationId xmlns:a16="http://schemas.microsoft.com/office/drawing/2014/main" id="{3C89701F-F3A1-49B9-BD3F-AF5AA4B7B109}"/>
              </a:ext>
            </a:extLst>
          </p:cNvPr>
          <p:cNvSpPr>
            <a:spLocks xmlns:a="http://schemas.openxmlformats.org/drawingml/2006/main" noGrp="1"/>
          </p:cNvSpPr>
          <p:nvPr/>
        </p:nvSpPr>
        <p:spPr>
          <a:xfrm xmlns:a="http://schemas.openxmlformats.org/drawingml/2006/main">
            <a:off x="619125" y="5553075"/>
            <a:ext cx="10906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A9E7D7"/>
                </a:solidFill>
                <a:latin typeface="Arial"/>
                <a:ea typeface="Arial"/>
                <a:cs typeface="Arial"/>
              </a:defRPr>
            </a:defPPr>
          </a:lstStyle>
          <a:p xmlns:a="http://schemas.openxmlformats.org/drawingml/2006/main">
            <a:pPr>
              <a:defRPr sz="1875" b="1">
                <a:solidFill>
                  <a:srgbClr val="A9E7D7"/>
                </a:solidFill>
                <a:latin typeface="Arial"/>
                <a:ea typeface="Arial"/>
                <a:cs typeface="Arial"/>
              </a:defRPr>
            </a:pPr>
            <a:r>
              <a:rPr sz="1875" b="1">
                <a:solidFill>
                  <a:srgbClr val="A9E7D7"/>
                </a:solidFill>
                <a:latin typeface="Arial"/>
                <a:ea typeface="Arial"/>
                <a:cs typeface="Arial"/>
              </a:rPr>
              <a:t>Automated checks verify behaviour. Human usability is still unmeasured.</a:t>
            </a:r>
          </a:p>
        </p:txBody>
      </p:sp>
      <p:sp>
        <p:nvSpPr>
          <p:cNvPr id="3" name="">
            <a:extLst xmlns:a="http://schemas.openxmlformats.org/drawingml/2006/main">
              <a:ext uri="{FF2B5EF4-FFF2-40B4-BE49-F238E27FC236}">
                <a16:creationId xmlns:a16="http://schemas.microsoft.com/office/drawing/2014/main" id="{D27E4896-9AFE-4CF2-9C33-878405693FDE}"/>
              </a:ext>
            </a:extLst>
          </p:cNvPr>
          <p:cNvSpPr>
            <a:spLocks xmlns:a="http://schemas.openxmlformats.org/drawingml/2006/main" noGrp="1"/>
          </p:cNvSpPr>
          <p:nvPr/>
        </p:nvSpPr>
        <p:spPr>
          <a:xfrm xmlns:a="http://schemas.openxmlformats.org/drawingml/2006/main">
            <a:off x="619125" y="64198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A9E7D7"/>
                </a:solidFill>
                <a:latin typeface="Arial"/>
                <a:ea typeface="Arial"/>
                <a:cs typeface="Arial"/>
              </a:defRPr>
            </a:defPPr>
          </a:lstStyle>
          <a:p xmlns:a="http://schemas.openxmlformats.org/drawingml/2006/main">
            <a:pPr>
              <a:defRPr sz="1050" b="0">
                <a:solidFill>
                  <a:srgbClr val="A9E7D7"/>
                </a:solidFill>
                <a:latin typeface="Arial"/>
                <a:ea typeface="Arial"/>
                <a:cs typeface="Arial"/>
              </a:defRPr>
            </a:pPr>
            <a:r>
              <a:rPr sz="1050" b="0">
                <a:solidFill>
                  <a:srgbClr val="A9E7D7"/>
                </a:solidFill>
                <a:latin typeface="Arial"/>
                <a:ea typeface="Arial"/>
                <a:cs typeface="Arial"/>
              </a:rPr>
              <a:t>StockSense AI     18</a:t>
            </a:r>
          </a:p>
        </p:txBody>
      </p:sp>
      <p:sp>
        <p:nvSpPr>
          <p:cNvPr id="4" name="">
            <a:extLst xmlns:a="http://schemas.openxmlformats.org/drawingml/2006/main">
              <a:ext uri="{FF2B5EF4-FFF2-40B4-BE49-F238E27FC236}">
                <a16:creationId xmlns:a16="http://schemas.microsoft.com/office/drawing/2014/main" id="{39A76FB0-9958-404F-BE45-CFD3D6103C57}"/>
              </a:ext>
            </a:extLst>
          </p:cNvPr>
          <p:cNvSpPr>
            <a:spLocks xmlns:a="http://schemas.openxmlformats.org/drawingml/2006/main" noGrp="1"/>
          </p:cNvSpPr>
          <p:nvPr/>
        </p:nvSpPr>
        <p:spPr>
          <a:xfrm xmlns:a="http://schemas.openxmlformats.org/drawingml/2006/main">
            <a:off x="666750" y="2133600"/>
            <a:ext cx="31908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700" b="1">
                <a:solidFill>
                  <a:srgbClr val="A9E7D7"/>
                </a:solidFill>
                <a:latin typeface="Arial"/>
                <a:ea typeface="Arial"/>
                <a:cs typeface="Arial"/>
              </a:defRPr>
            </a:defPPr>
          </a:lstStyle>
          <a:p xmlns:a="http://schemas.openxmlformats.org/drawingml/2006/main">
            <a:pPr>
              <a:defRPr sz="5700" b="1">
                <a:solidFill>
                  <a:srgbClr val="A9E7D7"/>
                </a:solidFill>
                <a:latin typeface="Arial"/>
                <a:ea typeface="Arial"/>
                <a:cs typeface="Arial"/>
              </a:defRPr>
            </a:pPr>
            <a:r>
              <a:rPr sz="5700" b="1">
                <a:solidFill>
                  <a:srgbClr val="A9E7D7"/>
                </a:solidFill>
                <a:latin typeface="Arial"/>
                <a:ea typeface="Arial"/>
                <a:cs typeface="Arial"/>
              </a:rPr>
              <a:t>79</a:t>
            </a:r>
          </a:p>
        </p:txBody>
      </p:sp>
      <p:sp>
        <p:nvSpPr>
          <p:cNvPr id="5" name="">
            <a:extLst xmlns:a="http://schemas.openxmlformats.org/drawingml/2006/main">
              <a:ext uri="{FF2B5EF4-FFF2-40B4-BE49-F238E27FC236}">
                <a16:creationId xmlns:a16="http://schemas.microsoft.com/office/drawing/2014/main" id="{13AE44D3-775E-4EDC-A471-99FA47122BB9}"/>
              </a:ext>
            </a:extLst>
          </p:cNvPr>
          <p:cNvSpPr>
            <a:spLocks xmlns:a="http://schemas.openxmlformats.org/drawingml/2006/main" noGrp="1"/>
          </p:cNvSpPr>
          <p:nvPr/>
        </p:nvSpPr>
        <p:spPr>
          <a:xfrm xmlns:a="http://schemas.openxmlformats.org/drawingml/2006/main">
            <a:off x="666750" y="3476625"/>
            <a:ext cx="31908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FFFFF"/>
                </a:solidFill>
                <a:latin typeface="Arial"/>
                <a:ea typeface="Arial"/>
                <a:cs typeface="Arial"/>
              </a:defRPr>
            </a:defPPr>
          </a:lstStyle>
          <a:p xmlns:a="http://schemas.openxmlformats.org/drawingml/2006/main">
            <a:pPr>
              <a:defRPr sz="2175" b="0">
                <a:solidFill>
                  <a:srgbClr val="FFFFFF"/>
                </a:solidFill>
                <a:latin typeface="Arial"/>
                <a:ea typeface="Arial"/>
                <a:cs typeface="Arial"/>
              </a:defRPr>
            </a:pPr>
            <a:r>
              <a:rPr sz="2175" b="0">
                <a:solidFill>
                  <a:srgbClr val="FFFFFF"/>
                </a:solidFill>
                <a:latin typeface="Arial"/>
                <a:ea typeface="Arial"/>
                <a:cs typeface="Arial"/>
              </a:rPr>
              <a:t>automated tests</a:t>
            </a:r>
          </a:p>
          <a:p xmlns:a="http://schemas.openxmlformats.org/drawingml/2006/main">
            <a:pPr>
              <a:defRPr sz="2175" b="0">
                <a:solidFill>
                  <a:srgbClr val="FFFFFF"/>
                </a:solidFill>
                <a:latin typeface="Arial"/>
                <a:ea typeface="Arial"/>
                <a:cs typeface="Arial"/>
              </a:defRPr>
            </a:pPr>
            <a:r>
              <a:rPr sz="2175" b="0">
                <a:solidFill>
                  <a:srgbClr val="FFFFFF"/>
                </a:solidFill>
                <a:latin typeface="Arial"/>
                <a:ea typeface="Arial"/>
                <a:cs typeface="Arial"/>
              </a:rPr>
              <a:t>passed</a:t>
            </a:r>
          </a:p>
        </p:txBody>
      </p:sp>
      <p:sp>
        <p:nvSpPr>
          <p:cNvPr id="6" name="">
            <a:extLst xmlns:a="http://schemas.openxmlformats.org/drawingml/2006/main">
              <a:ext uri="{FF2B5EF4-FFF2-40B4-BE49-F238E27FC236}">
                <a16:creationId xmlns:a16="http://schemas.microsoft.com/office/drawing/2014/main" id="{5211C76C-C0F8-4FB8-9A91-0895BDE78E43}"/>
              </a:ext>
            </a:extLst>
          </p:cNvPr>
          <p:cNvSpPr>
            <a:spLocks xmlns:a="http://schemas.openxmlformats.org/drawingml/2006/main" noGrp="1"/>
          </p:cNvSpPr>
          <p:nvPr/>
        </p:nvSpPr>
        <p:spPr>
          <a:xfrm xmlns:a="http://schemas.openxmlformats.org/drawingml/2006/main">
            <a:off x="4524375" y="2133600"/>
            <a:ext cx="31908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700" b="1">
                <a:solidFill>
                  <a:srgbClr val="A9E7D7"/>
                </a:solidFill>
                <a:latin typeface="Arial"/>
                <a:ea typeface="Arial"/>
                <a:cs typeface="Arial"/>
              </a:defRPr>
            </a:defPPr>
          </a:lstStyle>
          <a:p xmlns:a="http://schemas.openxmlformats.org/drawingml/2006/main">
            <a:pPr>
              <a:defRPr sz="5700" b="1">
                <a:solidFill>
                  <a:srgbClr val="A9E7D7"/>
                </a:solidFill>
                <a:latin typeface="Arial"/>
                <a:ea typeface="Arial"/>
                <a:cs typeface="Arial"/>
              </a:defRPr>
            </a:pPr>
            <a:r>
              <a:rPr sz="5700" b="1">
                <a:solidFill>
                  <a:srgbClr val="A9E7D7"/>
                </a:solidFill>
                <a:latin typeface="Arial"/>
                <a:ea typeface="Arial"/>
                <a:cs typeface="Arial"/>
              </a:rPr>
              <a:t>24/25</a:t>
            </a:r>
          </a:p>
        </p:txBody>
      </p:sp>
      <p:sp>
        <p:nvSpPr>
          <p:cNvPr id="7" name="">
            <a:extLst xmlns:a="http://schemas.openxmlformats.org/drawingml/2006/main">
              <a:ext uri="{FF2B5EF4-FFF2-40B4-BE49-F238E27FC236}">
                <a16:creationId xmlns:a16="http://schemas.microsoft.com/office/drawing/2014/main" id="{055EFC63-E11E-41DA-976D-DEBCE4F1690E}"/>
              </a:ext>
            </a:extLst>
          </p:cNvPr>
          <p:cNvSpPr>
            <a:spLocks xmlns:a="http://schemas.openxmlformats.org/drawingml/2006/main" noGrp="1"/>
          </p:cNvSpPr>
          <p:nvPr/>
        </p:nvSpPr>
        <p:spPr>
          <a:xfrm xmlns:a="http://schemas.openxmlformats.org/drawingml/2006/main">
            <a:off x="4524375" y="3476625"/>
            <a:ext cx="31908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FFFFF"/>
                </a:solidFill>
                <a:latin typeface="Arial"/>
                <a:ea typeface="Arial"/>
                <a:cs typeface="Arial"/>
              </a:defRPr>
            </a:defPPr>
          </a:lstStyle>
          <a:p xmlns:a="http://schemas.openxmlformats.org/drawingml/2006/main">
            <a:pPr>
              <a:defRPr sz="2175" b="0">
                <a:solidFill>
                  <a:srgbClr val="FFFFFF"/>
                </a:solidFill>
                <a:latin typeface="Arial"/>
                <a:ea typeface="Arial"/>
                <a:cs typeface="Arial"/>
              </a:defRPr>
            </a:pPr>
            <a:r>
              <a:rPr sz="2175" b="0">
                <a:solidFill>
                  <a:srgbClr val="FFFFFF"/>
                </a:solidFill>
                <a:latin typeface="Arial"/>
                <a:ea typeface="Arial"/>
                <a:cs typeface="Arial"/>
              </a:rPr>
              <a:t>supported requests</a:t>
            </a:r>
          </a:p>
          <a:p xmlns:a="http://schemas.openxmlformats.org/drawingml/2006/main">
            <a:pPr>
              <a:defRPr sz="2175" b="0">
                <a:solidFill>
                  <a:srgbClr val="FFFFFF"/>
                </a:solidFill>
                <a:latin typeface="Arial"/>
                <a:ea typeface="Arial"/>
                <a:cs typeface="Arial"/>
              </a:defRPr>
            </a:pPr>
            <a:r>
              <a:rPr sz="2175" b="0">
                <a:solidFill>
                  <a:srgbClr val="FFFFFF"/>
                </a:solidFill>
                <a:latin typeface="Arial"/>
                <a:ea typeface="Arial"/>
                <a:cs typeface="Arial"/>
              </a:rPr>
              <a:t>recognised</a:t>
            </a:r>
          </a:p>
        </p:txBody>
      </p:sp>
      <p:sp>
        <p:nvSpPr>
          <p:cNvPr id="8" name="">
            <a:extLst xmlns:a="http://schemas.openxmlformats.org/drawingml/2006/main">
              <a:ext uri="{FF2B5EF4-FFF2-40B4-BE49-F238E27FC236}">
                <a16:creationId xmlns:a16="http://schemas.microsoft.com/office/drawing/2014/main" id="{0623FAA9-B7C1-46FC-AF76-8DA42503D8A0}"/>
              </a:ext>
            </a:extLst>
          </p:cNvPr>
          <p:cNvSpPr>
            <a:spLocks xmlns:a="http://schemas.openxmlformats.org/drawingml/2006/main" noGrp="1"/>
          </p:cNvSpPr>
          <p:nvPr/>
        </p:nvSpPr>
        <p:spPr>
          <a:xfrm xmlns:a="http://schemas.openxmlformats.org/drawingml/2006/main">
            <a:off x="8382000" y="2133600"/>
            <a:ext cx="31908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700" b="1">
                <a:solidFill>
                  <a:srgbClr val="A9E7D7"/>
                </a:solidFill>
                <a:latin typeface="Arial"/>
                <a:ea typeface="Arial"/>
                <a:cs typeface="Arial"/>
              </a:defRPr>
            </a:defPPr>
          </a:lstStyle>
          <a:p xmlns:a="http://schemas.openxmlformats.org/drawingml/2006/main">
            <a:pPr>
              <a:defRPr sz="5700" b="1">
                <a:solidFill>
                  <a:srgbClr val="A9E7D7"/>
                </a:solidFill>
                <a:latin typeface="Arial"/>
                <a:ea typeface="Arial"/>
                <a:cs typeface="Arial"/>
              </a:defRPr>
            </a:pPr>
            <a:r>
              <a:rPr sz="5700" b="1">
                <a:solidFill>
                  <a:srgbClr val="A9E7D7"/>
                </a:solidFill>
                <a:latin typeface="Arial"/>
                <a:ea typeface="Arial"/>
                <a:cs typeface="Arial"/>
              </a:rPr>
              <a:t>8/8</a:t>
            </a:r>
          </a:p>
        </p:txBody>
      </p:sp>
      <p:sp>
        <p:nvSpPr>
          <p:cNvPr id="9" name="">
            <a:extLst xmlns:a="http://schemas.openxmlformats.org/drawingml/2006/main">
              <a:ext uri="{FF2B5EF4-FFF2-40B4-BE49-F238E27FC236}">
                <a16:creationId xmlns:a16="http://schemas.microsoft.com/office/drawing/2014/main" id="{C9342CEB-F0CD-4995-940B-1D420D12C6B3}"/>
              </a:ext>
            </a:extLst>
          </p:cNvPr>
          <p:cNvSpPr>
            <a:spLocks xmlns:a="http://schemas.openxmlformats.org/drawingml/2006/main" noGrp="1"/>
          </p:cNvSpPr>
          <p:nvPr/>
        </p:nvSpPr>
        <p:spPr>
          <a:xfrm xmlns:a="http://schemas.openxmlformats.org/drawingml/2006/main">
            <a:off x="8382000" y="3476625"/>
            <a:ext cx="31908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FFFFF"/>
                </a:solidFill>
                <a:latin typeface="Arial"/>
                <a:ea typeface="Arial"/>
                <a:cs typeface="Arial"/>
              </a:defRPr>
            </a:defPPr>
          </a:lstStyle>
          <a:p xmlns:a="http://schemas.openxmlformats.org/drawingml/2006/main">
            <a:pPr>
              <a:defRPr sz="2175" b="0">
                <a:solidFill>
                  <a:srgbClr val="FFFFFF"/>
                </a:solidFill>
                <a:latin typeface="Arial"/>
                <a:ea typeface="Arial"/>
                <a:cs typeface="Arial"/>
              </a:defRPr>
            </a:pPr>
            <a:r>
              <a:rPr sz="2175" b="0">
                <a:solidFill>
                  <a:srgbClr val="FFFFFF"/>
                </a:solidFill>
                <a:latin typeface="Arial"/>
                <a:ea typeface="Arial"/>
                <a:cs typeface="Arial"/>
              </a:rPr>
              <a:t>unrelated requests</a:t>
            </a:r>
          </a:p>
          <a:p xmlns:a="http://schemas.openxmlformats.org/drawingml/2006/main">
            <a:pPr>
              <a:defRPr sz="2175" b="0">
                <a:solidFill>
                  <a:srgbClr val="FFFFFF"/>
                </a:solidFill>
                <a:latin typeface="Arial"/>
                <a:ea typeface="Arial"/>
                <a:cs typeface="Arial"/>
              </a:defRPr>
            </a:pPr>
            <a:r>
              <a:rPr sz="2175" b="0">
                <a:solidFill>
                  <a:srgbClr val="FFFFFF"/>
                </a:solidFill>
                <a:latin typeface="Arial"/>
                <a:ea typeface="Arial"/>
                <a:cs typeface="Arial"/>
              </a:rPr>
              <a:t>rejected</a:t>
            </a:r>
          </a:p>
        </p:txBody>
      </p:sp>
    </p:spTree>
    <p:extLst>
      <p:ext uri="{BB962C8B-B14F-4D97-AF65-F5344CB8AC3E}">
        <p14:creationId xmlns:p14="http://schemas.microsoft.com/office/powerpoint/2010/main" val="1377534232"/>
      </p:ext>
    </p:extLst>
  </p:cSld>
</p:sld>
</file>

<file path=ppt/slides/slide19.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AC99541-C539-446A-9C2B-EA234A857BD4}"/>
              </a:ext>
            </a:extLst>
          </p:cNvPr>
          <p:cNvSpPr>
            <a:spLocks xmlns:a="http://schemas.openxmlformats.org/drawingml/2006/main" noGrp="1"/>
          </p:cNvSpPr>
          <p:nvPr/>
        </p:nvSpPr>
        <p:spPr>
          <a:xfrm xmlns:a="http://schemas.openxmlformats.org/drawingml/2006/main">
            <a:off x="609600" y="5238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8324A"/>
                </a:solidFill>
                <a:latin typeface="Arial"/>
                <a:ea typeface="Arial"/>
                <a:cs typeface="Arial"/>
              </a:defRPr>
            </a:defPPr>
          </a:lstStyle>
          <a:p xmlns:a="http://schemas.openxmlformats.org/drawingml/2006/main">
            <a:pPr>
              <a:defRPr sz="3300" b="1">
                <a:solidFill>
                  <a:srgbClr val="18324A"/>
                </a:solidFill>
                <a:latin typeface="Arial"/>
                <a:ea typeface="Arial"/>
                <a:cs typeface="Arial"/>
              </a:defRPr>
            </a:pPr>
            <a:r>
              <a:rPr sz="3300" b="1">
                <a:solidFill>
                  <a:srgbClr val="18324A"/>
                </a:solidFill>
                <a:latin typeface="Arial"/>
                <a:ea typeface="Arial"/>
                <a:cs typeface="Arial"/>
              </a:rPr>
              <a:t>What the current evidence cannot show</a:t>
            </a:r>
          </a:p>
        </p:txBody>
      </p:sp>
      <p:sp>
        <p:nvSpPr>
          <p:cNvPr id="2" name="">
            <a:extLst xmlns:a="http://schemas.openxmlformats.org/drawingml/2006/main">
              <a:ext uri="{FF2B5EF4-FFF2-40B4-BE49-F238E27FC236}">
                <a16:creationId xmlns:a16="http://schemas.microsoft.com/office/drawing/2014/main" id="{73023452-FBDC-45DD-AACD-52AB52CCB34F}"/>
              </a:ext>
            </a:extLst>
          </p:cNvPr>
          <p:cNvSpPr>
            <a:spLocks xmlns:a="http://schemas.openxmlformats.org/drawingml/2006/main" noGrp="1"/>
          </p:cNvSpPr>
          <p:nvPr/>
        </p:nvSpPr>
        <p:spPr>
          <a:xfrm xmlns:a="http://schemas.openxmlformats.org/drawingml/2006/main">
            <a:off x="619125" y="5553075"/>
            <a:ext cx="10906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A future retailer trial would measure stockouts, costs and usability</a:t>
            </a:r>
          </a:p>
        </p:txBody>
      </p:sp>
      <p:sp>
        <p:nvSpPr>
          <p:cNvPr id="3" name="">
            <a:extLst xmlns:a="http://schemas.openxmlformats.org/drawingml/2006/main">
              <a:ext uri="{FF2B5EF4-FFF2-40B4-BE49-F238E27FC236}">
                <a16:creationId xmlns:a16="http://schemas.microsoft.com/office/drawing/2014/main" id="{908B1F4D-21E8-4601-B37B-3FB9C72304FC}"/>
              </a:ext>
            </a:extLst>
          </p:cNvPr>
          <p:cNvSpPr>
            <a:spLocks xmlns:a="http://schemas.openxmlformats.org/drawingml/2006/main" noGrp="1"/>
          </p:cNvSpPr>
          <p:nvPr/>
        </p:nvSpPr>
        <p:spPr>
          <a:xfrm xmlns:a="http://schemas.openxmlformats.org/drawingml/2006/main">
            <a:off x="619125" y="64198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536A78"/>
                </a:solidFill>
                <a:latin typeface="Arial"/>
                <a:ea typeface="Arial"/>
                <a:cs typeface="Arial"/>
              </a:defRPr>
            </a:defPPr>
          </a:lstStyle>
          <a:p xmlns:a="http://schemas.openxmlformats.org/drawingml/2006/main">
            <a:pPr>
              <a:defRPr sz="1050" b="0">
                <a:solidFill>
                  <a:srgbClr val="536A78"/>
                </a:solidFill>
                <a:latin typeface="Arial"/>
                <a:ea typeface="Arial"/>
                <a:cs typeface="Arial"/>
              </a:defRPr>
            </a:pPr>
            <a:r>
              <a:rPr sz="1050" b="0">
                <a:solidFill>
                  <a:srgbClr val="536A78"/>
                </a:solidFill>
                <a:latin typeface="Arial"/>
                <a:ea typeface="Arial"/>
                <a:cs typeface="Arial"/>
              </a:rPr>
              <a:t>StockSense AI     19</a:t>
            </a:r>
          </a:p>
        </p:txBody>
      </p:sp>
      <p:sp>
        <p:nvSpPr>
          <p:cNvPr id="4" name="">
            <a:extLst xmlns:a="http://schemas.openxmlformats.org/drawingml/2006/main">
              <a:ext uri="{FF2B5EF4-FFF2-40B4-BE49-F238E27FC236}">
                <a16:creationId xmlns:a16="http://schemas.microsoft.com/office/drawing/2014/main" id="{B4DB17E8-9C96-494C-8F55-FE2CE3F33417}"/>
              </a:ext>
            </a:extLst>
          </p:cNvPr>
          <p:cNvSpPr>
            <a:spLocks xmlns:a="http://schemas.openxmlformats.org/drawingml/2006/main" noGrp="1"/>
          </p:cNvSpPr>
          <p:nvPr/>
        </p:nvSpPr>
        <p:spPr>
          <a:xfrm xmlns:a="http://schemas.openxmlformats.org/drawingml/2006/main">
            <a:off x="647700" y="1828800"/>
            <a:ext cx="107442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8324A"/>
                </a:solidFill>
                <a:latin typeface="Arial"/>
                <a:ea typeface="Arial"/>
                <a:cs typeface="Arial"/>
              </a:defRPr>
            </a:defPPr>
          </a:lstStyle>
          <a:p xmlns:a="http://schemas.openxmlformats.org/drawingml/2006/main">
            <a:pPr>
              <a:defRPr sz="2250" b="0">
                <a:solidFill>
                  <a:srgbClr val="18324A"/>
                </a:solidFill>
                <a:latin typeface="Arial"/>
                <a:ea typeface="Arial"/>
                <a:cs typeface="Arial"/>
              </a:defRPr>
            </a:pPr>
            <a:r>
              <a:rPr sz="2250" b="0">
                <a:solidFill>
                  <a:srgbClr val="18324A"/>
                </a:solidFill>
                <a:latin typeface="Arial"/>
                <a:ea typeface="Arial"/>
                <a:cs typeface="Arial"/>
              </a:rPr>
              <a:t>The data is historical and the product names are unknown.</a:t>
            </a:r>
          </a:p>
        </p:txBody>
      </p:sp>
      <p:sp>
        <p:nvSpPr>
          <p:cNvPr id="5" name="">
            <a:extLst xmlns:a="http://schemas.openxmlformats.org/drawingml/2006/main">
              <a:ext uri="{FF2B5EF4-FFF2-40B4-BE49-F238E27FC236}">
                <a16:creationId xmlns:a16="http://schemas.microsoft.com/office/drawing/2014/main" id="{9FD97E70-690B-43D7-A47C-221E5B69B536}"/>
              </a:ext>
            </a:extLst>
          </p:cNvPr>
          <p:cNvSpPr>
            <a:spLocks xmlns:a="http://schemas.openxmlformats.org/drawingml/2006/main" noGrp="1"/>
          </p:cNvSpPr>
          <p:nvPr/>
        </p:nvSpPr>
        <p:spPr>
          <a:xfrm xmlns:a="http://schemas.openxmlformats.org/drawingml/2006/main">
            <a:off x="647700" y="2695575"/>
            <a:ext cx="107442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8324A"/>
                </a:solidFill>
                <a:latin typeface="Arial"/>
                <a:ea typeface="Arial"/>
                <a:cs typeface="Arial"/>
              </a:defRPr>
            </a:defPPr>
          </a:lstStyle>
          <a:p xmlns:a="http://schemas.openxmlformats.org/drawingml/2006/main">
            <a:pPr>
              <a:defRPr sz="2250" b="0">
                <a:solidFill>
                  <a:srgbClr val="18324A"/>
                </a:solidFill>
                <a:latin typeface="Arial"/>
                <a:ea typeface="Arial"/>
                <a:cs typeface="Arial"/>
              </a:defRPr>
            </a:pPr>
            <a:r>
              <a:rPr sz="2250" b="0">
                <a:solidFill>
                  <a:srgbClr val="18324A"/>
                </a:solidFill>
                <a:latin typeface="Arial"/>
                <a:ea typeface="Arial"/>
                <a:cs typeface="Arial"/>
              </a:rPr>
              <a:t>Stock levels and delivery values come from user inputs.</a:t>
            </a:r>
          </a:p>
        </p:txBody>
      </p:sp>
      <p:sp>
        <p:nvSpPr>
          <p:cNvPr id="6" name="">
            <a:extLst xmlns:a="http://schemas.openxmlformats.org/drawingml/2006/main">
              <a:ext uri="{FF2B5EF4-FFF2-40B4-BE49-F238E27FC236}">
                <a16:creationId xmlns:a16="http://schemas.microsoft.com/office/drawing/2014/main" id="{6D18119B-0C72-4D3A-BD33-85AF48470286}"/>
              </a:ext>
            </a:extLst>
          </p:cNvPr>
          <p:cNvSpPr>
            <a:spLocks xmlns:a="http://schemas.openxmlformats.org/drawingml/2006/main" noGrp="1"/>
          </p:cNvSpPr>
          <p:nvPr/>
        </p:nvSpPr>
        <p:spPr>
          <a:xfrm xmlns:a="http://schemas.openxmlformats.org/drawingml/2006/main">
            <a:off x="647700" y="3562350"/>
            <a:ext cx="107442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8324A"/>
                </a:solidFill>
                <a:latin typeface="Arial"/>
                <a:ea typeface="Arial"/>
                <a:cs typeface="Arial"/>
              </a:defRPr>
            </a:defPPr>
          </a:lstStyle>
          <a:p xmlns:a="http://schemas.openxmlformats.org/drawingml/2006/main">
            <a:pPr>
              <a:defRPr sz="2250" b="0">
                <a:solidFill>
                  <a:srgbClr val="18324A"/>
                </a:solidFill>
                <a:latin typeface="Arial"/>
                <a:ea typeface="Arial"/>
                <a:cs typeface="Arial"/>
              </a:defRPr>
            </a:pPr>
            <a:r>
              <a:rPr sz="2250" b="0">
                <a:solidFill>
                  <a:srgbClr val="18324A"/>
                </a:solidFill>
                <a:latin typeface="Arial"/>
                <a:ea typeface="Arial"/>
                <a:cs typeface="Arial"/>
              </a:rPr>
              <a:t>January 2018 forecast outcomes are unavailable.</a:t>
            </a:r>
          </a:p>
        </p:txBody>
      </p:sp>
      <p:sp>
        <p:nvSpPr>
          <p:cNvPr id="7" name="">
            <a:extLst xmlns:a="http://schemas.openxmlformats.org/drawingml/2006/main">
              <a:ext uri="{FF2B5EF4-FFF2-40B4-BE49-F238E27FC236}">
                <a16:creationId xmlns:a16="http://schemas.microsoft.com/office/drawing/2014/main" id="{F948348D-E7EB-4897-BCE6-9B74FDCE0308}"/>
              </a:ext>
            </a:extLst>
          </p:cNvPr>
          <p:cNvSpPr>
            <a:spLocks xmlns:a="http://schemas.openxmlformats.org/drawingml/2006/main" noGrp="1"/>
          </p:cNvSpPr>
          <p:nvPr/>
        </p:nvSpPr>
        <p:spPr>
          <a:xfrm xmlns:a="http://schemas.openxmlformats.org/drawingml/2006/main">
            <a:off x="647700" y="4429125"/>
            <a:ext cx="107442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8324A"/>
                </a:solidFill>
                <a:latin typeface="Arial"/>
                <a:ea typeface="Arial"/>
                <a:cs typeface="Arial"/>
              </a:defRPr>
            </a:defPPr>
          </a:lstStyle>
          <a:p xmlns:a="http://schemas.openxmlformats.org/drawingml/2006/main">
            <a:pPr>
              <a:defRPr sz="2250" b="0">
                <a:solidFill>
                  <a:srgbClr val="18324A"/>
                </a:solidFill>
                <a:latin typeface="Arial"/>
                <a:ea typeface="Arial"/>
                <a:cs typeface="Arial"/>
              </a:defRPr>
            </a:pPr>
            <a:r>
              <a:rPr sz="2250" b="0">
                <a:solidFill>
                  <a:srgbClr val="18324A"/>
                </a:solidFill>
                <a:latin typeface="Arial"/>
                <a:ea typeface="Arial"/>
                <a:cs typeface="Arial"/>
              </a:rPr>
              <a:t>Real savings and stockout reductions have not been measured.</a:t>
            </a:r>
          </a:p>
        </p:txBody>
      </p:sp>
    </p:spTree>
    <p:extLst>
      <p:ext uri="{BB962C8B-B14F-4D97-AF65-F5344CB8AC3E}">
        <p14:creationId xmlns:p14="http://schemas.microsoft.com/office/powerpoint/2010/main" val="375985151"/>
      </p:ext>
    </p:extLst>
  </p:cSld>
</p:sld>
</file>

<file path=ppt/slides/slide20.xml><?xml version="1.0" encoding="utf-8"?>
<p:sld xmlns:p="http://schemas.openxmlformats.org/presentationml/2006/main">
  <p:cSld>
    <p:bg>
      <p:bgPr>
        <a:solidFill xmlns:a="http://schemas.openxmlformats.org/drawingml/2006/main">
          <a:srgbClr val="11263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8B3E827-C309-4543-A854-AA4B67D2E5FF}"/>
              </a:ext>
            </a:extLst>
          </p:cNvPr>
          <p:cNvSpPr>
            <a:spLocks xmlns:a="http://schemas.openxmlformats.org/drawingml/2006/main" noGrp="1"/>
          </p:cNvSpPr>
          <p:nvPr/>
        </p:nvSpPr>
        <p:spPr>
          <a:xfrm xmlns:a="http://schemas.openxmlformats.org/drawingml/2006/main">
            <a:off x="609600" y="5238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FFFFFF"/>
                </a:solidFill>
                <a:latin typeface="Arial"/>
                <a:ea typeface="Arial"/>
                <a:cs typeface="Arial"/>
              </a:defRPr>
            </a:defPPr>
          </a:lstStyle>
          <a:p xmlns:a="http://schemas.openxmlformats.org/drawingml/2006/main">
            <a:pPr>
              <a:defRPr sz="3300" b="1">
                <a:solidFill>
                  <a:srgbClr val="FFFFFF"/>
                </a:solidFill>
                <a:latin typeface="Arial"/>
                <a:ea typeface="Arial"/>
                <a:cs typeface="Arial"/>
              </a:defRPr>
            </a:pPr>
            <a:r>
              <a:rPr sz="3300" b="1">
                <a:solidFill>
                  <a:srgbClr val="FFFFFF"/>
                </a:solidFill>
                <a:latin typeface="Arial"/>
                <a:ea typeface="Arial"/>
                <a:cs typeface="Arial"/>
              </a:rPr>
              <a:t>Conclusion and questions</a:t>
            </a:r>
          </a:p>
        </p:txBody>
      </p:sp>
      <p:sp>
        <p:nvSpPr>
          <p:cNvPr id="2" name="">
            <a:extLst xmlns:a="http://schemas.openxmlformats.org/drawingml/2006/main">
              <a:ext uri="{FF2B5EF4-FFF2-40B4-BE49-F238E27FC236}">
                <a16:creationId xmlns:a16="http://schemas.microsoft.com/office/drawing/2014/main" id="{1EB3A48B-30C0-4A1E-BBFF-20BE6C0892D7}"/>
              </a:ext>
            </a:extLst>
          </p:cNvPr>
          <p:cNvSpPr>
            <a:spLocks xmlns:a="http://schemas.openxmlformats.org/drawingml/2006/main" noGrp="1"/>
          </p:cNvSpPr>
          <p:nvPr/>
        </p:nvSpPr>
        <p:spPr>
          <a:xfrm xmlns:a="http://schemas.openxmlformats.org/drawingml/2006/main">
            <a:off x="619125" y="5553075"/>
            <a:ext cx="10906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A9E7D7"/>
                </a:solidFill>
                <a:latin typeface="Arial"/>
                <a:ea typeface="Arial"/>
                <a:cs typeface="Arial"/>
              </a:defRPr>
            </a:defPPr>
          </a:lstStyle>
          <a:p xmlns:a="http://schemas.openxmlformats.org/drawingml/2006/main">
            <a:pPr>
              <a:defRPr sz="1875" b="1">
                <a:solidFill>
                  <a:srgbClr val="A9E7D7"/>
                </a:solidFill>
                <a:latin typeface="Arial"/>
                <a:ea typeface="Arial"/>
                <a:cs typeface="Arial"/>
              </a:defRPr>
            </a:pPr>
            <a:r>
              <a:rPr sz="1875" b="1">
                <a:solidFill>
                  <a:srgbClr val="A9E7D7"/>
                </a:solidFill>
                <a:latin typeface="Arial"/>
                <a:ea typeface="Arial"/>
                <a:cs typeface="Arial"/>
              </a:rPr>
              <a:t>Questions</a:t>
            </a:r>
          </a:p>
        </p:txBody>
      </p:sp>
      <p:sp>
        <p:nvSpPr>
          <p:cNvPr id="3" name="">
            <a:extLst xmlns:a="http://schemas.openxmlformats.org/drawingml/2006/main">
              <a:ext uri="{FF2B5EF4-FFF2-40B4-BE49-F238E27FC236}">
                <a16:creationId xmlns:a16="http://schemas.microsoft.com/office/drawing/2014/main" id="{5403BD46-3109-4827-A9FE-65745E8DA837}"/>
              </a:ext>
            </a:extLst>
          </p:cNvPr>
          <p:cNvSpPr>
            <a:spLocks xmlns:a="http://schemas.openxmlformats.org/drawingml/2006/main" noGrp="1"/>
          </p:cNvSpPr>
          <p:nvPr/>
        </p:nvSpPr>
        <p:spPr>
          <a:xfrm xmlns:a="http://schemas.openxmlformats.org/drawingml/2006/main">
            <a:off x="619125" y="64198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A9E7D7"/>
                </a:solidFill>
                <a:latin typeface="Arial"/>
                <a:ea typeface="Arial"/>
                <a:cs typeface="Arial"/>
              </a:defRPr>
            </a:defPPr>
          </a:lstStyle>
          <a:p xmlns:a="http://schemas.openxmlformats.org/drawingml/2006/main">
            <a:pPr>
              <a:defRPr sz="1050" b="0">
                <a:solidFill>
                  <a:srgbClr val="A9E7D7"/>
                </a:solidFill>
                <a:latin typeface="Arial"/>
                <a:ea typeface="Arial"/>
                <a:cs typeface="Arial"/>
              </a:defRPr>
            </a:pPr>
            <a:r>
              <a:rPr sz="1050" b="0">
                <a:solidFill>
                  <a:srgbClr val="A9E7D7"/>
                </a:solidFill>
                <a:latin typeface="Arial"/>
                <a:ea typeface="Arial"/>
                <a:cs typeface="Arial"/>
              </a:rPr>
              <a:t>StockSense AI     20</a:t>
            </a:r>
          </a:p>
        </p:txBody>
      </p:sp>
      <p:sp>
        <p:nvSpPr>
          <p:cNvPr id="4" name="">
            <a:extLst xmlns:a="http://schemas.openxmlformats.org/drawingml/2006/main">
              <a:ext uri="{FF2B5EF4-FFF2-40B4-BE49-F238E27FC236}">
                <a16:creationId xmlns:a16="http://schemas.microsoft.com/office/drawing/2014/main" id="{A8EE5CFD-6FAE-4421-AF3E-0D01663F3BA0}"/>
              </a:ext>
            </a:extLst>
          </p:cNvPr>
          <p:cNvSpPr>
            <a:spLocks xmlns:a="http://schemas.openxmlformats.org/drawingml/2006/main" noGrp="1"/>
          </p:cNvSpPr>
          <p:nvPr/>
        </p:nvSpPr>
        <p:spPr>
          <a:xfrm xmlns:a="http://schemas.openxmlformats.org/drawingml/2006/main">
            <a:off x="647700" y="2047875"/>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FFFFFF"/>
                </a:solidFill>
                <a:latin typeface="Arial"/>
                <a:ea typeface="Arial"/>
                <a:cs typeface="Arial"/>
              </a:defRPr>
            </a:defPPr>
          </a:lstStyle>
          <a:p xmlns:a="http://schemas.openxmlformats.org/drawingml/2006/main">
            <a:pPr>
              <a:defRPr sz="2550" b="0">
                <a:solidFill>
                  <a:srgbClr val="FFFFFF"/>
                </a:solidFill>
                <a:latin typeface="Arial"/>
                <a:ea typeface="Arial"/>
                <a:cs typeface="Arial"/>
              </a:defRPr>
            </a:pPr>
            <a:r>
              <a:rPr sz="2550" b="0">
                <a:solidFill>
                  <a:srgbClr val="FFFFFF"/>
                </a:solidFill>
                <a:latin typeface="Arial"/>
                <a:ea typeface="Arial"/>
                <a:cs typeface="Arial"/>
              </a:rPr>
              <a:t>Random forest achieved 23.3% lower daily MAE than the benchmark.</a:t>
            </a:r>
          </a:p>
        </p:txBody>
      </p:sp>
      <p:sp>
        <p:nvSpPr>
          <p:cNvPr id="5" name="">
            <a:extLst xmlns:a="http://schemas.openxmlformats.org/drawingml/2006/main">
              <a:ext uri="{FF2B5EF4-FFF2-40B4-BE49-F238E27FC236}">
                <a16:creationId xmlns:a16="http://schemas.microsoft.com/office/drawing/2014/main" id="{ADF47BE4-C9D2-45B9-94AE-C530EC2E3987}"/>
              </a:ext>
            </a:extLst>
          </p:cNvPr>
          <p:cNvSpPr>
            <a:spLocks xmlns:a="http://schemas.openxmlformats.org/drawingml/2006/main" noGrp="1"/>
          </p:cNvSpPr>
          <p:nvPr/>
        </p:nvSpPr>
        <p:spPr>
          <a:xfrm xmlns:a="http://schemas.openxmlformats.org/drawingml/2006/main">
            <a:off x="647700" y="3114675"/>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FFFFFF"/>
                </a:solidFill>
                <a:latin typeface="Arial"/>
                <a:ea typeface="Arial"/>
                <a:cs typeface="Arial"/>
              </a:defRPr>
            </a:defPPr>
          </a:lstStyle>
          <a:p xmlns:a="http://schemas.openxmlformats.org/drawingml/2006/main">
            <a:pPr>
              <a:defRPr sz="2550" b="0">
                <a:solidFill>
                  <a:srgbClr val="FFFFFF"/>
                </a:solidFill>
                <a:latin typeface="Arial"/>
                <a:ea typeface="Arial"/>
                <a:cs typeface="Arial"/>
              </a:defRPr>
            </a:pPr>
            <a:r>
              <a:rPr sz="2550" b="0">
                <a:solidFill>
                  <a:srgbClr val="FFFFFF"/>
                </a:solidFill>
                <a:latin typeface="Arial"/>
                <a:ea typeface="Arial"/>
                <a:cs typeface="Arial"/>
              </a:rPr>
              <a:t>The stock suggestion shows how each input affects the order.</a:t>
            </a:r>
          </a:p>
        </p:txBody>
      </p:sp>
      <p:sp>
        <p:nvSpPr>
          <p:cNvPr id="6" name="">
            <a:extLst xmlns:a="http://schemas.openxmlformats.org/drawingml/2006/main">
              <a:ext uri="{FF2B5EF4-FFF2-40B4-BE49-F238E27FC236}">
                <a16:creationId xmlns:a16="http://schemas.microsoft.com/office/drawing/2014/main" id="{99EADCD5-BF43-4918-92EE-5024033C62F0}"/>
              </a:ext>
            </a:extLst>
          </p:cNvPr>
          <p:cNvSpPr>
            <a:spLocks xmlns:a="http://schemas.openxmlformats.org/drawingml/2006/main" noGrp="1"/>
          </p:cNvSpPr>
          <p:nvPr/>
        </p:nvSpPr>
        <p:spPr>
          <a:xfrm xmlns:a="http://schemas.openxmlformats.org/drawingml/2006/main">
            <a:off x="647700" y="4181475"/>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FFFFFF"/>
                </a:solidFill>
                <a:latin typeface="Arial"/>
                <a:ea typeface="Arial"/>
                <a:cs typeface="Arial"/>
              </a:defRPr>
            </a:defPPr>
          </a:lstStyle>
          <a:p xmlns:a="http://schemas.openxmlformats.org/drawingml/2006/main">
            <a:pPr>
              <a:defRPr sz="2550" b="0">
                <a:solidFill>
                  <a:srgbClr val="FFFFFF"/>
                </a:solidFill>
                <a:latin typeface="Arial"/>
                <a:ea typeface="Arial"/>
                <a:cs typeface="Arial"/>
              </a:defRPr>
            </a:pPr>
            <a:r>
              <a:rPr sz="2550" b="0">
                <a:solidFill>
                  <a:srgbClr val="FFFFFF"/>
                </a:solidFill>
                <a:latin typeface="Arial"/>
                <a:ea typeface="Arial"/>
                <a:cs typeface="Arial"/>
              </a:rPr>
              <a:t>The web app and terminal assistant make the results accessible.</a:t>
            </a:r>
          </a:p>
        </p:txBody>
      </p:sp>
    </p:spTree>
    <p:extLst>
      <p:ext uri="{BB962C8B-B14F-4D97-AF65-F5344CB8AC3E}">
        <p14:creationId xmlns:p14="http://schemas.microsoft.com/office/powerpoint/2010/main" val="208085156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2026-10-16T13:51:28.4730000Z</dcterms:created>
  <dcterms:modified xsi:type="dcterms:W3CDTF">2026-10-16T13:51:28.4730000Z</dcterms:modified>
</coreProperties>
</file>