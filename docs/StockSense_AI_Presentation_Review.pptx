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6d10eec2c4773" /><Relationship Type="http://schemas.openxmlformats.org/officeDocument/2006/relationships/extended-properties" Target="/docProps/app.xml" Id="Rcd5c6b5c5fe64573" /><Relationship Type="http://schemas.openxmlformats.org/officeDocument/2006/relationships/officeDocument" Target="/ppt/presentation.xml" Id="R7c65c49f35d2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1154f5b5d84181"/>
  </p:sldMasterIdLst>
  <p:notesMasterIdLst>
    <p:notesMasterId xmlns:r="http://schemas.openxmlformats.org/officeDocument/2006/relationships" r:id="R4ba4671598e8442e"/>
  </p:notesMasterIdLst>
  <p:sldIdLst>
    <p:sldId xmlns:r="http://schemas.openxmlformats.org/officeDocument/2006/relationships" id="256" r:id="Re9f81e83f0e344ac"/>
    <p:sldId xmlns:r="http://schemas.openxmlformats.org/officeDocument/2006/relationships" id="257" r:id="Rc5383c1bdf574d61"/>
    <p:sldId xmlns:r="http://schemas.openxmlformats.org/officeDocument/2006/relationships" id="258" r:id="R44549dfb05de4edc"/>
    <p:sldId xmlns:r="http://schemas.openxmlformats.org/officeDocument/2006/relationships" id="259" r:id="R8e6a36b35f194d65"/>
    <p:sldId xmlns:r="http://schemas.openxmlformats.org/officeDocument/2006/relationships" id="260" r:id="Rb5da6b72550b4c8a"/>
    <p:sldId xmlns:r="http://schemas.openxmlformats.org/officeDocument/2006/relationships" id="261" r:id="R731d4df3c1274c61"/>
    <p:sldId xmlns:r="http://schemas.openxmlformats.org/officeDocument/2006/relationships" id="262" r:id="R8433b1283d924878"/>
    <p:sldId xmlns:r="http://schemas.openxmlformats.org/officeDocument/2006/relationships" id="263" r:id="R8ca97a6a19db4c5c"/>
    <p:sldId xmlns:r="http://schemas.openxmlformats.org/officeDocument/2006/relationships" id="264" r:id="R7422c9040c6b4067"/>
    <p:sldId xmlns:r="http://schemas.openxmlformats.org/officeDocument/2006/relationships" id="265" r:id="R7510e3cb8dc64086"/>
    <p:sldId xmlns:r="http://schemas.openxmlformats.org/officeDocument/2006/relationships" id="266" r:id="R9411cef8bb7d4600"/>
    <p:sldId xmlns:r="http://schemas.openxmlformats.org/officeDocument/2006/relationships" id="267" r:id="Rb087fc7485b74afa"/>
    <p:sldId xmlns:r="http://schemas.openxmlformats.org/officeDocument/2006/relationships" id="268" r:id="R9936eed42c534650"/>
    <p:sldId xmlns:r="http://schemas.openxmlformats.org/officeDocument/2006/relationships" id="269" r:id="Ree4bf01160624d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43d65f1c248b4" /><Relationship Type="http://schemas.openxmlformats.org/officeDocument/2006/relationships/slideMaster" Target="/ppt/slideMasters/slideMaster1.xml" Id="R101154f5b5d84181" /><Relationship Type="http://schemas.openxmlformats.org/officeDocument/2006/relationships/notesMaster" Target="/ppt/notesMasters/notesMaster1.xml" Id="R4ba4671598e8442e" /><Relationship Type="http://schemas.openxmlformats.org/officeDocument/2006/relationships/presProps" Target="/ppt/presProps.xml" Id="R3cd685b73e2a4164" /><Relationship Type="http://schemas.openxmlformats.org/officeDocument/2006/relationships/tableStyles" Target="/ppt/tableStyles.xml" Id="R2b4e285573bc4e77" /><Relationship Type="http://schemas.openxmlformats.org/officeDocument/2006/relationships/slide" Target="/ppt/slides/slide1.xml" Id="Re9f81e83f0e344ac" /><Relationship Type="http://schemas.openxmlformats.org/officeDocument/2006/relationships/slide" Target="/ppt/slides/slide2.xml" Id="Rc5383c1bdf574d61" /><Relationship Type="http://schemas.openxmlformats.org/officeDocument/2006/relationships/slide" Target="/ppt/slides/slide3.xml" Id="R44549dfb05de4edc" /><Relationship Type="http://schemas.openxmlformats.org/officeDocument/2006/relationships/slide" Target="/ppt/slides/slide4.xml" Id="R8e6a36b35f194d65" /><Relationship Type="http://schemas.openxmlformats.org/officeDocument/2006/relationships/slide" Target="/ppt/slides/slide5.xml" Id="Rb5da6b72550b4c8a" /><Relationship Type="http://schemas.openxmlformats.org/officeDocument/2006/relationships/slide" Target="/ppt/slides/slide6.xml" Id="R731d4df3c1274c61" /><Relationship Type="http://schemas.openxmlformats.org/officeDocument/2006/relationships/slide" Target="/ppt/slides/slide7.xml" Id="R8433b1283d924878" /><Relationship Type="http://schemas.openxmlformats.org/officeDocument/2006/relationships/slide" Target="/ppt/slides/slide8.xml" Id="R8ca97a6a19db4c5c" /><Relationship Type="http://schemas.openxmlformats.org/officeDocument/2006/relationships/slide" Target="/ppt/slides/slide9.xml" Id="R7422c9040c6b4067" /><Relationship Type="http://schemas.openxmlformats.org/officeDocument/2006/relationships/slide" Target="/ppt/slides/slide10.xml" Id="R7510e3cb8dc64086" /><Relationship Type="http://schemas.openxmlformats.org/officeDocument/2006/relationships/slide" Target="/ppt/slides/slide11.xml" Id="R9411cef8bb7d4600" /><Relationship Type="http://schemas.openxmlformats.org/officeDocument/2006/relationships/slide" Target="/ppt/slides/slide12.xml" Id="Rb087fc7485b74afa" /><Relationship Type="http://schemas.openxmlformats.org/officeDocument/2006/relationships/slide" Target="/ppt/slides/slide13.xml" Id="R9936eed42c534650" /><Relationship Type="http://schemas.openxmlformats.org/officeDocument/2006/relationships/slide" Target="/ppt/slides/slide14.xml" Id="Ree4bf0116062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bec3791d5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15a1a43814c3d" /><Relationship Type="http://schemas.openxmlformats.org/officeDocument/2006/relationships/notesMaster" Target="/ppt/notesMasters/notesMaster1.xml" Id="Rce390b1c1180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5102dfb8e4bac" /><Relationship Type="http://schemas.openxmlformats.org/officeDocument/2006/relationships/notesMaster" Target="/ppt/notesMasters/notesMaster1.xml" Id="R957b823684954c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6a15e521d4545" /><Relationship Type="http://schemas.openxmlformats.org/officeDocument/2006/relationships/notesMaster" Target="/ppt/notesMasters/notesMaster1.xml" Id="R32bddf10382c4f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bf896aa26462c" /><Relationship Type="http://schemas.openxmlformats.org/officeDocument/2006/relationships/notesMaster" Target="/ppt/notesMasters/notesMaster1.xml" Id="R567b079438d2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e1af49a48c40b7" /><Relationship Type="http://schemas.openxmlformats.org/officeDocument/2006/relationships/notesMaster" Target="/ppt/notesMasters/notesMaster1.xml" Id="R31357fa4d689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ed24210cf0412e" /><Relationship Type="http://schemas.openxmlformats.org/officeDocument/2006/relationships/notesMaster" Target="/ppt/notesMasters/notesMaster1.xml" Id="Ra3bc1a6631e443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60236ca52c44d8" /><Relationship Type="http://schemas.openxmlformats.org/officeDocument/2006/relationships/notesMaster" Target="/ppt/notesMasters/notesMaster1.xml" Id="Rb2563f1cb04240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69b05f701e4f5a" /><Relationship Type="http://schemas.openxmlformats.org/officeDocument/2006/relationships/notesMaster" Target="/ppt/notesMasters/notesMaster1.xml" Id="R2607272360ef47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84bd46a46b48d9" /><Relationship Type="http://schemas.openxmlformats.org/officeDocument/2006/relationships/notesMaster" Target="/ppt/notesMasters/notesMaster1.xml" Id="R51277fd17d2f4f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595c00f774dfc" /><Relationship Type="http://schemas.openxmlformats.org/officeDocument/2006/relationships/notesMaster" Target="/ppt/notesMasters/notesMaster1.xml" Id="R1a0348e0f81f45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2f5bb9442e44e7" /><Relationship Type="http://schemas.openxmlformats.org/officeDocument/2006/relationships/notesMaster" Target="/ppt/notesMasters/notesMaster1.xml" Id="R976682ccd8a34c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deea11c214331" /><Relationship Type="http://schemas.openxmlformats.org/officeDocument/2006/relationships/notesMaster" Target="/ppt/notesMasters/notesMaster1.xml" Id="R062b915c81714d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102527cf3f4856" /><Relationship Type="http://schemas.openxmlformats.org/officeDocument/2006/relationships/notesMaster" Target="/ppt/notesMasters/notesMaster1.xml" Id="Rfe3bdba8e67845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feede58cb14e19" /><Relationship Type="http://schemas.openxmlformats.org/officeDocument/2006/relationships/notesMaster" Target="/ppt/notesMasters/notesMaster1.xml" Id="R3eadd4b72ee34d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Morris. About 30 seconds. Introduce StockSense AI and the fictional retailer.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Zama. About 90 seconds. The business process is assumed for a fictional retailer. No real savings have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Senamile. About 90 seconds. Explain the five anonymous products and the historical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Mick. About 90 seconds. Source: Kaggle Store Item Demand Forecasting Challenge, https://www.kaggle.com/competitions/demand-forecasting-kernels-only/data. The raw file was audited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Percy. About 60 seconds. Both charts use Store 1, Item 1–5 and 2013–2016 only. Data source: Kaggle Store Item Demand Forecasting Challenge. Explain that pattern does not prove its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Neo. About 90 seconds. Each method is scored on the same 52 weeks per item. We selected using 2016, then froze the choice before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Ungakimi. About 60 seconds. Daily MAE: benchmark 6.320, LSTM 5.439, random forest 4.911. Lower is better. Source: frozen local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Ungakimi. About 90 seconds. Daily MAE: benchmark 6.273, LSTM 5.411, random forest 4.812. Weekly-total MAE: benchmark 18.427, random forest 17.973, LSTM 17.343. The 23.3% is a relative daily MAE reduction, not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Neo. About 90 seconds. The model has 28 sales inputs, one 16-unit LSTM layer and seven outputs. It did not win the selected daily error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Morris. About 90 seconds. Demonstration input for Product 1: 50 available, 0 outstanding, two-day lead, three-day review, 10 buffer. First-five-day forecast 77.52. Target 87.52. Order ceiling(87.52 minus 50)=38. Stock data is entered manually.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Sibongiseni. About 90 seconds. TF-IDF and logistic regression classify five intents. Answers retrieve saved forecast or stock objects. Another item uses its own forecast; stock answer needs fresh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speakers: Buhle and Wandile. About 90 seconds. Office copy passed all 79 tests on 16 October 2026, with no skips. Earlier personal-PC rehearsal passed 45 tests. Assistant fresh check: 24/25 supported, 8/8 unrelated rejected. Human usability review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speakers: Sibongiseni and Morris. About three minutes. Select Product 1, show seven dated forecasts, calculate the 38-unit example, ask about another product, show comparisons. If live app fails use screenshot and backup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speaker: Senamile. About 60 seconds, then five minutes of questions. Random forest had the lowest daily test error. LSTM had the lowest weekly-total error. No real savings or January 2018 accuracy have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c3f1812f540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5c70456054b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b4917b3dc49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2038be73d4a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c7464a09f4b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3a9c92b18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76197B-CA47-44AC-82B4-48CBE2277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3958C4-6C80-4EA8-9D18-879B958302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70EC83-DBDF-460B-9797-5984F577C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1E4AF9-DDC7-4FEF-B15B-2A40C9CD5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16ED3F-0B32-4389-99C2-FC55406E7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C1FB9F-DEA2-4983-AAAD-43770A5A3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D83889-080F-4009-A71C-A7B6C9701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A6555E-55C2-4DCC-ABC9-34F91F9003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C424F3-0825-4CFA-B3D9-6AEE490FC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DAC8C7-3DEE-4910-83F3-46656C1A7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255073ec240d4" /><Relationship Type="http://schemas.openxmlformats.org/officeDocument/2006/relationships/slideLayout" Target="/ppt/slideLayouts/slideLayout1.xml" Id="Rf386b9e1a2a54981" /><Relationship Type="http://schemas.openxmlformats.org/officeDocument/2006/relationships/slideLayout" Target="/ppt/slideLayouts/slideLayout2.xml" Id="Rb0a7a8d1569848f1" /><Relationship Type="http://schemas.openxmlformats.org/officeDocument/2006/relationships/slideLayout" Target="/ppt/slideLayouts/slideLayout3.xml" Id="R6a30389fb1574322" /><Relationship Type="http://schemas.openxmlformats.org/officeDocument/2006/relationships/slideLayout" Target="/ppt/slideLayouts/slideLayout4.xml" Id="R3f3bbfe34204413d" /><Relationship Type="http://schemas.openxmlformats.org/officeDocument/2006/relationships/slideLayout" Target="/ppt/slideLayouts/slideLayout5.xml" Id="Re35c447399a34a7c" /><Relationship Type="http://schemas.openxmlformats.org/officeDocument/2006/relationships/slideLayout" Target="/ppt/slideLayouts/slideLayout6.xml" Id="R1f435da037664d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6b9e1a2a54981"/>
    <p:sldLayoutId xmlns:r="http://schemas.openxmlformats.org/officeDocument/2006/relationships" id="2147483650" r:id="Rb0a7a8d1569848f1"/>
    <p:sldLayoutId xmlns:r="http://schemas.openxmlformats.org/officeDocument/2006/relationships" id="2147483651" r:id="R6a30389fb1574322"/>
    <p:sldLayoutId xmlns:r="http://schemas.openxmlformats.org/officeDocument/2006/relationships" id="2147483652" r:id="R3f3bbfe34204413d"/>
    <p:sldLayoutId xmlns:r="http://schemas.openxmlformats.org/officeDocument/2006/relationships" id="2147483653" r:id="Re35c447399a34a7c"/>
    <p:sldLayoutId xmlns:r="http://schemas.openxmlformats.org/officeDocument/2006/relationships" id="2147483654" r:id="R1f435da037664d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e5c92cc4d4f20" /><Relationship Type="http://schemas.openxmlformats.org/officeDocument/2006/relationships/notesSlide" Target="/ppt/notesSlides/notesSlide1.xml" Id="Rc0740dc0be3d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54cd5fc844d42" /><Relationship Type="http://schemas.openxmlformats.org/officeDocument/2006/relationships/notesSlide" Target="/ppt/notesSlides/notesSlide2.xml" Id="R33b94b0e99b9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cb83c06584b6a" /><Relationship Type="http://schemas.openxmlformats.org/officeDocument/2006/relationships/notesSlide" Target="/ppt/notesSlides/notesSlide3.xml" Id="R4e517a6b8a2a40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6a83608c149d1" /><Relationship Type="http://schemas.openxmlformats.org/officeDocument/2006/relationships/notesSlide" Target="/ppt/notesSlides/notesSlide4.xml" Id="R687217f88c4f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54f0bd29c4e19" /><Relationship Type="http://schemas.openxmlformats.org/officeDocument/2006/relationships/image" Target="/ppt/media/image.png" Id="R746e4114be4b4a58" /><Relationship Type="http://schemas.openxmlformats.org/officeDocument/2006/relationships/image" Target="/ppt/media/image2.png" Id="R1855aa3057d2442f" /><Relationship Type="http://schemas.openxmlformats.org/officeDocument/2006/relationships/notesSlide" Target="/ppt/notesSlides/notesSlide5.xml" Id="Ra8585097713b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65b8580cd48f2" /><Relationship Type="http://schemas.openxmlformats.org/officeDocument/2006/relationships/notesSlide" Target="/ppt/notesSlides/notesSlide6.xml" Id="R97fc88300f4b42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6e194e7844d65" /><Relationship Type="http://schemas.openxmlformats.org/officeDocument/2006/relationships/chart" Target="/ppt/slides/charts/chart1.xml" Id="R39ebe57926ee4afd" /><Relationship Type="http://schemas.openxmlformats.org/officeDocument/2006/relationships/notesSlide" Target="/ppt/notesSlides/notesSlide7.xml" Id="R69658a1cd570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f8ec7e1854e55" /><Relationship Type="http://schemas.openxmlformats.org/officeDocument/2006/relationships/chart" Target="/ppt/slides/charts/chart2.xml" Id="R182b30fe643b44c9" /><Relationship Type="http://schemas.openxmlformats.org/officeDocument/2006/relationships/notesSlide" Target="/ppt/notesSlides/notesSlide8.xml" Id="R9455caaa9a7c42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2fa3f569a4d49" /><Relationship Type="http://schemas.openxmlformats.org/officeDocument/2006/relationships/notesSlide" Target="/ppt/notesSlides/notesSlide9.xml" Id="Rd191704b50774a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427369f864c28" /><Relationship Type="http://schemas.openxmlformats.org/officeDocument/2006/relationships/notesSlide" Target="/ppt/notesSlides/notesSlide10.xml" Id="R9cf57784f0634c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d7dcf5ff247e0" /><Relationship Type="http://schemas.openxmlformats.org/officeDocument/2006/relationships/notesSlide" Target="/ppt/notesSlides/notesSlide11.xml" Id="R3a5ebf4b45bb49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6a7aeed1a4e7f" /><Relationship Type="http://schemas.openxmlformats.org/officeDocument/2006/relationships/notesSlide" Target="/ppt/notesSlides/notesSlide12.xml" Id="R25e04dddfbd348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5ee45b9354cc8" /><Relationship Type="http://schemas.openxmlformats.org/officeDocument/2006/relationships/image" Target="/ppt/media/image3.png" Id="Rbdcbea0ea4134a94" /><Relationship Type="http://schemas.openxmlformats.org/officeDocument/2006/relationships/notesSlide" Target="/ppt/notesSlides/notesSlide13.xml" Id="R0b72e381027c45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23c33fb0642c1" /><Relationship Type="http://schemas.openxmlformats.org/officeDocument/2006/relationships/notesSlide" Target="/ppt/notesSlides/notesSlide14.xml" Id="Raa08b6d211e14b5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Daily MAE</c:v>
          </c:tx>
          <c:spPr>
            <a:solidFill xmlns:a="http://schemas.openxmlformats.org/drawingml/2006/main">
              <a:srgbClr val="087E79"/>
            </a:solidFill>
          </c:spPr>
          <c:cat>
            <c:strRef>
              <c:f>'Chart Data'!$A$2:$A$4</c:f>
              <c:strCache>
                <c:ptCount val="3"/>
                <c:pt idx="0">
                  <c:v>Weekly benchmark</c:v>
                </c:pt>
                <c:pt idx="1">
                  <c:v>Small LSTM</c:v>
                </c:pt>
                <c:pt idx="2">
                  <c:v>Random forest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6.32</c:v>
                </c:pt>
                <c:pt idx="1">
                  <c:v>5.439</c:v>
                </c:pt>
                <c:pt idx="2">
                  <c:v>4.911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Daily MAE</c:v>
          </c:tx>
          <c:spPr>
            <a:solidFill xmlns:a="http://schemas.openxmlformats.org/drawingml/2006/main">
              <a:srgbClr val="087E79"/>
            </a:solidFill>
          </c:spPr>
          <c:cat>
            <c:strRef>
              <c:f>'Chart Data'!$A$2:$A$4</c:f>
              <c:strCache>
                <c:ptCount val="3"/>
                <c:pt idx="0">
                  <c:v>Weekly benchmark</c:v>
                </c:pt>
                <c:pt idx="1">
                  <c:v>Small LSTM</c:v>
                </c:pt>
                <c:pt idx="2">
                  <c:v>Random forest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6.273</c:v>
                </c:pt>
                <c:pt idx="1">
                  <c:v>5.411</c:v>
                </c:pt>
                <c:pt idx="2">
                  <c:v>4.812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B8E37-E6C3-425D-A0BE-BA6F922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2FDF2-07EE-4A94-BF69-08D65C1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C8085-27E7-4606-910C-1A801BD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StockSense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C7989-FF4B-430F-964A-5BC4098E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C6994-74A4-4575-B313-45258DED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4335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 forecasts and stock suggestions for a fictional mini 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CC4FF-8806-4A61-B7A4-C4691A90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72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Store 1     5 products     7-day forecast</a:t>
            </a:r>
          </a:p>
        </p:txBody>
      </p:sp>
    </p:spTree>
    <p:extLst>
      <p:ext uri="{BB962C8B-B14F-4D97-AF65-F5344CB8AC3E}">
        <p14:creationId xmlns:p14="http://schemas.microsoft.com/office/powerpoint/2010/main" val="1475198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7E0B7-7FB3-4C3B-98EA-AA640D4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599E1-A8A5-4375-AB5E-6E14B97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The weekly stock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BE6B0-2962-4E19-8C79-058A43D3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992E2-1E70-4CF4-BD2A-7BF3FAC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8BFF3-9119-4514-9894-15AAF55E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How much should the manager order before next week’s sales are known?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9BC4F-6504-4BC4-98B2-1C208171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Too little stock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014F3-37D2-40EB-ADBF-E13BD3C9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9110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Missed 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35BE4-23F5-4FEC-B414-7810A82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Too much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A4FC6-0B60-4EE8-A63D-FEDA2673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Money tied up in inventory</a:t>
            </a:r>
          </a:p>
        </p:txBody>
      </p:sp>
    </p:spTree>
    <p:extLst>
      <p:ext uri="{BB962C8B-B14F-4D97-AF65-F5344CB8AC3E}">
        <p14:creationId xmlns:p14="http://schemas.microsoft.com/office/powerpoint/2010/main" val="1036595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94B22-8495-41CF-9AED-6F49DB43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024C2-6D4F-4E9E-8E47-B98E8BC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small, clear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E1886-8005-468E-9BF5-659B905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2AD71-985E-42CA-A1D4-7C16055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55CCA-8FA2-4061-90DE-5208840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91933-A0AF-4672-B17D-8475A52B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fictional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55E08-0CFF-41B3-A451-5505B8C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EEA8B-6885-4369-A84D-8E5DC40C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anonymous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14FCE-EB3D-4E00-9171-DDF418F0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96A34-19AF-4A7A-BCA7-71E2B71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623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7E545-59A0-4E13-B3B0-C15AC18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app turns these forecasts and entered stock values into an order suggestion.</a:t>
            </a:r>
          </a:p>
        </p:txBody>
      </p:sp>
    </p:spTree>
    <p:extLst>
      <p:ext uri="{BB962C8B-B14F-4D97-AF65-F5344CB8AC3E}">
        <p14:creationId xmlns:p14="http://schemas.microsoft.com/office/powerpoint/2010/main" val="1285690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27962-68D9-4C1A-97A4-D902690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A37D2-7972-4708-BD1C-2979E41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The sales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CECB5-C875-47D5-A8E7-CA1B80FB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C082C-6B4B-4677-80A3-EFDFD27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F3AD5-8A61-4388-842E-66F2CC16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6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913,000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5EF-1E87-4D1B-B70A-D91B7F1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9925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rows in the source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2F1AE-A775-4AB3-B2DA-3C3446EA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6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9,130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E08C-B2BD-4B03-988A-9557297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09925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rows in our selected store and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EBE38-0511-4C8E-AA4F-B7038C98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Daily sales from 2013 to 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3EA0A-71AF-40AC-B597-D979224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No product names, stock levels, prices or supplier records are supplied.</a:t>
            </a:r>
          </a:p>
        </p:txBody>
      </p:sp>
    </p:spTree>
    <p:extLst>
      <p:ext uri="{BB962C8B-B14F-4D97-AF65-F5344CB8AC3E}">
        <p14:creationId xmlns:p14="http://schemas.microsoft.com/office/powerpoint/2010/main" val="1005363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72FBA-5D96-451B-9631-8B85F68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E7530-2C13-4C8B-925B-DED4CEE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Sales patterns before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A4308-2692-40DD-BB3E-8C98337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D67D5-E71D-4293-8636-AFC1E4B8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5246A-C432-48D7-886D-F1619ACDD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e4114be4b4a58"/>
          <a:stretch xmlns:a="http://schemas.openxmlformats.org/drawingml/2006/main"/>
        </p:blipFill>
        <p:spPr>
          <a:xfrm xmlns:a="http://schemas.openxmlformats.org/drawingml/2006/main">
            <a:off x="619125" y="2297906"/>
            <a:ext cx="5334000" cy="283368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E552E-4A36-4E1B-A5B8-F1AF42C7D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5aa3057d2442f"/>
          <a:stretch xmlns:a="http://schemas.openxmlformats.org/drawingml/2006/main"/>
        </p:blipFill>
        <p:spPr>
          <a:xfrm xmlns:a="http://schemas.openxmlformats.org/drawingml/2006/main">
            <a:off x="6162675" y="2297906"/>
            <a:ext cx="5334000" cy="28336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BB60-F8AC-4FA4-9899-C6A63DB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Monthly sales totals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593A-AF4B-4F79-83F9-28F0320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648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Average by weekday</a:t>
            </a:r>
          </a:p>
        </p:txBody>
      </p:sp>
    </p:spTree>
    <p:extLst>
      <p:ext uri="{BB962C8B-B14F-4D97-AF65-F5344CB8AC3E}">
        <p14:creationId xmlns:p14="http://schemas.microsoft.com/office/powerpoint/2010/main" val="1240125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F78DC-6C6E-4A9E-8B7E-E41D143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9B9CF-B4FF-4A03-B2CE-D9D1DB6E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 split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7927E-3B0C-491C-BEE6-BB8BA490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B5E49-F384-41D0-BD4A-941234C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2FA39-CE48-486D-A90F-B47BE8D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431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2013–15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591C9-DD11-4C0C-8723-6B239AB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194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the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1F88-F938-4C09-8612-1AB9EA1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2016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7B475-4EC4-48BC-9AB6-C56B88B2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1942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by daily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E0A91-FFF2-4FDD-9E89-E28377D4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A5A34-E107-4F6C-91E5-8F4D2EC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19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98BA7-906C-4EEF-A9AE-F955169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Compared: last-week repeat, random forest and a small LSTM</a:t>
            </a:r>
          </a:p>
        </p:txBody>
      </p:sp>
    </p:spTree>
    <p:extLst>
      <p:ext uri="{BB962C8B-B14F-4D97-AF65-F5344CB8AC3E}">
        <p14:creationId xmlns:p14="http://schemas.microsoft.com/office/powerpoint/2010/main" val="16224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41CAD-F6C2-4927-A02D-0D977234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2016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0C569-0580-4F7F-BC7C-7602C46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Random forest won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AA314-B3C7-4510-9486-01F0BD2B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85E98-42A0-4682-9EFE-5B3D96B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1235FD8-1557-44DE-B1E0-34450EB91340}"/>
              </a:ext>
            </a:extLst>
          </p:cNvPr>
          <p:cNvGraphicFramePr/>
          <p:nvPr/>
        </p:nvGraphicFramePr>
        <p:xfrm>
          <a:off xmlns:a="http://schemas.openxmlformats.org/drawingml/2006/main" x="714375" y="2009775"/>
          <a:ext xmlns:a="http://schemas.openxmlformats.org/drawingml/2006/main" cx="10287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ebe57926ee4af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8BFB8-E2A2-4616-9A3B-A24441F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29250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Daily mean absolute error (units)</a:t>
            </a:r>
          </a:p>
        </p:txBody>
      </p:sp>
    </p:spTree>
    <p:extLst>
      <p:ext uri="{BB962C8B-B14F-4D97-AF65-F5344CB8AC3E}">
        <p14:creationId xmlns:p14="http://schemas.microsoft.com/office/powerpoint/2010/main" val="13333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4AF46-061C-4FDF-80C4-330FDC5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2017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BDCB-8F40-43E1-8F02-0C046F55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The result held on the final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39E9E-8DF9-48B0-97A9-9629D36D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E1951-6880-4BA7-96D8-E330893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55C63A8-5E59-4BF9-9768-2D0DFD9F8583}"/>
              </a:ext>
            </a:extLst>
          </p:cNvPr>
          <p:cNvGraphicFramePr/>
          <p:nvPr/>
        </p:nvGraphicFramePr>
        <p:xfrm>
          <a:off xmlns:a="http://schemas.openxmlformats.org/drawingml/2006/main" x="714375" y="2009775"/>
          <a:ext xmlns:a="http://schemas.openxmlformats.org/drawingml/2006/main" cx="10287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2b30fe643b44c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A7CE8-22BB-4C78-AD9D-0EA7C56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244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23.3% lower daily error than the weekly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68D27-0CB6-4F6F-AB57-B95371A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29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LSTM had the lowest weekly-total error (17.343 units).</a:t>
            </a:r>
          </a:p>
        </p:txBody>
      </p:sp>
    </p:spTree>
    <p:extLst>
      <p:ext uri="{BB962C8B-B14F-4D97-AF65-F5344CB8AC3E}">
        <p14:creationId xmlns:p14="http://schemas.microsoft.com/office/powerpoint/2010/main" val="811050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C9E5C-9BA4-4FEB-9A3E-6560E9D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84726-DB76-4993-904B-A6CEC93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LSTM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3BE21-6AD8-443A-95FF-C6FBE11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D55E-7E75-4CCC-B2A5-366A300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4C66B-4B1A-4925-8173-E6F4F2F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5DA79-544D-458C-BB93-8BE7077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past sales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54FF6-F1CC-41DA-893E-968E6DBF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9775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B927C-F6E9-4F00-823D-916776C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LSTM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AD8E5-AF08-4884-8F2A-181EEDA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9775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0DD5A-7253-4071-9A3F-8CF83E2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predicted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08869-3AF7-4AE6-9880-56D932C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had better weekly totals overall, while random forest had lower daily error.</a:t>
            </a:r>
          </a:p>
        </p:txBody>
      </p:sp>
    </p:spTree>
    <p:extLst>
      <p:ext uri="{BB962C8B-B14F-4D97-AF65-F5344CB8AC3E}">
        <p14:creationId xmlns:p14="http://schemas.microsoft.com/office/powerpoint/2010/main" val="1778286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3F67E-12E7-4ABF-A03A-8F12584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STOCK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2C4A8-E1FA-42C4-8D73-726E4DF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How the order number is calculated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DEF5-5A49-4B78-90AF-D2936C97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E188B-DC76-4CCF-AEA1-D316286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958C5-6154-4AFF-9CA8-D570828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77.52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CE579-BECB-4922-80AB-98B9CAB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04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forecast units during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C9E01-3F30-4482-A59C-1A43E0DF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+ 10 buffer = 87.52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ED2C8-DCEE-412A-BEF7-DE52207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2442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50 available, 0 outstanding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2D218-A798-4BA5-8225-4929C9D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Suggest ordering 38 units</a:t>
            </a:r>
          </a:p>
        </p:txBody>
      </p:sp>
    </p:spTree>
    <p:extLst>
      <p:ext uri="{BB962C8B-B14F-4D97-AF65-F5344CB8AC3E}">
        <p14:creationId xmlns:p14="http://schemas.microsoft.com/office/powerpoint/2010/main" val="1148015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29293-13EB-4EC5-A917-17F6926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TEXT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0AFF1-D55A-4A67-84A8-F0FA58DC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Ask StockSense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DC5E3-5FE8-423B-9A1A-4959137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C8F3F-9634-40DF-9EAD-06A4FF8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C2248-20BF-4CCB-A3F4-F46161C7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240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“What will Product 1 sell next week?”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CB64C-D20D-40E8-97B2-0CED1A1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3372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The assistant identifies the request type, then reads the saved forecast.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D4239-9282-4DD2-BFC1-9AAA475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5 supported request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6D33-F3B4-4A73-8759-272D7F7C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Forecast, order, recent sales, model results and help</a:t>
            </a:r>
          </a:p>
        </p:txBody>
      </p:sp>
    </p:spTree>
    <p:extLst>
      <p:ext uri="{BB962C8B-B14F-4D97-AF65-F5344CB8AC3E}">
        <p14:creationId xmlns:p14="http://schemas.microsoft.com/office/powerpoint/2010/main" val="1920829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C376C-F93B-4951-85E2-FDC93C98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AC5D1-8F64-4BAF-B6B2-A5325E1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65A36-4DF2-4B76-9D03-AFED7CCB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6C3C6-7767-4AAF-A7AC-A2775E9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21D98-4074-4666-BE6E-6969B78F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90725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46629-ADFF-41D1-9BDB-81AC1DEA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43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D9B58-3FB6-4FD1-BDC2-59DD016E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148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24/25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9DB48-9C77-459E-9D93-369EC5A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requests recognised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B8564-07E4-4B09-BE6B-347CE80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148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9262F-69E8-45AB-A89E-BBB27AD1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67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unrelated requests rejected</a:t>
            </a:r>
          </a:p>
        </p:txBody>
      </p:sp>
    </p:spTree>
    <p:extLst>
      <p:ext uri="{BB962C8B-B14F-4D97-AF65-F5344CB8AC3E}">
        <p14:creationId xmlns:p14="http://schemas.microsoft.com/office/powerpoint/2010/main" val="71059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D532-3B74-4773-8A40-4FD385D5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DCDA6-8640-43DB-AD5E-A1661E3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Live prototype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9BBD0-DEE6-40A7-83FA-00CFA6F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A78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01726-F3C7-4ED8-87E1-7F9EFA7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A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F1DD5-E81A-4A16-AC50-BD25496742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bea0ea4134a94"/>
          <a:stretch xmlns:a="http://schemas.openxmlformats.org/drawingml/2006/main"/>
        </p:blipFill>
        <p:spPr>
          <a:xfrm xmlns:a="http://schemas.openxmlformats.org/drawingml/2006/main">
            <a:off x="1911927" y="1800225"/>
            <a:ext cx="554874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CA056-6ED1-4A29-A158-A68CA959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00275"/>
            <a:ext cx="2695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01  Select a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FB8EA-F208-4395-A371-76D9290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48000"/>
            <a:ext cx="2695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02  View seven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F5239-FD7F-480E-B858-66D51A2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95725"/>
            <a:ext cx="2695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03  Enter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EED4A-96CA-481A-9DE9-CC5A6C1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43450"/>
            <a:ext cx="2695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04  Ask a question</a:t>
            </a:r>
          </a:p>
        </p:txBody>
      </p:sp>
    </p:spTree>
    <p:extLst>
      <p:ext uri="{BB962C8B-B14F-4D97-AF65-F5344CB8AC3E}">
        <p14:creationId xmlns:p14="http://schemas.microsoft.com/office/powerpoint/2010/main" val="10474395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6CDFA-CCAA-4E6B-BE19-FCA2140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3A980-09FE-4A1A-9FFA-A0CB97D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can conclude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600B0-0012-4E00-B7BE-08F2B0EC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STOCKSENSE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BF45E-C492-40A6-81A7-E89BB17B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7FC5B-2803-42D7-B9EE-613A0D64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forest had the lowest daily test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8BF2B-1F4B-4EBF-9BBF-4B5CB27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9E7D7"/>
                </a:solidFill>
                <a:latin typeface="Arial"/>
                <a:ea typeface="Arial"/>
                <a:cs typeface="Arial"/>
              </a:rPr>
              <a:t>The app turns forecasts into a clear order calculation.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4DF7C-EAB7-41AF-9709-CD73F18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savings and January 2018 accuracy remain unmeasured.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F753E-5279-4D94-BCB3-BF10F72A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435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A9E7D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9E7D7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239748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2026-10-12T18:17:24.6810000Z</dcterms:created>
  <dcterms:modified xsi:type="dcterms:W3CDTF">2026-10-12T18:17:24.6810000Z</dcterms:modified>
</coreProperties>
</file>