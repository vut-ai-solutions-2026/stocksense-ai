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2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376d10eec2c4773" /><Relationship Type="http://schemas.openxmlformats.org/officeDocument/2006/relationships/extended-properties" Target="/docProps/app.xml" Id="Rcd5c6b5c5fe64573" /><Relationship Type="http://schemas.openxmlformats.org/officeDocument/2006/relationships/officeDocument" Target="/ppt/presentation.xml" Id="R7c65c49f35d2487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01154f5b5d84181"/>
  </p:sldMasterIdLst>
  <p:notesMasterIdLst>
    <p:notesMasterId xmlns:r="http://schemas.openxmlformats.org/officeDocument/2006/relationships" r:id="R4ba4671598e8442e"/>
  </p:notesMasterIdLst>
  <p:sldIdLst>
    <p:sldId xmlns:r="http://schemas.openxmlformats.org/officeDocument/2006/relationships" id="256" r:id="Re9f81e83f0e344ac"/>
    <p:sldId xmlns:r="http://schemas.openxmlformats.org/officeDocument/2006/relationships" id="257" r:id="Rc5383c1bdf574d61"/>
    <p:sldId xmlns:r="http://schemas.openxmlformats.org/officeDocument/2006/relationships" id="258" r:id="R44549dfb05de4edc"/>
    <p:sldId xmlns:r="http://schemas.openxmlformats.org/officeDocument/2006/relationships" id="259" r:id="R8e6a36b35f194d65"/>
    <p:sldId xmlns:r="http://schemas.openxmlformats.org/officeDocument/2006/relationships" id="260" r:id="Rb5da6b72550b4c8a"/>
    <p:sldId xmlns:r="http://schemas.openxmlformats.org/officeDocument/2006/relationships" id="261" r:id="R731d4df3c1274c61"/>
    <p:sldId xmlns:r="http://schemas.openxmlformats.org/officeDocument/2006/relationships" id="262" r:id="R8433b1283d924878"/>
    <p:sldId xmlns:r="http://schemas.openxmlformats.org/officeDocument/2006/relationships" id="263" r:id="R8ca97a6a19db4c5c"/>
    <p:sldId xmlns:r="http://schemas.openxmlformats.org/officeDocument/2006/relationships" id="264" r:id="R7422c9040c6b4067"/>
    <p:sldId xmlns:r="http://schemas.openxmlformats.org/officeDocument/2006/relationships" id="265" r:id="R7510e3cb8dc64086"/>
    <p:sldId xmlns:r="http://schemas.openxmlformats.org/officeDocument/2006/relationships" id="266" r:id="R9411cef8bb7d4600"/>
    <p:sldId xmlns:r="http://schemas.openxmlformats.org/officeDocument/2006/relationships" id="267" r:id="Rb087fc7485b74afa"/>
    <p:sldId xmlns:r="http://schemas.openxmlformats.org/officeDocument/2006/relationships" id="268" r:id="R9936eed42c534650"/>
    <p:sldId xmlns:r="http://schemas.openxmlformats.org/officeDocument/2006/relationships" id="269" r:id="Ree4bf01160624d4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2b43d65f1c248b4" /><Relationship Type="http://schemas.openxmlformats.org/officeDocument/2006/relationships/slideMaster" Target="/ppt/slideMasters/slideMaster1.xml" Id="R101154f5b5d84181" /><Relationship Type="http://schemas.openxmlformats.org/officeDocument/2006/relationships/notesMaster" Target="/ppt/notesMasters/notesMaster1.xml" Id="R4ba4671598e8442e" /><Relationship Type="http://schemas.openxmlformats.org/officeDocument/2006/relationships/presProps" Target="/ppt/presProps.xml" Id="R3cd685b73e2a4164" /><Relationship Type="http://schemas.openxmlformats.org/officeDocument/2006/relationships/tableStyles" Target="/ppt/tableStyles.xml" Id="R2b4e285573bc4e77" /><Relationship Type="http://schemas.openxmlformats.org/officeDocument/2006/relationships/slide" Target="/ppt/slides/slide1.xml" Id="Re9f81e83f0e344ac" /><Relationship Type="http://schemas.openxmlformats.org/officeDocument/2006/relationships/slide" Target="/ppt/slides/slide2.xml" Id="Rc5383c1bdf574d61" /><Relationship Type="http://schemas.openxmlformats.org/officeDocument/2006/relationships/slide" Target="/ppt/slides/slide3.xml" Id="R44549dfb05de4edc" /><Relationship Type="http://schemas.openxmlformats.org/officeDocument/2006/relationships/slide" Target="/ppt/slides/slide4.xml" Id="R8e6a36b35f194d65" /><Relationship Type="http://schemas.openxmlformats.org/officeDocument/2006/relationships/slide" Target="/ppt/slides/slide5.xml" Id="Rb5da6b72550b4c8a" /><Relationship Type="http://schemas.openxmlformats.org/officeDocument/2006/relationships/slide" Target="/ppt/slides/slide6.xml" Id="R731d4df3c1274c61" /><Relationship Type="http://schemas.openxmlformats.org/officeDocument/2006/relationships/slide" Target="/ppt/slides/slide7.xml" Id="R8433b1283d924878" /><Relationship Type="http://schemas.openxmlformats.org/officeDocument/2006/relationships/slide" Target="/ppt/slides/slide8.xml" Id="R8ca97a6a19db4c5c" /><Relationship Type="http://schemas.openxmlformats.org/officeDocument/2006/relationships/slide" Target="/ppt/slides/slide9.xml" Id="R7422c9040c6b4067" /><Relationship Type="http://schemas.openxmlformats.org/officeDocument/2006/relationships/slide" Target="/ppt/slides/slide10.xml" Id="R7510e3cb8dc64086" /><Relationship Type="http://schemas.openxmlformats.org/officeDocument/2006/relationships/slide" Target="/ppt/slides/slide11.xml" Id="R9411cef8bb7d4600" /><Relationship Type="http://schemas.openxmlformats.org/officeDocument/2006/relationships/slide" Target="/ppt/slides/slide12.xml" Id="Rb087fc7485b74afa" /><Relationship Type="http://schemas.openxmlformats.org/officeDocument/2006/relationships/slide" Target="/ppt/slides/slide13.xml" Id="R9936eed42c534650" /><Relationship Type="http://schemas.openxmlformats.org/officeDocument/2006/relationships/slide" Target="/ppt/slides/slide14.xml" Id="Ree4bf01160624d4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acbec3791d549a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c615a1a43814c3d" /><Relationship Type="http://schemas.openxmlformats.org/officeDocument/2006/relationships/notesMaster" Target="/ppt/notesMasters/notesMaster1.xml" Id="Rce390b1c1180498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255102dfb8e4bac" /><Relationship Type="http://schemas.openxmlformats.org/officeDocument/2006/relationships/notesMaster" Target="/ppt/notesMasters/notesMaster1.xml" Id="R957b823684954c2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3d6a15e521d4545" /><Relationship Type="http://schemas.openxmlformats.org/officeDocument/2006/relationships/notesMaster" Target="/ppt/notesMasters/notesMaster1.xml" Id="R32bddf10382c4f9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fcbf896aa26462c" /><Relationship Type="http://schemas.openxmlformats.org/officeDocument/2006/relationships/notesMaster" Target="/ppt/notesMasters/notesMaster1.xml" Id="R567b079438d2439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8e1af49a48c40b7" /><Relationship Type="http://schemas.openxmlformats.org/officeDocument/2006/relationships/notesMaster" Target="/ppt/notesMasters/notesMaster1.xml" Id="R31357fa4d689455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fed24210cf0412e" /><Relationship Type="http://schemas.openxmlformats.org/officeDocument/2006/relationships/notesMaster" Target="/ppt/notesMasters/notesMaster1.xml" Id="Ra3bc1a6631e4436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660236ca52c44d8" /><Relationship Type="http://schemas.openxmlformats.org/officeDocument/2006/relationships/notesMaster" Target="/ppt/notesMasters/notesMaster1.xml" Id="Rb2563f1cb042402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869b05f701e4f5a" /><Relationship Type="http://schemas.openxmlformats.org/officeDocument/2006/relationships/notesMaster" Target="/ppt/notesMasters/notesMaster1.xml" Id="R2607272360ef474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584bd46a46b48d9" /><Relationship Type="http://schemas.openxmlformats.org/officeDocument/2006/relationships/notesMaster" Target="/ppt/notesMasters/notesMaster1.xml" Id="R51277fd17d2f4fd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5c595c00f774dfc" /><Relationship Type="http://schemas.openxmlformats.org/officeDocument/2006/relationships/notesMaster" Target="/ppt/notesMasters/notesMaster1.xml" Id="R1a0348e0f81f45a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82f5bb9442e44e7" /><Relationship Type="http://schemas.openxmlformats.org/officeDocument/2006/relationships/notesMaster" Target="/ppt/notesMasters/notesMaster1.xml" Id="R976682ccd8a34cf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43deea11c214331" /><Relationship Type="http://schemas.openxmlformats.org/officeDocument/2006/relationships/notesMaster" Target="/ppt/notesMasters/notesMaster1.xml" Id="R062b915c81714dc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9102527cf3f4856" /><Relationship Type="http://schemas.openxmlformats.org/officeDocument/2006/relationships/notesMaster" Target="/ppt/notesMasters/notesMaster1.xml" Id="Rfe3bdba8e67845f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7feede58cb14e19" /><Relationship Type="http://schemas.openxmlformats.org/officeDocument/2006/relationships/notesMaster" Target="/ppt/notesMasters/notesMaster1.xml" Id="R3eadd4b72ee34da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speaker: Morris. About 30 seconds. Introduce StockSense AI and the fictional retailer.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speaker: Zama. About 90 seconds. The business process is assumed for a fictional retailer. No real savings have been measured.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speaker: Senamile. About 90 seconds. Explain the five anonymous products and the historical demonstration.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speaker: Mick. About 90 seconds. Source: Kaggle Store Item Demand Forecasting Challenge, https://www.kaggle.com/competitions/demand-forecasting-kernels-only/data. The raw file was audited locally.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speaker: Percy. About 60 seconds. Both charts use Store 1, Item 1–5 and 2013–2016 only. Data source: Kaggle Store Item Demand Forecasting Challenge. Explain that pattern does not prove its cause.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speaker: Neo. About 90 seconds. Each method is scored on the same 52 weeks per item. We selected using 2016, then froze the choice before 2017.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speaker: Ungakimi. About 60 seconds. Daily MAE: benchmark 6.320, LSTM 5.439, random forest 4.911. Lower is better. Source: frozen local comparison.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speaker: Ungakimi. About 90 seconds. Daily MAE: benchmark 6.273, LSTM 5.411, random forest 4.812. Weekly-total MAE: benchmark 18.427, random forest 17.973, LSTM 17.343. The 23.3% is a relative daily MAE reduction, not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speaker: Neo. About 90 seconds. The model has 28 sales inputs, one 16-unit LSTM layer and seven outputs. It did not win the selected daily error measure.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speaker: Morris. About 90 seconds. Demonstration input for Product 1: 50 available, 0 outstanding, two-day lead, three-day review, 10 buffer. First-five-day forecast 77.52. Target 87.52. Order ceiling(87.52 minus 50)=38. Stock data is entered manually.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speaker: Sibongiseni. About 90 seconds. TF-IDF and logistic regression classify five intents. Answers retrieve saved forecast or stock objects. Another item uses its own forecast; stock answer needs fresh inputs.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speakers: Buhle and Wandile. About 90 seconds. Office copy passed 52 tests on 12 October 2026. Earlier personal-PC rehearsal passed 45 tests. Assistant fresh check: 24/25 supported, 8/8 unrelated rejected. Human usability review is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speakers: Sibongiseni and Morris. About three minutes. Select Product 1, show seven dated forecasts, calculate the 38-unit example, ask about another product, show comparisons. If live app fails use screenshot and backup recording.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speaker: Senamile. About 60 seconds, then five minutes of questions. Random forest had the lowest daily test error. LSTM had the lowest weekly-total error. No real savings or January 2018 accuracy have been measured.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2c3f1812f5409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e5c70456054b9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ab4917b3dc494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e2038be73d4a8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ac7464a09f4b0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83a9c92b1840a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E76197B-CA47-44AC-82B4-48CBE22777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D3958C4-6C80-4EA8-9D18-879B9583029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E70EC83-DBDF-460B-9797-5984F577C7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C1E4AF9-DDC7-4FEF-B15B-2A40C9CD58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A16ED3F-0B32-4389-99C2-FC55406E7A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9C1FB9F-DEA2-4983-AAAD-43770A5A32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5D83889-080F-4009-A71C-A7B6C970132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1A6555E-55C2-4DCC-ABC9-34F91F90033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AC424F3-0825-4CFA-B3D9-6AEE490FC5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1DAC8C7-3DEE-4910-83F3-46656C1A759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4e255073ec240d4" /><Relationship Type="http://schemas.openxmlformats.org/officeDocument/2006/relationships/slideLayout" Target="/ppt/slideLayouts/slideLayout1.xml" Id="Rf386b9e1a2a54981" /><Relationship Type="http://schemas.openxmlformats.org/officeDocument/2006/relationships/slideLayout" Target="/ppt/slideLayouts/slideLayout2.xml" Id="Rb0a7a8d1569848f1" /><Relationship Type="http://schemas.openxmlformats.org/officeDocument/2006/relationships/slideLayout" Target="/ppt/slideLayouts/slideLayout3.xml" Id="R6a30389fb1574322" /><Relationship Type="http://schemas.openxmlformats.org/officeDocument/2006/relationships/slideLayout" Target="/ppt/slideLayouts/slideLayout4.xml" Id="R3f3bbfe34204413d" /><Relationship Type="http://schemas.openxmlformats.org/officeDocument/2006/relationships/slideLayout" Target="/ppt/slideLayouts/slideLayout5.xml" Id="Re35c447399a34a7c" /><Relationship Type="http://schemas.openxmlformats.org/officeDocument/2006/relationships/slideLayout" Target="/ppt/slideLayouts/slideLayout6.xml" Id="R1f435da037664d7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386b9e1a2a54981"/>
    <p:sldLayoutId xmlns:r="http://schemas.openxmlformats.org/officeDocument/2006/relationships" id="2147483650" r:id="Rb0a7a8d1569848f1"/>
    <p:sldLayoutId xmlns:r="http://schemas.openxmlformats.org/officeDocument/2006/relationships" id="2147483651" r:id="R6a30389fb1574322"/>
    <p:sldLayoutId xmlns:r="http://schemas.openxmlformats.org/officeDocument/2006/relationships" id="2147483652" r:id="R3f3bbfe34204413d"/>
    <p:sldLayoutId xmlns:r="http://schemas.openxmlformats.org/officeDocument/2006/relationships" id="2147483653" r:id="Re35c447399a34a7c"/>
    <p:sldLayoutId xmlns:r="http://schemas.openxmlformats.org/officeDocument/2006/relationships" id="2147483654" r:id="R1f435da037664d7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0e5c92cc4d4f20" /><Relationship Type="http://schemas.openxmlformats.org/officeDocument/2006/relationships/notesSlide" Target="/ppt/notesSlides/notesSlide1.xml" Id="Rc0740dc0be3d47d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254cd5fc844d42" /><Relationship Type="http://schemas.openxmlformats.org/officeDocument/2006/relationships/notesSlide" Target="/ppt/notesSlides/notesSlide2.xml" Id="R33b94b0e99b9456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9cb83c06584b6a" /><Relationship Type="http://schemas.openxmlformats.org/officeDocument/2006/relationships/notesSlide" Target="/ppt/notesSlides/notesSlide3.xml" Id="R4e517a6b8a2a402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66a83608c149d1" /><Relationship Type="http://schemas.openxmlformats.org/officeDocument/2006/relationships/notesSlide" Target="/ppt/notesSlides/notesSlide4.xml" Id="R687217f88c4f426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b54f0bd29c4e19" /><Relationship Type="http://schemas.openxmlformats.org/officeDocument/2006/relationships/image" Target="/ppt/media/image.png" Id="R746e4114be4b4a58" /><Relationship Type="http://schemas.openxmlformats.org/officeDocument/2006/relationships/image" Target="/ppt/media/image2.png" Id="R1855aa3057d2442f" /><Relationship Type="http://schemas.openxmlformats.org/officeDocument/2006/relationships/notesSlide" Target="/ppt/notesSlides/notesSlide5.xml" Id="Ra8585097713b46e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b65b8580cd48f2" /><Relationship Type="http://schemas.openxmlformats.org/officeDocument/2006/relationships/notesSlide" Target="/ppt/notesSlides/notesSlide6.xml" Id="R97fc88300f4b42d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e6e194e7844d65" /><Relationship Type="http://schemas.openxmlformats.org/officeDocument/2006/relationships/chart" Target="/ppt/slides/charts/chart1.xml" Id="R39ebe57926ee4afd" /><Relationship Type="http://schemas.openxmlformats.org/officeDocument/2006/relationships/notesSlide" Target="/ppt/notesSlides/notesSlide7.xml" Id="R69658a1cd5704b7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6f8ec7e1854e55" /><Relationship Type="http://schemas.openxmlformats.org/officeDocument/2006/relationships/chart" Target="/ppt/slides/charts/chart2.xml" Id="R182b30fe643b44c9" /><Relationship Type="http://schemas.openxmlformats.org/officeDocument/2006/relationships/notesSlide" Target="/ppt/notesSlides/notesSlide8.xml" Id="R9455caaa9a7c42e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32fa3f569a4d49" /><Relationship Type="http://schemas.openxmlformats.org/officeDocument/2006/relationships/notesSlide" Target="/ppt/notesSlides/notesSlide9.xml" Id="Rd191704b50774a6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29427369f864c28" /><Relationship Type="http://schemas.openxmlformats.org/officeDocument/2006/relationships/notesSlide" Target="/ppt/notesSlides/notesSlide10.xml" Id="R9cf57784f0634c1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fd7dcf5ff247e0" /><Relationship Type="http://schemas.openxmlformats.org/officeDocument/2006/relationships/notesSlide" Target="/ppt/notesSlides/notesSlide11.xml" Id="R3a5ebf4b45bb495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a6a7aeed1a4e7f" /><Relationship Type="http://schemas.openxmlformats.org/officeDocument/2006/relationships/notesSlide" Target="/ppt/notesSlides/notesSlide12.xml" Id="R25e04dddfbd3481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95ee45b9354cc8" /><Relationship Type="http://schemas.openxmlformats.org/officeDocument/2006/relationships/image" Target="/ppt/media/image3.png" Id="Rbdcbea0ea4134a94" /><Relationship Type="http://schemas.openxmlformats.org/officeDocument/2006/relationships/notesSlide" Target="/ppt/notesSlides/notesSlide13.xml" Id="R0b72e381027c45b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b23c33fb0642c1" /><Relationship Type="http://schemas.openxmlformats.org/officeDocument/2006/relationships/notesSlide" Target="/ppt/notesSlides/notesSlide14.xml" Id="Raa08b6d211e14b5b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Daily MAE</c:v>
          </c:tx>
          <c:spPr>
            <a:solidFill xmlns:a="http://schemas.openxmlformats.org/drawingml/2006/main">
              <a:srgbClr val="087E79"/>
            </a:solidFill>
          </c:spPr>
          <c:cat>
            <c:strRef>
              <c:f>'Chart Data'!$A$2:$A$4</c:f>
              <c:strCache>
                <c:ptCount val="3"/>
                <c:pt idx="0">
                  <c:v>Weekly benchmark</c:v>
                </c:pt>
                <c:pt idx="1">
                  <c:v>Small LSTM</c:v>
                </c:pt>
                <c:pt idx="2">
                  <c:v>Random forest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6.32</c:v>
                </c:pt>
                <c:pt idx="1">
                  <c:v>5.439</c:v>
                </c:pt>
                <c:pt idx="2">
                  <c:v>4.911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5E2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Daily MAE</c:v>
          </c:tx>
          <c:spPr>
            <a:solidFill xmlns:a="http://schemas.openxmlformats.org/drawingml/2006/main">
              <a:srgbClr val="087E79"/>
            </a:solidFill>
          </c:spPr>
          <c:cat>
            <c:strRef>
              <c:f>'Chart Data'!$A$2:$A$4</c:f>
              <c:strCache>
                <c:ptCount val="3"/>
                <c:pt idx="0">
                  <c:v>Weekly benchmark</c:v>
                </c:pt>
                <c:pt idx="1">
                  <c:v>Small LSTM</c:v>
                </c:pt>
                <c:pt idx="2">
                  <c:v>Random forest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6.273</c:v>
                </c:pt>
                <c:pt idx="1">
                  <c:v>5.411</c:v>
                </c:pt>
                <c:pt idx="2">
                  <c:v>4.812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5E2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26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AB8E37-E6C3-425D-A0BE-BA6F92293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A9E7D7"/>
                </a:solidFill>
                <a:latin typeface="Arial"/>
                <a:ea typeface="Arial"/>
                <a:cs typeface="Arial"/>
              </a:rPr>
              <a:t>STOCKSENSE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72FDF2-07EE-4A94-BF69-08D65C134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9E7D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DC8085-27E7-4606-910C-1A801BD2A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47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StockSense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1C7989-FF4B-430F-964A-5BC4098E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476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900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6900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6900" b="1">
                <a:solidFill>
                  <a:srgbClr val="A9E7D7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0C6994-74A4-4575-B313-45258DED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943350"/>
            <a:ext cx="1009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Sales forecasts and stock suggestions for a fictional mini market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4CC4FF-8806-4A61-B7A4-C4691A90D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37210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9E7D7"/>
                </a:solidFill>
                <a:latin typeface="Arial"/>
                <a:ea typeface="Arial"/>
                <a:cs typeface="Arial"/>
              </a:rPr>
              <a:t>Store 1     5 products     7-day forecast</a:t>
            </a:r>
          </a:p>
        </p:txBody>
      </p:sp>
    </p:spTree>
    <p:extLst>
      <p:ext uri="{BB962C8B-B14F-4D97-AF65-F5344CB8AC3E}">
        <p14:creationId xmlns:p14="http://schemas.microsoft.com/office/powerpoint/2010/main" val="147519813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D7E0B7-7FB3-4C3B-98EA-AA640D42D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087E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087E7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87E79"/>
                </a:solidFill>
                <a:latin typeface="Arial"/>
                <a:ea typeface="Arial"/>
                <a:cs typeface="Arial"/>
              </a:rPr>
              <a:t>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E599E1-A8A5-4375-AB5E-6E14B9714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347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The weekly stock decision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CBE6B0-2962-4E19-8C79-058A43D3B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36A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536A7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A78"/>
                </a:solidFill>
                <a:latin typeface="Arial"/>
                <a:ea typeface="Arial"/>
                <a:cs typeface="Arial"/>
              </a:rPr>
              <a:t>STOCKSENSE 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B992E2-1E70-4CF4-BD2A-7BF3FAC0D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536A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36A7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A7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28BFF3-9119-4514-9894-15AAF55E8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85975"/>
            <a:ext cx="10572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How much should the manager order before next week’s sales are known?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89BC4F-6504-4BC4-98B2-1C2081711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391025"/>
            <a:ext cx="485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75" b="1">
                <a:solidFill>
                  <a:srgbClr val="087E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75" b="1">
                <a:solidFill>
                  <a:srgbClr val="087E79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087E79"/>
                </a:solidFill>
                <a:latin typeface="Arial"/>
                <a:ea typeface="Arial"/>
                <a:cs typeface="Arial"/>
              </a:rPr>
              <a:t>Too little stock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7014F3-37D2-40EB-ADBF-E13BD3C91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991100"/>
            <a:ext cx="4857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36A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36A7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A78"/>
                </a:solidFill>
                <a:latin typeface="Arial"/>
                <a:ea typeface="Arial"/>
                <a:cs typeface="Arial"/>
              </a:rPr>
              <a:t>Missed sales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435BE4-23F5-4FEC-B414-7810A827D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91025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75" b="1">
                <a:solidFill>
                  <a:srgbClr val="087E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75" b="1">
                <a:solidFill>
                  <a:srgbClr val="087E79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087E79"/>
                </a:solidFill>
                <a:latin typeface="Arial"/>
                <a:ea typeface="Arial"/>
                <a:cs typeface="Arial"/>
              </a:rPr>
              <a:t>Too much stock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FA4FC6-0B60-4EE8-A63D-FEDA2673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991100"/>
            <a:ext cx="4953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36A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36A7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A78"/>
                </a:solidFill>
                <a:latin typeface="Arial"/>
                <a:ea typeface="Arial"/>
                <a:cs typeface="Arial"/>
              </a:rPr>
              <a:t>Money tied up in inventory</a:t>
            </a:r>
          </a:p>
        </p:txBody>
      </p:sp>
    </p:spTree>
    <p:extLst>
      <p:ext uri="{BB962C8B-B14F-4D97-AF65-F5344CB8AC3E}">
        <p14:creationId xmlns:p14="http://schemas.microsoft.com/office/powerpoint/2010/main" val="10365954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26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D94B22-8495-41CF-9AED-6F49DB43B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9E7D7"/>
                </a:solidFill>
                <a:latin typeface="Arial"/>
                <a:ea typeface="Arial"/>
                <a:cs typeface="Arial"/>
              </a:rPr>
              <a:t>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4024C2-6D4F-4E9E-8E47-B98E8BC0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347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small, clear prototype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8E1886-8005-468E-9BF5-659B905A7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A9E7D7"/>
                </a:solidFill>
                <a:latin typeface="Arial"/>
                <a:ea typeface="Arial"/>
                <a:cs typeface="Arial"/>
              </a:rPr>
              <a:t>STOCKSENSE 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C2AD71-985E-42CA-A1D4-7C1605510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9E7D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C55CCA-8FA2-4061-90DE-520884088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857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800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7800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7800" b="1">
                <a:solidFill>
                  <a:srgbClr val="A9E7D7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991933-A0AF-4672-B17D-8475A52BB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fictional store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A55E08-0CFF-41B3-A451-5505B8C65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95500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800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7800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7800" b="1">
                <a:solidFill>
                  <a:srgbClr val="A9E7D7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3EEA8B-6885-4369-A84D-8E5DC40C0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36232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anonymous products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214FCE-EB3D-4E00-9171-DDF418F07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095500"/>
            <a:ext cx="2286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800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7800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7800" b="1">
                <a:solidFill>
                  <a:srgbClr val="A9E7D7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B96A34-19AF-4A7A-BCA7-71E2B71D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362325"/>
            <a:ext cx="266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forecast days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B7E545-59A0-4E13-B3B0-C15AC1896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05375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app turns these forecasts and entered stock values into an order suggestion.</a:t>
            </a:r>
          </a:p>
        </p:txBody>
      </p:sp>
    </p:spTree>
    <p:extLst>
      <p:ext uri="{BB962C8B-B14F-4D97-AF65-F5344CB8AC3E}">
        <p14:creationId xmlns:p14="http://schemas.microsoft.com/office/powerpoint/2010/main" val="128569070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B27962-68D9-4C1A-97A4-D9026906A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087E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087E7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87E79"/>
                </a:solidFill>
                <a:latin typeface="Arial"/>
                <a:ea typeface="Arial"/>
                <a:cs typeface="Arial"/>
              </a:rPr>
              <a:t>DATASET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0A37D2-7972-4708-BD1C-2979E41EB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347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The sales 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8CECB5-C875-47D5-A8E7-CA1B80FB7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36A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536A7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A78"/>
                </a:solidFill>
                <a:latin typeface="Arial"/>
                <a:ea typeface="Arial"/>
                <a:cs typeface="Arial"/>
              </a:rPr>
              <a:t>STOCKSENSE 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5C082C-6B4B-4677-80A3-EFDFD27FE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536A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36A7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A7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4F3AD5-8A61-4388-842E-66F2CC165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504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625" b="1">
                <a:solidFill>
                  <a:srgbClr val="087E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5625" b="1">
                <a:solidFill>
                  <a:srgbClr val="087E79"/>
                </a:solidFill>
                <a:latin typeface="Arial"/>
                <a:ea typeface="Arial"/>
                <a:cs typeface="Arial"/>
              </a:defRPr>
            </a:pPr>
            <a:r>
              <a:rPr sz="5625" b="1">
                <a:solidFill>
                  <a:srgbClr val="087E79"/>
                </a:solidFill>
                <a:latin typeface="Arial"/>
                <a:ea typeface="Arial"/>
                <a:cs typeface="Arial"/>
              </a:rPr>
              <a:t>913,000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6C15EF-1E87-4D1B-B70A-D91B7F135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209925"/>
            <a:ext cx="5238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832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8324A"/>
                </a:solidFill>
                <a:latin typeface="Arial"/>
                <a:ea typeface="Arial"/>
                <a:cs typeface="Arial"/>
              </a:rPr>
              <a:t>rows in the source file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D2F1AE-A775-4AB3-B2DA-3C3446EA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95500"/>
            <a:ext cx="504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6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56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56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9,130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93E08C-B2BD-4B03-988A-955729711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209925"/>
            <a:ext cx="5048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832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8324A"/>
                </a:solidFill>
                <a:latin typeface="Arial"/>
                <a:ea typeface="Arial"/>
                <a:cs typeface="Arial"/>
              </a:rPr>
              <a:t>rows in our selected store and items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2EBE38-0511-4C8E-AA4F-B7038C981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19625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Daily sales from 2013 to 2017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D3EA0A-71AF-40AC-B597-D97922420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267325"/>
            <a:ext cx="10477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36A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36A7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A78"/>
                </a:solidFill>
                <a:latin typeface="Arial"/>
                <a:ea typeface="Arial"/>
                <a:cs typeface="Arial"/>
              </a:rPr>
              <a:t>No product names, stock levels, prices or supplier records are supplied.</a:t>
            </a:r>
          </a:p>
        </p:txBody>
      </p:sp>
    </p:spTree>
    <p:extLst>
      <p:ext uri="{BB962C8B-B14F-4D97-AF65-F5344CB8AC3E}">
        <p14:creationId xmlns:p14="http://schemas.microsoft.com/office/powerpoint/2010/main" val="10053630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272FBA-5D96-451B-9631-8B85F683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087E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087E7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87E79"/>
                </a:solidFill>
                <a:latin typeface="Arial"/>
                <a:ea typeface="Arial"/>
                <a:cs typeface="Arial"/>
              </a:rPr>
              <a:t>EXPLORE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6E7530-2C13-4C8B-925B-DED4CEEBC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347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Sales patterns before testing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BA4308-2692-40DD-BB3E-8C98337F5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36A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536A7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A78"/>
                </a:solidFill>
                <a:latin typeface="Arial"/>
                <a:ea typeface="Arial"/>
                <a:cs typeface="Arial"/>
              </a:rPr>
              <a:t>STOCKSENSE 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3D67D5-E71D-4293-8636-AFC1E4B83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536A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36A7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A7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A5246A-C432-48D7-886D-F1619ACDD7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6e4114be4b4a58"/>
          <a:stretch xmlns:a="http://schemas.openxmlformats.org/drawingml/2006/main"/>
        </p:blipFill>
        <p:spPr>
          <a:xfrm xmlns:a="http://schemas.openxmlformats.org/drawingml/2006/main">
            <a:off x="619125" y="2297906"/>
            <a:ext cx="5334000" cy="2833688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0E552E-4A36-4E1B-A5B8-F1AF42C7D7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55aa3057d2442f"/>
          <a:stretch xmlns:a="http://schemas.openxmlformats.org/drawingml/2006/main"/>
        </p:blipFill>
        <p:spPr>
          <a:xfrm xmlns:a="http://schemas.openxmlformats.org/drawingml/2006/main">
            <a:off x="6162675" y="2297906"/>
            <a:ext cx="5334000" cy="2833688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BCBB60-F8AC-4FA4-9899-C6A63DBDE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48325"/>
            <a:ext cx="485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Monthly sales totals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CC593A-AF4B-4F79-83F9-28F03205E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5648325"/>
            <a:ext cx="485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Average by weekday</a:t>
            </a:r>
          </a:p>
        </p:txBody>
      </p:sp>
    </p:spTree>
    <p:extLst>
      <p:ext uri="{BB962C8B-B14F-4D97-AF65-F5344CB8AC3E}">
        <p14:creationId xmlns:p14="http://schemas.microsoft.com/office/powerpoint/2010/main" val="124012556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26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8F78DC-6C6E-4A9E-8B7E-E41D1439B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9E7D7"/>
                </a:solidFill>
                <a:latin typeface="Arial"/>
                <a:ea typeface="Arial"/>
                <a:cs typeface="Arial"/>
              </a:rPr>
              <a:t>METHOD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19B9CF-B4FF-4A03-B2CE-D9D1DB6ED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347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Time split and methods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27927E-3B0C-491C-BEE6-BB8BA4900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A9E7D7"/>
                </a:solidFill>
                <a:latin typeface="Arial"/>
                <a:ea typeface="Arial"/>
                <a:cs typeface="Arial"/>
              </a:rPr>
              <a:t>STOCKSENSE 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1B5E49-F384-41D0-BD4A-941234CE9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9E7D7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B2FA39-CE48-486D-A90F-B47BE8D1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143125"/>
            <a:ext cx="323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A9E7D7"/>
                </a:solidFill>
                <a:latin typeface="Arial"/>
                <a:ea typeface="Arial"/>
                <a:cs typeface="Arial"/>
              </a:rPr>
              <a:t>2013–15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D591C9-DD11-4C0C-8723-6B239ABD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019425"/>
            <a:ext cx="323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Fit the models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F81F88-F938-4C09-8612-1AB9EA1F4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143125"/>
            <a:ext cx="266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A9E7D7"/>
                </a:solidFill>
                <a:latin typeface="Arial"/>
                <a:ea typeface="Arial"/>
                <a:cs typeface="Arial"/>
              </a:rPr>
              <a:t>2016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57B475-4EC4-48BC-9AB6-C56B88B28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19425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Select by daily MAE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6E0A91-FFF2-4FDD-9E89-E28377D4E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143125"/>
            <a:ext cx="266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A9E7D7"/>
                </a:solidFill>
                <a:latin typeface="Arial"/>
                <a:ea typeface="Arial"/>
                <a:cs typeface="Arial"/>
              </a:rPr>
              <a:t>2017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AA5A34-E107-4F6C-91E5-8F4D2EC3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019425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Final test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598BA7-906C-4EEF-A9AE-F9551690C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72050"/>
            <a:ext cx="10477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Compared: last-week repeat, random forest and a small LSTM</a:t>
            </a:r>
          </a:p>
        </p:txBody>
      </p:sp>
    </p:spTree>
    <p:extLst>
      <p:ext uri="{BB962C8B-B14F-4D97-AF65-F5344CB8AC3E}">
        <p14:creationId xmlns:p14="http://schemas.microsoft.com/office/powerpoint/2010/main" val="1622448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541CAD-F6C2-4927-A02D-0D9772340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087E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087E7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87E79"/>
                </a:solidFill>
                <a:latin typeface="Arial"/>
                <a:ea typeface="Arial"/>
                <a:cs typeface="Arial"/>
              </a:rPr>
              <a:t>2016 VALIDATION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50C569-0580-4F7F-BC7C-7602C46E8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347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Random forest won validation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5AA314-B3C7-4510-9486-01F0BD2B7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36A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536A7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A78"/>
                </a:solidFill>
                <a:latin typeface="Arial"/>
                <a:ea typeface="Arial"/>
                <a:cs typeface="Arial"/>
              </a:rPr>
              <a:t>STOCKSENSE 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B85E98-42A0-4682-9EFE-5B3D96BE0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536A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36A7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A7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71235FD8-1557-44DE-B1E0-34450EB91340}"/>
              </a:ext>
            </a:extLst>
          </p:cNvPr>
          <p:cNvGraphicFramePr/>
          <p:nvPr/>
        </p:nvGraphicFramePr>
        <p:xfrm>
          <a:off xmlns:a="http://schemas.openxmlformats.org/drawingml/2006/main" x="714375" y="2009775"/>
          <a:ext xmlns:a="http://schemas.openxmlformats.org/drawingml/2006/main" cx="1028700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9ebe57926ee4afd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08BFB8-E2A2-4616-9A3B-A24441FD8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429250"/>
            <a:ext cx="9525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36A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36A7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A78"/>
                </a:solidFill>
                <a:latin typeface="Arial"/>
                <a:ea typeface="Arial"/>
                <a:cs typeface="Arial"/>
              </a:rPr>
              <a:t>Daily mean absolute error (units)</a:t>
            </a:r>
          </a:p>
        </p:txBody>
      </p:sp>
    </p:spTree>
    <p:extLst>
      <p:ext uri="{BB962C8B-B14F-4D97-AF65-F5344CB8AC3E}">
        <p14:creationId xmlns:p14="http://schemas.microsoft.com/office/powerpoint/2010/main" val="1333365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54AF46-061C-4FDF-80C4-330FDC5A2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087E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087E7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87E79"/>
                </a:solidFill>
                <a:latin typeface="Arial"/>
                <a:ea typeface="Arial"/>
                <a:cs typeface="Arial"/>
              </a:rPr>
              <a:t>2017 FINAL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B9BDCB-8F40-43E1-8F02-0C046F555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347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The result held on the final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E39E9E-8DF9-48B0-97A9-9629D36DA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36A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536A7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A78"/>
                </a:solidFill>
                <a:latin typeface="Arial"/>
                <a:ea typeface="Arial"/>
                <a:cs typeface="Arial"/>
              </a:rPr>
              <a:t>STOCKSENSE 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3E1951-6880-4BA7-96D8-E330893F5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536A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36A7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A78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F55C63A8-5E59-4BF9-9768-2D0DFD9F8583}"/>
              </a:ext>
            </a:extLst>
          </p:cNvPr>
          <p:cNvGraphicFramePr/>
          <p:nvPr/>
        </p:nvGraphicFramePr>
        <p:xfrm>
          <a:off xmlns:a="http://schemas.openxmlformats.org/drawingml/2006/main" x="714375" y="2009775"/>
          <a:ext xmlns:a="http://schemas.openxmlformats.org/drawingml/2006/main" cx="1028700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82b30fe643b44c9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3A7CE8-22BB-4C78-AD9D-0EA7C563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324475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087E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87E79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E79"/>
                </a:solidFill>
                <a:latin typeface="Arial"/>
                <a:ea typeface="Arial"/>
                <a:cs typeface="Arial"/>
              </a:rPr>
              <a:t>23.3% lower daily error than the weekly benchmark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C68D27-0CB6-4F6F-AB57-B95371A44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829300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536A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36A7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A78"/>
                </a:solidFill>
                <a:latin typeface="Arial"/>
                <a:ea typeface="Arial"/>
                <a:cs typeface="Arial"/>
              </a:rPr>
              <a:t>LSTM had the lowest weekly-total error (17.343 units).</a:t>
            </a:r>
          </a:p>
        </p:txBody>
      </p:sp>
    </p:spTree>
    <p:extLst>
      <p:ext uri="{BB962C8B-B14F-4D97-AF65-F5344CB8AC3E}">
        <p14:creationId xmlns:p14="http://schemas.microsoft.com/office/powerpoint/2010/main" val="81105059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126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EC9E5C-9BA4-4FEB-9A3E-6560E9D5B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9E7D7"/>
                </a:solidFill>
                <a:latin typeface="Arial"/>
                <a:ea typeface="Arial"/>
                <a:cs typeface="Arial"/>
              </a:rPr>
              <a:t>DEEP LEARNING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F84726-DB76-4993-904B-A6CEC9340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347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small LSTM comparison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03BE21-6AD8-443A-95FF-C6FBE11BE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A9E7D7"/>
                </a:solidFill>
                <a:latin typeface="Arial"/>
                <a:ea typeface="Arial"/>
                <a:cs typeface="Arial"/>
              </a:rPr>
              <a:t>STOCKSENSE 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ABD55E-7E75-4CCC-B2A5-366A3000D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9E7D7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A4C66B-4B1A-4925-8173-E6F4F2FB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9775"/>
            <a:ext cx="2762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200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7200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7200" b="1">
                <a:solidFill>
                  <a:srgbClr val="A9E7D7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65DA79-544D-458C-BB93-8BE7077A8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past sales days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D54FF6-F1CC-41DA-893E-968E6DBF5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009775"/>
            <a:ext cx="2667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200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7200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7200" b="1">
                <a:solidFill>
                  <a:srgbClr val="A9E7D7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CB927C-F6E9-4F00-823D-916776CF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314700"/>
            <a:ext cx="304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LSTM units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EAD8E5-AF08-4884-8F2A-181EEDAE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009775"/>
            <a:ext cx="2286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200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7200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7200" b="1">
                <a:solidFill>
                  <a:srgbClr val="A9E7D7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10DD5A-7253-4071-9A3F-8CF83E20F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31470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predicted days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E08869-3AF7-4AE6-9880-56D932CEA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1047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It had better weekly totals overall, while random forest had lower daily error.</a:t>
            </a:r>
          </a:p>
        </p:txBody>
      </p:sp>
    </p:spTree>
    <p:extLst>
      <p:ext uri="{BB962C8B-B14F-4D97-AF65-F5344CB8AC3E}">
        <p14:creationId xmlns:p14="http://schemas.microsoft.com/office/powerpoint/2010/main" val="177828676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43F67E-12E7-4ABF-A03A-8F1258454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087E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087E7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87E79"/>
                </a:solidFill>
                <a:latin typeface="Arial"/>
                <a:ea typeface="Arial"/>
                <a:cs typeface="Arial"/>
              </a:rPr>
              <a:t>STOCK PLANNING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12C4A8-E1FA-42C4-8D73-726E4DF5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347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How the order number is calculated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55DEF5-5A49-4B78-90AF-D2936C977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36A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536A7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A78"/>
                </a:solidFill>
                <a:latin typeface="Arial"/>
                <a:ea typeface="Arial"/>
                <a:cs typeface="Arial"/>
              </a:rPr>
              <a:t>STOCKSENSE 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CE188B-DC76-4CCF-AEA1-D316286A8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536A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36A7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A7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B958C5-6154-4AFF-9CA8-D5708285E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152650"/>
            <a:ext cx="33337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550" b="1">
                <a:solidFill>
                  <a:srgbClr val="087E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5550" b="1">
                <a:solidFill>
                  <a:srgbClr val="087E79"/>
                </a:solidFill>
                <a:latin typeface="Arial"/>
                <a:ea typeface="Arial"/>
                <a:cs typeface="Arial"/>
              </a:defRPr>
            </a:pPr>
            <a:r>
              <a:rPr sz="5550" b="1">
                <a:solidFill>
                  <a:srgbClr val="087E79"/>
                </a:solidFill>
                <a:latin typeface="Arial"/>
                <a:ea typeface="Arial"/>
                <a:cs typeface="Arial"/>
              </a:rPr>
              <a:t>77.52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8CE579-BECB-4922-80AB-98B9CABC7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20040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832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24A"/>
                </a:solidFill>
                <a:latin typeface="Arial"/>
                <a:ea typeface="Arial"/>
                <a:cs typeface="Arial"/>
              </a:rPr>
              <a:t>forecast units during coverage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DC9E01-3F30-4482-A59C-1A43E0DFA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143375"/>
            <a:ext cx="10287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+ 10 buffer = 87.52 target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5ED2C8-DCEE-412A-BEF7-DE5220791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924425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36A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36A7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6A78"/>
                </a:solidFill>
                <a:latin typeface="Arial"/>
                <a:ea typeface="Arial"/>
                <a:cs typeface="Arial"/>
              </a:rPr>
              <a:t>50 available, 0 outstanding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D2D218-A798-4BA5-8225-4929C9DCD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467350"/>
            <a:ext cx="10572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087E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87E79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E79"/>
                </a:solidFill>
                <a:latin typeface="Arial"/>
                <a:ea typeface="Arial"/>
                <a:cs typeface="Arial"/>
              </a:rPr>
              <a:t>Suggest ordering 38 units</a:t>
            </a:r>
          </a:p>
        </p:txBody>
      </p:sp>
    </p:spTree>
    <p:extLst>
      <p:ext uri="{BB962C8B-B14F-4D97-AF65-F5344CB8AC3E}">
        <p14:creationId xmlns:p14="http://schemas.microsoft.com/office/powerpoint/2010/main" val="114801593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D29293-13EB-4EC5-A917-17F692618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087E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087E7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87E79"/>
                </a:solidFill>
                <a:latin typeface="Arial"/>
                <a:ea typeface="Arial"/>
                <a:cs typeface="Arial"/>
              </a:rPr>
              <a:t>TEXT ASSISTANT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C0AFF1-D55A-4A67-84A8-F0FA58DC8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347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Ask StockSense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5DC5E3-5FE8-423B-9A1A-495913728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36A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536A7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A78"/>
                </a:solidFill>
                <a:latin typeface="Arial"/>
                <a:ea typeface="Arial"/>
                <a:cs typeface="Arial"/>
              </a:rPr>
              <a:t>STOCKSENSE 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0C8F3F-9634-40DF-9EAD-06A4FF87F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536A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36A7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A7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5C2248-20BF-4CCB-A3F4-F46161C76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124075"/>
            <a:ext cx="1047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“What will Product 1 sell next week?”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DCB64C-D20D-40E8-97B2-0CED1A189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133725"/>
            <a:ext cx="10382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2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24A"/>
                </a:solidFill>
                <a:latin typeface="Arial"/>
                <a:ea typeface="Arial"/>
                <a:cs typeface="Arial"/>
              </a:rPr>
              <a:t>The assistant identifies the request type, then reads the saved forecast.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BD4239-9282-4DD2-BFC1-9AAA47580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619625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087E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087E79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87E79"/>
                </a:solidFill>
                <a:latin typeface="Arial"/>
                <a:ea typeface="Arial"/>
                <a:cs typeface="Arial"/>
              </a:rPr>
              <a:t>5 supported request types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546D33-F3B4-4A73-8759-272D7F7C5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36A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36A7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6A78"/>
                </a:solidFill>
                <a:latin typeface="Arial"/>
                <a:ea typeface="Arial"/>
                <a:cs typeface="Arial"/>
              </a:rPr>
              <a:t>Forecast, order, recent sales, model results and help</a:t>
            </a:r>
          </a:p>
        </p:txBody>
      </p:sp>
    </p:spTree>
    <p:extLst>
      <p:ext uri="{BB962C8B-B14F-4D97-AF65-F5344CB8AC3E}">
        <p14:creationId xmlns:p14="http://schemas.microsoft.com/office/powerpoint/2010/main" val="192082963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126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FC376C-F93B-4951-85E2-FDC93C98F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9E7D7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8AC5D1-8F64-4BAF-B6B2-A5325E129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347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Prototype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E65A36-4DF2-4B76-9D03-AFED7CCBF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A9E7D7"/>
                </a:solidFill>
                <a:latin typeface="Arial"/>
                <a:ea typeface="Arial"/>
                <a:cs typeface="Arial"/>
              </a:rPr>
              <a:t>STOCKSENSE 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B6C3C6-7767-4AAF-A7AC-A2775E9AC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9E7D7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021D98-4074-4666-BE6E-6969B78F2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990725"/>
            <a:ext cx="4953000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400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8400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8400" b="1">
                <a:solidFill>
                  <a:srgbClr val="A9E7D7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146629-ADFF-41D1-9BDB-81AC1DEA5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543300"/>
            <a:ext cx="666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automated tests passed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2D9B58-3FB6-4FD1-BDC2-59DD016EE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714875"/>
            <a:ext cx="4095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75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75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A9E7D7"/>
                </a:solidFill>
                <a:latin typeface="Arial"/>
                <a:ea typeface="Arial"/>
                <a:cs typeface="Arial"/>
              </a:rPr>
              <a:t>24/25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59DB48-9C77-459E-9D93-369EC5A4D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supported requests recognised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1B8564-07E4-4B09-BE6B-347CE8091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714875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75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75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A9E7D7"/>
                </a:solidFill>
                <a:latin typeface="Arial"/>
                <a:ea typeface="Arial"/>
                <a:cs typeface="Arial"/>
              </a:rPr>
              <a:t>8/8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79262F-69E8-45AB-A89E-BBB27AD1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546735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unrelated requests rejected</a:t>
            </a:r>
          </a:p>
        </p:txBody>
      </p:sp>
    </p:spTree>
    <p:extLst>
      <p:ext uri="{BB962C8B-B14F-4D97-AF65-F5344CB8AC3E}">
        <p14:creationId xmlns:p14="http://schemas.microsoft.com/office/powerpoint/2010/main" val="7105930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A9D532-3B74-4773-8A40-4FD385D50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087E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087E7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87E79"/>
                </a:solidFill>
                <a:latin typeface="Arial"/>
                <a:ea typeface="Arial"/>
                <a:cs typeface="Arial"/>
              </a:rPr>
              <a:t>DEMONSTRATION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9DCDA6-8640-43DB-AD5E-A1661E35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347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Live prototype walkthrough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F9BBD0-DEE6-40A7-83FA-00CFA6F06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36A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536A7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A78"/>
                </a:solidFill>
                <a:latin typeface="Arial"/>
                <a:ea typeface="Arial"/>
                <a:cs typeface="Arial"/>
              </a:rPr>
              <a:t>STOCKSENSE 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601726-F3C7-4ED8-87E1-7F9EFA7CF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536A7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36A7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A78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FF1DD5-E81A-4A16-AC50-BD254967427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cbea0ea4134a94"/>
          <a:stretch xmlns:a="http://schemas.openxmlformats.org/drawingml/2006/main"/>
        </p:blipFill>
        <p:spPr>
          <a:xfrm xmlns:a="http://schemas.openxmlformats.org/drawingml/2006/main">
            <a:off x="1911927" y="1800225"/>
            <a:ext cx="5548745" cy="42386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4CA056-6ED1-4A29-A158-A68CA959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200275"/>
            <a:ext cx="26955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01  Select a product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2FB8EA-F208-4395-A371-76D929055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048000"/>
            <a:ext cx="26955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02  View seven days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CF5239-FD7F-480E-B858-66D51A2B0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895725"/>
            <a:ext cx="26955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03  Enter stock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7EED4A-96CA-481A-9DE9-CC5A6C1C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743450"/>
            <a:ext cx="26955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04  Ask a question</a:t>
            </a:r>
          </a:p>
        </p:txBody>
      </p:sp>
    </p:spTree>
    <p:extLst>
      <p:ext uri="{BB962C8B-B14F-4D97-AF65-F5344CB8AC3E}">
        <p14:creationId xmlns:p14="http://schemas.microsoft.com/office/powerpoint/2010/main" val="104743950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126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86CDFA-CCAA-4E6B-BE19-FCA21408E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9E7D7"/>
                </a:solidFill>
                <a:latin typeface="Arial"/>
                <a:ea typeface="Arial"/>
                <a:cs typeface="Arial"/>
              </a:rPr>
              <a:t>CONCLUSION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E3A980-09FE-4A1A-9FFA-A0CB97D2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347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we can conclude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8600B0-0012-4E00-B7BE-08F2B0EC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A9E7D7"/>
                </a:solidFill>
                <a:latin typeface="Arial"/>
                <a:ea typeface="Arial"/>
                <a:cs typeface="Arial"/>
              </a:rPr>
              <a:t>STOCKSENSE 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CBF45E-C492-40A6-81A7-E89BB17BF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9E7D7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A7FC5B-2803-42D7-B9EE-613A0D645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962150"/>
            <a:ext cx="10572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Random forest had the lowest daily test error.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08BF2B-1F4B-4EBF-9BBF-4B5CB27D0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33375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A9E7D7"/>
                </a:solidFill>
                <a:latin typeface="Arial"/>
                <a:ea typeface="Arial"/>
                <a:cs typeface="Arial"/>
              </a:rPr>
              <a:t>The app turns forecasts into a clear order calculation.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24DF7C-EAB7-41AF-9709-CD73F18D5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577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Real savings and January 2018 accuracy remain unmeasured.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EF753E-5279-4D94-BCB3-BF10F72A2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543550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75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75" b="1">
                <a:solidFill>
                  <a:srgbClr val="A9E7D7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A9E7D7"/>
                </a:solidFill>
                <a:latin typeface="Arial"/>
                <a:ea typeface="Arial"/>
                <a:cs typeface="Arial"/>
              </a:rPr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12397483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2026-10-12T18:17:24.6810000Z</dcterms:created>
  <dcterms:modified xsi:type="dcterms:W3CDTF">2026-10-12T18:17:24.6810000Z</dcterms:modified>
</coreProperties>
</file>